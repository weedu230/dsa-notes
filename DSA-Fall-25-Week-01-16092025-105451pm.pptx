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0"/>
  </p:notesMasterIdLst>
  <p:sldIdLst>
    <p:sldId id="256" r:id="rId5"/>
    <p:sldId id="257" r:id="rId6"/>
    <p:sldId id="373" r:id="rId7"/>
    <p:sldId id="374" r:id="rId8"/>
    <p:sldId id="375" r:id="rId9"/>
    <p:sldId id="376" r:id="rId10"/>
    <p:sldId id="258" r:id="rId11"/>
    <p:sldId id="272" r:id="rId12"/>
    <p:sldId id="269" r:id="rId13"/>
    <p:sldId id="270" r:id="rId14"/>
    <p:sldId id="271" r:id="rId15"/>
    <p:sldId id="274" r:id="rId16"/>
    <p:sldId id="259" r:id="rId17"/>
    <p:sldId id="260" r:id="rId18"/>
    <p:sldId id="650" r:id="rId1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5" d="100"/>
          <a:sy n="85" d="100"/>
        </p:scale>
        <p:origin x="1152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602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jid kaleem BUKC" userId="239ce719-e4df-4b60-a2f8-7908f29db894" providerId="ADAL" clId="{533722B4-7F84-4A3C-8D2E-63EFFB4457C5}"/>
    <pc:docChg chg="delSld">
      <pc:chgData name="majid kaleem BUKC" userId="239ce719-e4df-4b60-a2f8-7908f29db894" providerId="ADAL" clId="{533722B4-7F84-4A3C-8D2E-63EFFB4457C5}" dt="2024-09-15T17:48:27.232" v="0" actId="2696"/>
      <pc:docMkLst>
        <pc:docMk/>
      </pc:docMkLst>
      <pc:sldChg chg="del">
        <pc:chgData name="majid kaleem BUKC" userId="239ce719-e4df-4b60-a2f8-7908f29db894" providerId="ADAL" clId="{533722B4-7F84-4A3C-8D2E-63EFFB4457C5}" dt="2024-09-15T17:48:27.232" v="0" actId="2696"/>
        <pc:sldMkLst>
          <pc:docMk/>
          <pc:sldMk cId="2721792527" sldId="273"/>
        </pc:sldMkLst>
      </pc:sldChg>
    </pc:docChg>
  </pc:docChgLst>
  <pc:docChgLst>
    <pc:chgData name="majid kaleem BUKC" userId="239ce719-e4df-4b60-a2f8-7908f29db894" providerId="ADAL" clId="{1CF90D4D-CDBA-470E-881A-2695473A3A64}"/>
    <pc:docChg chg="undo custSel modSld">
      <pc:chgData name="majid kaleem BUKC" userId="239ce719-e4df-4b60-a2f8-7908f29db894" providerId="ADAL" clId="{1CF90D4D-CDBA-470E-881A-2695473A3A64}" dt="2024-09-07T08:12:48.416" v="40" actId="1035"/>
      <pc:docMkLst>
        <pc:docMk/>
      </pc:docMkLst>
      <pc:sldChg chg="modSp">
        <pc:chgData name="majid kaleem BUKC" userId="239ce719-e4df-4b60-a2f8-7908f29db894" providerId="ADAL" clId="{1CF90D4D-CDBA-470E-881A-2695473A3A64}" dt="2024-09-07T08:10:27.123" v="14" actId="20577"/>
        <pc:sldMkLst>
          <pc:docMk/>
          <pc:sldMk cId="4174391528" sldId="269"/>
        </pc:sldMkLst>
        <pc:spChg chg="mod">
          <ac:chgData name="majid kaleem BUKC" userId="239ce719-e4df-4b60-a2f8-7908f29db894" providerId="ADAL" clId="{1CF90D4D-CDBA-470E-881A-2695473A3A64}" dt="2024-09-07T08:10:27.123" v="14" actId="20577"/>
          <ac:spMkLst>
            <pc:docMk/>
            <pc:sldMk cId="4174391528" sldId="269"/>
            <ac:spMk id="3" creationId="{04D2EDF7-D233-463D-A785-47E96506DD5A}"/>
          </ac:spMkLst>
        </pc:spChg>
      </pc:sldChg>
      <pc:sldChg chg="modSp">
        <pc:chgData name="majid kaleem BUKC" userId="239ce719-e4df-4b60-a2f8-7908f29db894" providerId="ADAL" clId="{1CF90D4D-CDBA-470E-881A-2695473A3A64}" dt="2024-09-07T08:10:39.833" v="16" actId="20577"/>
        <pc:sldMkLst>
          <pc:docMk/>
          <pc:sldMk cId="2559498975" sldId="271"/>
        </pc:sldMkLst>
        <pc:spChg chg="mod">
          <ac:chgData name="majid kaleem BUKC" userId="239ce719-e4df-4b60-a2f8-7908f29db894" providerId="ADAL" clId="{1CF90D4D-CDBA-470E-881A-2695473A3A64}" dt="2024-09-07T08:10:39.833" v="16" actId="20577"/>
          <ac:spMkLst>
            <pc:docMk/>
            <pc:sldMk cId="2559498975" sldId="271"/>
            <ac:spMk id="3" creationId="{04D2EDF7-D233-463D-A785-47E96506DD5A}"/>
          </ac:spMkLst>
        </pc:spChg>
      </pc:sldChg>
      <pc:sldChg chg="addSp delSp modSp">
        <pc:chgData name="majid kaleem BUKC" userId="239ce719-e4df-4b60-a2f8-7908f29db894" providerId="ADAL" clId="{1CF90D4D-CDBA-470E-881A-2695473A3A64}" dt="2024-09-07T08:12:48.416" v="40" actId="1035"/>
        <pc:sldMkLst>
          <pc:docMk/>
          <pc:sldMk cId="2721792527" sldId="273"/>
        </pc:sldMkLst>
        <pc:spChg chg="del">
          <ac:chgData name="majid kaleem BUKC" userId="239ce719-e4df-4b60-a2f8-7908f29db894" providerId="ADAL" clId="{1CF90D4D-CDBA-470E-881A-2695473A3A64}" dt="2024-09-07T08:12:23.225" v="18" actId="478"/>
          <ac:spMkLst>
            <pc:docMk/>
            <pc:sldMk cId="2721792527" sldId="273"/>
            <ac:spMk id="2" creationId="{B2B2E374-AD82-46E9-BCEC-938F3D2B293C}"/>
          </ac:spMkLst>
        </pc:spChg>
        <pc:picChg chg="add mod">
          <ac:chgData name="majid kaleem BUKC" userId="239ce719-e4df-4b60-a2f8-7908f29db894" providerId="ADAL" clId="{1CF90D4D-CDBA-470E-881A-2695473A3A64}" dt="2024-09-07T08:12:48.416" v="40" actId="1035"/>
          <ac:picMkLst>
            <pc:docMk/>
            <pc:sldMk cId="2721792527" sldId="273"/>
            <ac:picMk id="6" creationId="{E08E218D-EFB7-4B32-B09E-6098A940DC2C}"/>
          </ac:picMkLst>
        </pc:picChg>
      </pc:sldChg>
      <pc:sldChg chg="modSp">
        <pc:chgData name="majid kaleem BUKC" userId="239ce719-e4df-4b60-a2f8-7908f29db894" providerId="ADAL" clId="{1CF90D4D-CDBA-470E-881A-2695473A3A64}" dt="2024-09-07T08:09:33.729" v="4" actId="20577"/>
        <pc:sldMkLst>
          <pc:docMk/>
          <pc:sldMk cId="2643126878" sldId="373"/>
        </pc:sldMkLst>
        <pc:spChg chg="mod">
          <ac:chgData name="majid kaleem BUKC" userId="239ce719-e4df-4b60-a2f8-7908f29db894" providerId="ADAL" clId="{1CF90D4D-CDBA-470E-881A-2695473A3A64}" dt="2024-09-07T08:09:33.729" v="4" actId="20577"/>
          <ac:spMkLst>
            <pc:docMk/>
            <pc:sldMk cId="2643126878" sldId="373"/>
            <ac:spMk id="3" creationId="{3C676371-4438-4DFC-8261-EC756B43D79E}"/>
          </ac:spMkLst>
        </pc:spChg>
      </pc:sldChg>
      <pc:sldChg chg="modSp">
        <pc:chgData name="majid kaleem BUKC" userId="239ce719-e4df-4b60-a2f8-7908f29db894" providerId="ADAL" clId="{1CF90D4D-CDBA-470E-881A-2695473A3A64}" dt="2024-09-07T08:09:42.107" v="5" actId="20577"/>
        <pc:sldMkLst>
          <pc:docMk/>
          <pc:sldMk cId="1975638814" sldId="374"/>
        </pc:sldMkLst>
        <pc:spChg chg="mod">
          <ac:chgData name="majid kaleem BUKC" userId="239ce719-e4df-4b60-a2f8-7908f29db894" providerId="ADAL" clId="{1CF90D4D-CDBA-470E-881A-2695473A3A64}" dt="2024-09-07T08:09:42.107" v="5" actId="20577"/>
          <ac:spMkLst>
            <pc:docMk/>
            <pc:sldMk cId="1975638814" sldId="374"/>
            <ac:spMk id="3" creationId="{B39F7FAD-4100-48A1-BCC8-47BAC84C1F62}"/>
          </ac:spMkLst>
        </pc:spChg>
      </pc:sldChg>
      <pc:sldChg chg="modSp">
        <pc:chgData name="majid kaleem BUKC" userId="239ce719-e4df-4b60-a2f8-7908f29db894" providerId="ADAL" clId="{1CF90D4D-CDBA-470E-881A-2695473A3A64}" dt="2024-09-07T08:09:59.433" v="9" actId="20577"/>
        <pc:sldMkLst>
          <pc:docMk/>
          <pc:sldMk cId="853763293" sldId="376"/>
        </pc:sldMkLst>
        <pc:spChg chg="mod">
          <ac:chgData name="majid kaleem BUKC" userId="239ce719-e4df-4b60-a2f8-7908f29db894" providerId="ADAL" clId="{1CF90D4D-CDBA-470E-881A-2695473A3A64}" dt="2024-09-07T08:09:59.433" v="9" actId="20577"/>
          <ac:spMkLst>
            <pc:docMk/>
            <pc:sldMk cId="853763293" sldId="376"/>
            <ac:spMk id="3" creationId="{FC480146-B4B3-469A-BACC-B39567A71BB4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6ABBB9-D43F-4F6B-B6A1-E0CDD613A533}" type="datetimeFigureOut">
              <a:rPr lang="en-US" smtClean="0"/>
              <a:pPr/>
              <a:t>15-Sep-2024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D8513B-4632-4E89-ACB7-7E7F9046F249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F71D2-D6BA-4174-87E1-0F5D0E08BB86}" type="datetime1">
              <a:rPr lang="en-US" smtClean="0"/>
              <a:t>15-Sep-2024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by: Engr. Majid Kaleem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A209-9856-462B-A010-2A2374E3EB4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0884"/>
            <a:ext cx="9144000" cy="530352"/>
          </a:xfrm>
          <a:solidFill>
            <a:schemeClr val="accent1"/>
          </a:solidFill>
        </p:spPr>
        <p:txBody>
          <a:bodyPr>
            <a:normAutofit/>
          </a:bodyPr>
          <a:lstStyle>
            <a:lvl1pPr>
              <a:defRPr sz="36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85800"/>
            <a:ext cx="9144000" cy="5440363"/>
          </a:xfrm>
        </p:spPr>
        <p:txBody>
          <a:bodyPr/>
          <a:lstStyle>
            <a:lvl1pPr>
              <a:defRPr sz="280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3648F-C10C-476D-BA4E-5D96890A4ABC}" type="datetime1">
              <a:rPr lang="en-US" smtClean="0"/>
              <a:t>15-Sep-2024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774871" y="6324600"/>
            <a:ext cx="2209800" cy="396875"/>
          </a:xfrm>
        </p:spPr>
        <p:txBody>
          <a:bodyPr/>
          <a:lstStyle>
            <a:lvl1pPr algn="r">
              <a:defRPr sz="1000"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GB"/>
              <a:t>Prepared by: Engr. Majid Kaleem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01000" y="6324600"/>
            <a:ext cx="685800" cy="396875"/>
          </a:xfrm>
        </p:spPr>
        <p:txBody>
          <a:bodyPr/>
          <a:lstStyle/>
          <a:p>
            <a:fld id="{67D2A209-9856-462B-A010-2A2374E3EB4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053AB-C917-44B5-94A4-E19F9582D8A1}" type="datetime1">
              <a:rPr lang="en-US" smtClean="0"/>
              <a:t>15-Sep-2024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A209-9856-462B-A010-2A2374E3EB4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ooter Placeholder 3"/>
          <p:cNvSpPr>
            <a:spLocks noGrp="1"/>
          </p:cNvSpPr>
          <p:nvPr userDrawn="1">
            <p:ph type="ftr" sz="quarter" idx="11"/>
          </p:nvPr>
        </p:nvSpPr>
        <p:spPr>
          <a:xfrm>
            <a:off x="5774871" y="6324600"/>
            <a:ext cx="2209800" cy="396875"/>
          </a:xfrm>
        </p:spPr>
        <p:txBody>
          <a:bodyPr/>
          <a:lstStyle/>
          <a:p>
            <a:r>
              <a:rPr lang="en-GB" dirty="0"/>
              <a:t>Prepared by: Engr. </a:t>
            </a:r>
            <a:r>
              <a:rPr lang="en-GB" dirty="0" err="1"/>
              <a:t>Majid</a:t>
            </a:r>
            <a:r>
              <a:rPr lang="en-GB" dirty="0"/>
              <a:t> </a:t>
            </a:r>
            <a:r>
              <a:rPr lang="en-GB" dirty="0" err="1"/>
              <a:t>Kaleem</a:t>
            </a:r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47A969-A3A4-4905-BB3B-A1F99714489D}" type="datetime1">
              <a:rPr lang="en-US" smtClean="0"/>
              <a:t>15-Sep-2024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by: Engr. Majid Kaleem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A209-9856-462B-A010-2A2374E3EB4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1122F-34FE-4A32-AF1E-06D01F4AB465}" type="datetime1">
              <a:rPr lang="en-US" smtClean="0"/>
              <a:t>15-Sep-2024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by: Engr. Majid Kaleem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A209-9856-462B-A010-2A2374E3EB4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9BF83-D408-43EE-8C8E-881EB30FED63}" type="datetime1">
              <a:rPr lang="en-US" smtClean="0"/>
              <a:t>15-Sep-2024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774871" y="6324600"/>
            <a:ext cx="2209800" cy="396875"/>
          </a:xfrm>
        </p:spPr>
        <p:txBody>
          <a:bodyPr/>
          <a:lstStyle/>
          <a:p>
            <a:r>
              <a:rPr lang="en-GB" dirty="0"/>
              <a:t>Prepared by: Engr. </a:t>
            </a:r>
            <a:r>
              <a:rPr lang="en-GB" dirty="0" err="1"/>
              <a:t>Majid</a:t>
            </a:r>
            <a:r>
              <a:rPr lang="en-GB" dirty="0"/>
              <a:t> </a:t>
            </a:r>
            <a:r>
              <a:rPr lang="en-GB" dirty="0" err="1"/>
              <a:t>Kaleem</a:t>
            </a: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01000" y="6324600"/>
            <a:ext cx="685800" cy="396875"/>
          </a:xfrm>
        </p:spPr>
        <p:txBody>
          <a:bodyPr/>
          <a:lstStyle/>
          <a:p>
            <a:fld id="{67D2A209-9856-462B-A010-2A2374E3EB4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E6E94-763D-4669-B6E9-51CBF0DE98F8}" type="datetime1">
              <a:rPr lang="en-US" smtClean="0"/>
              <a:t>15-Sep-2024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774871" y="6324600"/>
            <a:ext cx="2209800" cy="396875"/>
          </a:xfrm>
        </p:spPr>
        <p:txBody>
          <a:bodyPr/>
          <a:lstStyle>
            <a:lvl1pPr algn="r">
              <a:defRPr sz="1000"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GB"/>
              <a:t>Prepared by: Engr. Majid Kaleem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01000" y="6324600"/>
            <a:ext cx="685800" cy="396875"/>
          </a:xfrm>
        </p:spPr>
        <p:txBody>
          <a:bodyPr/>
          <a:lstStyle/>
          <a:p>
            <a:fld id="{67D2A209-9856-462B-A010-2A2374E3EB4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B90AE6-6DBC-4573-A883-C8B56C3BA319}" type="datetime1">
              <a:rPr lang="en-US" smtClean="0"/>
              <a:t>15-Sep-2024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by: Engr. Majid Kaleem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A209-9856-462B-A010-2A2374E3EB4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54DD4B-BA74-4081-9C98-F75546208E81}" type="datetime1">
              <a:rPr lang="en-US" smtClean="0"/>
              <a:t>15-Sep-2024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by: Engr. Majid Kaleem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A209-9856-462B-A010-2A2374E3EB4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56D023-EB81-4F7E-BAFB-BBC0F73C5589}" type="datetime1">
              <a:rPr lang="en-US" smtClean="0"/>
              <a:t>15-Sep-2024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by: Engr. Majid Kaleem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A209-9856-462B-A010-2A2374E3EB4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3CAF7-3317-49F4-8BCD-6F3AFB74B952}" type="datetime1">
              <a:rPr lang="en-US" smtClean="0"/>
              <a:t>15-Sep-2024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by: Engr. Majid Kaleem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A209-9856-462B-A010-2A2374E3EB4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94185C-045E-4B07-B360-1E4D0D4807A8}" type="datetime1">
              <a:rPr lang="en-US" smtClean="0"/>
              <a:t>15-Sep-2024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Prepared by: Engr. Majid Kaleem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D2A209-9856-462B-A010-2A2374E3EB4A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GB" sz="9600" dirty="0">
                <a:latin typeface="MoolBoran" pitchFamily="34" charset="0"/>
                <a:cs typeface="MoolBoran" pitchFamily="34" charset="0"/>
              </a:rPr>
              <a:t>Data Structures &amp; Algorithms</a:t>
            </a:r>
            <a:endParaRPr lang="en-US" sz="9600" dirty="0">
              <a:latin typeface="MoolBoran" pitchFamily="34" charset="0"/>
              <a:cs typeface="MoolBoran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267200"/>
            <a:ext cx="6400800" cy="762000"/>
          </a:xfrm>
        </p:spPr>
        <p:txBody>
          <a:bodyPr/>
          <a:lstStyle/>
          <a:p>
            <a:r>
              <a:rPr lang="en-GB" dirty="0">
                <a:solidFill>
                  <a:schemeClr val="tx2"/>
                </a:solidFill>
                <a:latin typeface="MoolBoran" pitchFamily="34" charset="0"/>
                <a:cs typeface="MoolBoran" pitchFamily="34" charset="0"/>
              </a:rPr>
              <a:t>Week-01</a:t>
            </a:r>
            <a:endParaRPr lang="en-US" dirty="0">
              <a:solidFill>
                <a:schemeClr val="tx2"/>
              </a:solidFill>
              <a:latin typeface="MoolBoran" pitchFamily="34" charset="0"/>
              <a:cs typeface="MoolBoran" pitchFamily="34" charset="0"/>
            </a:endParaRPr>
          </a:p>
        </p:txBody>
      </p:sp>
      <p:pic>
        <p:nvPicPr>
          <p:cNvPr id="6" name="Picture 5" descr="logo5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186" y="0"/>
            <a:ext cx="2729014" cy="778213"/>
          </a:xfrm>
          <a:prstGeom prst="rect">
            <a:avLst/>
          </a:prstGeom>
        </p:spPr>
      </p:pic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1A0F576E-2ADB-4177-AB0E-A05B1562F4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6753D-90AF-4F2E-8EC7-13C4E2C1D86D}" type="datetime1">
              <a:rPr lang="en-US" smtClean="0"/>
              <a:t>15-Sep-2024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F763651-B497-4529-9AFF-59636D160A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A209-9856-462B-A010-2A2374E3EB4A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325880-FFD1-48AE-9982-FCB0F658DF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Week-01 Agenda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1AD53-70E4-4DB2-B00E-814D78E4EB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914400" lvl="1" indent="-457200">
              <a:buFont typeface="+mj-lt"/>
              <a:buAutoNum type="arabicPeriod"/>
            </a:pPr>
            <a:r>
              <a:rPr lang="en-US" sz="2400" dirty="0">
                <a:latin typeface="Arial Narrow" panose="020B0606020202030204" pitchFamily="34" charset="0"/>
              </a:rPr>
              <a:t>Introduction to Data Structures and Algorithms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400" dirty="0">
                <a:latin typeface="Arial Narrow" panose="020B0606020202030204" pitchFamily="34" charset="0"/>
              </a:rPr>
              <a:t>Fundamental Concepts of Algorithm Analysis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400" dirty="0">
                <a:latin typeface="Arial Narrow" panose="020B0606020202030204" pitchFamily="34" charset="0"/>
              </a:rPr>
              <a:t>Time and Space Complexity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400" dirty="0">
                <a:latin typeface="Arial Narrow" panose="020B0606020202030204" pitchFamily="34" charset="0"/>
              </a:rPr>
              <a:t>Asymptotic Notations (Big O, Omega, Theta)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305886E-6EB7-4207-A593-4BEE2572D0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4183C-BF88-40F9-A1FD-0C096233229E}" type="datetime1">
              <a:rPr lang="en-US" smtClean="0"/>
              <a:t>15-Sep-2024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503029-7C99-49DA-875E-D7B85E2B9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A209-9856-462B-A010-2A2374E3EB4A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83018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FE62B-B6BB-4E44-BB8C-F2307A9461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Arial Narrow" panose="020B0606020202030204" pitchFamily="34" charset="0"/>
              </a:rPr>
              <a:t>Introduction to Data Structures and Algorithms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676371-4438-4DFC-8261-EC756B43D7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en-US" sz="2400" dirty="0">
                <a:latin typeface="Arial Narrow" panose="020B0606020202030204" pitchFamily="34" charset="0"/>
              </a:rPr>
              <a:t>Need for Data Structures:</a:t>
            </a:r>
          </a:p>
          <a:p>
            <a:endParaRPr lang="en-US" altLang="en-US" sz="2400" dirty="0">
              <a:latin typeface="Arial Narrow" panose="020B0606020202030204" pitchFamily="34" charset="0"/>
            </a:endParaRPr>
          </a:p>
          <a:p>
            <a:pPr lvl="1"/>
            <a:r>
              <a:rPr lang="en-US" altLang="en-US" sz="2400" dirty="0">
                <a:latin typeface="Arial Narrow" panose="020B0606020202030204" pitchFamily="34" charset="0"/>
              </a:rPr>
              <a:t>Data structures organize data </a:t>
            </a:r>
            <a:r>
              <a:rPr lang="en-US" altLang="en-US" sz="2400" dirty="0">
                <a:latin typeface="Arial Narrow" panose="020B0606020202030204" pitchFamily="34" charset="0"/>
                <a:sym typeface="Symbol" panose="05050102010706020507" pitchFamily="18" charset="2"/>
              </a:rPr>
              <a:t> </a:t>
            </a:r>
            <a:r>
              <a:rPr lang="en-US" altLang="en-US" sz="2400" dirty="0">
                <a:latin typeface="Arial Narrow" panose="020B0606020202030204" pitchFamily="34" charset="0"/>
              </a:rPr>
              <a:t>more efficient programs.</a:t>
            </a:r>
          </a:p>
          <a:p>
            <a:pPr lvl="1"/>
            <a:endParaRPr lang="en-US" altLang="en-US" sz="2400" dirty="0">
              <a:latin typeface="Arial Narrow" panose="020B0606020202030204" pitchFamily="34" charset="0"/>
            </a:endParaRPr>
          </a:p>
          <a:p>
            <a:pPr lvl="1"/>
            <a:r>
              <a:rPr lang="en-US" altLang="en-US" sz="2400" dirty="0">
                <a:latin typeface="Arial Narrow" panose="020B0606020202030204" pitchFamily="34" charset="0"/>
              </a:rPr>
              <a:t>More powerful computers </a:t>
            </a:r>
            <a:r>
              <a:rPr lang="en-US" altLang="en-US" sz="2400" dirty="0">
                <a:latin typeface="Arial Narrow" panose="020B0606020202030204" pitchFamily="34" charset="0"/>
                <a:sym typeface="Symbol" panose="05050102010706020507" pitchFamily="18" charset="2"/>
              </a:rPr>
              <a:t> </a:t>
            </a:r>
            <a:r>
              <a:rPr lang="en-US" altLang="en-US" sz="2400" dirty="0">
                <a:latin typeface="Arial Narrow" panose="020B0606020202030204" pitchFamily="34" charset="0"/>
              </a:rPr>
              <a:t>more complex applications.</a:t>
            </a:r>
          </a:p>
          <a:p>
            <a:pPr lvl="1"/>
            <a:endParaRPr lang="en-US" altLang="en-US" sz="2400" dirty="0">
              <a:latin typeface="Arial Narrow" panose="020B0606020202030204" pitchFamily="34" charset="0"/>
            </a:endParaRPr>
          </a:p>
          <a:p>
            <a:pPr lvl="1"/>
            <a:r>
              <a:rPr lang="en-US" altLang="en-US" sz="2400" dirty="0">
                <a:latin typeface="Arial Narrow" panose="020B0606020202030204" pitchFamily="34" charset="0"/>
              </a:rPr>
              <a:t>More complex applications demand more calculations.</a:t>
            </a:r>
          </a:p>
          <a:p>
            <a:pPr lvl="1"/>
            <a:endParaRPr lang="en-US" altLang="en-US" sz="2400" dirty="0">
              <a:latin typeface="Arial Narrow" panose="020B0606020202030204" pitchFamily="34" charset="0"/>
            </a:endParaRPr>
          </a:p>
          <a:p>
            <a:endParaRPr lang="en-US" sz="24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177829-837B-411D-8D6F-7513D88D70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3648F-C10C-476D-BA4E-5D96890A4ABC}" type="datetime1">
              <a:rPr lang="en-US" smtClean="0"/>
              <a:t>15-Sep-2024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922789-AE1A-4DE4-95FB-574888CAF9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A209-9856-462B-A010-2A2374E3EB4A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31268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AECEBE-8602-4DE0-9479-8D8129C06C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Arial Narrow" panose="020B0606020202030204" pitchFamily="34" charset="0"/>
              </a:rPr>
              <a:t>Introduction to Data Structures and Algorithms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9F7FAD-4100-48A1-BCC8-47BAC84C1F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altLang="en-US" sz="2400" dirty="0">
                <a:latin typeface="Arial Narrow" panose="020B0606020202030204" pitchFamily="34" charset="0"/>
              </a:rPr>
              <a:t>Organizing Data:</a:t>
            </a:r>
          </a:p>
          <a:p>
            <a:pPr algn="just"/>
            <a:endParaRPr lang="en-US" altLang="en-US" sz="2400" dirty="0">
              <a:latin typeface="Arial Narrow" panose="020B0606020202030204" pitchFamily="34" charset="0"/>
            </a:endParaRPr>
          </a:p>
          <a:p>
            <a:pPr lvl="1" algn="just"/>
            <a:r>
              <a:rPr lang="en-US" altLang="en-US" sz="2400" dirty="0">
                <a:latin typeface="Arial Narrow" panose="020B0606020202030204" pitchFamily="34" charset="0"/>
              </a:rPr>
              <a:t>Any organization for a collection of records that can be searched, processed in any order, or modified.</a:t>
            </a:r>
          </a:p>
          <a:p>
            <a:pPr lvl="1" algn="just"/>
            <a:endParaRPr lang="en-US" altLang="en-US" sz="2400" dirty="0">
              <a:latin typeface="Arial Narrow" panose="020B0606020202030204" pitchFamily="34" charset="0"/>
            </a:endParaRPr>
          </a:p>
          <a:p>
            <a:pPr lvl="1" algn="just"/>
            <a:r>
              <a:rPr lang="en-US" altLang="en-US" sz="2400" dirty="0">
                <a:latin typeface="Arial Narrow" panose="020B0606020202030204" pitchFamily="34" charset="0"/>
              </a:rPr>
              <a:t>The choice of data structure and algorithm can make the difference between a program running in a few seconds or many days.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35F682-218C-48EB-9271-004DB69FAF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3648F-C10C-476D-BA4E-5D96890A4ABC}" type="datetime1">
              <a:rPr lang="en-US" smtClean="0"/>
              <a:t>15-Sep-2024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9248C3-3EB0-4B8C-9B30-C641C6D6E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A209-9856-462B-A010-2A2374E3EB4A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56388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AC5B9C-6531-4A4F-BD7D-7A1AFF65D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Arial Narrow" panose="020B0606020202030204" pitchFamily="34" charset="0"/>
              </a:rPr>
              <a:t>Introduction to Data Structures and Algorithms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5F21BC-711A-434A-9FF8-F6C6A9A166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400" dirty="0">
                <a:latin typeface="Arial Narrow" panose="020B0606020202030204" pitchFamily="34" charset="0"/>
              </a:rPr>
              <a:t>Efficiency:</a:t>
            </a:r>
          </a:p>
          <a:p>
            <a:pPr algn="just">
              <a:buFont typeface="Wingdings" panose="05000000000000000000" pitchFamily="2" charset="2"/>
              <a:buChar char="§"/>
            </a:pPr>
            <a:endParaRPr lang="en-US" altLang="en-US" sz="2400" dirty="0">
              <a:latin typeface="Arial Narrow" panose="020B0606020202030204" pitchFamily="34" charset="0"/>
            </a:endParaRP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Arial Narrow" panose="020B0606020202030204" pitchFamily="34" charset="0"/>
              </a:rPr>
              <a:t>A solution is said to be </a:t>
            </a:r>
            <a:r>
              <a:rPr lang="en-US" altLang="en-US" sz="2400" i="1" dirty="0">
                <a:latin typeface="Arial Narrow" panose="020B0606020202030204" pitchFamily="34" charset="0"/>
              </a:rPr>
              <a:t>efficient</a:t>
            </a:r>
            <a:r>
              <a:rPr lang="en-US" altLang="en-US" sz="2400" dirty="0">
                <a:latin typeface="Arial Narrow" panose="020B0606020202030204" pitchFamily="34" charset="0"/>
              </a:rPr>
              <a:t> if it solves the problem within its </a:t>
            </a:r>
            <a:r>
              <a:rPr lang="en-US" altLang="en-US" sz="2400" i="1" dirty="0">
                <a:latin typeface="Arial Narrow" panose="020B0606020202030204" pitchFamily="34" charset="0"/>
              </a:rPr>
              <a:t>resource constraints</a:t>
            </a:r>
            <a:r>
              <a:rPr lang="en-US" altLang="en-US" sz="2400" dirty="0">
                <a:latin typeface="Arial Narrow" panose="020B0606020202030204" pitchFamily="34" charset="0"/>
              </a:rPr>
              <a:t>.</a:t>
            </a:r>
          </a:p>
          <a:p>
            <a:pPr lvl="2" algn="just"/>
            <a:r>
              <a:rPr lang="en-US" altLang="en-US" sz="2000" dirty="0">
                <a:latin typeface="Arial Narrow" panose="020B0606020202030204" pitchFamily="34" charset="0"/>
              </a:rPr>
              <a:t>Space</a:t>
            </a:r>
          </a:p>
          <a:p>
            <a:pPr lvl="2" algn="just"/>
            <a:r>
              <a:rPr lang="en-US" altLang="en-US" sz="2000" dirty="0">
                <a:latin typeface="Arial Narrow" panose="020B0606020202030204" pitchFamily="34" charset="0"/>
              </a:rPr>
              <a:t>Time</a:t>
            </a:r>
          </a:p>
          <a:p>
            <a:pPr lvl="2"/>
            <a:endParaRPr lang="en-US" altLang="en-US" sz="2000" dirty="0">
              <a:latin typeface="Arial Narrow" panose="020B0606020202030204" pitchFamily="34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Arial Narrow" panose="020B0606020202030204" pitchFamily="34" charset="0"/>
              </a:rPr>
              <a:t>The cost of a solution is the amount of resources that the solution consumes.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4367D2-E610-4A00-9B3B-29B19690FB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3648F-C10C-476D-BA4E-5D96890A4ABC}" type="datetime1">
              <a:rPr lang="en-US" smtClean="0"/>
              <a:t>15-Sep-2024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B779E5-7F7C-4FC0-91A2-A7E0D6ABF4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A209-9856-462B-A010-2A2374E3EB4A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41919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52F340-5528-403B-8582-DB565EA23B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Arial Narrow" panose="020B0606020202030204" pitchFamily="34" charset="0"/>
              </a:rPr>
              <a:t>Introduction to Data Structures and Algorithms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480146-B4B3-469A-BACC-B39567A71B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400" dirty="0">
                <a:latin typeface="Arial Narrow" panose="020B0606020202030204" pitchFamily="34" charset="0"/>
              </a:rPr>
              <a:t>Select a data structure as follows:</a:t>
            </a:r>
          </a:p>
          <a:p>
            <a:pPr marL="533400" indent="-533400">
              <a:lnSpc>
                <a:spcPct val="90000"/>
              </a:lnSpc>
              <a:buFontTx/>
              <a:buNone/>
            </a:pPr>
            <a:endParaRPr lang="en-US" altLang="en-US" sz="2400" dirty="0">
              <a:latin typeface="Arial Narrow" panose="020B0606020202030204" pitchFamily="34" charset="0"/>
            </a:endParaRPr>
          </a:p>
          <a:p>
            <a:pPr marL="933450" lvl="1" indent="-533400">
              <a:lnSpc>
                <a:spcPct val="90000"/>
              </a:lnSpc>
              <a:buFontTx/>
              <a:buAutoNum type="arabicPeriod"/>
            </a:pPr>
            <a:r>
              <a:rPr lang="en-US" altLang="en-US" sz="2400" dirty="0">
                <a:latin typeface="Arial Narrow" panose="020B0606020202030204" pitchFamily="34" charset="0"/>
              </a:rPr>
              <a:t>Analyze the problem to determine the resource constraints a solution must meet.</a:t>
            </a:r>
          </a:p>
          <a:p>
            <a:pPr marL="933450" lvl="1" indent="-533400">
              <a:lnSpc>
                <a:spcPct val="90000"/>
              </a:lnSpc>
              <a:buFontTx/>
              <a:buAutoNum type="arabicPeriod"/>
            </a:pPr>
            <a:endParaRPr lang="en-US" altLang="en-US" sz="2400" dirty="0">
              <a:latin typeface="Arial Narrow" panose="020B0606020202030204" pitchFamily="34" charset="0"/>
            </a:endParaRPr>
          </a:p>
          <a:p>
            <a:pPr marL="933450" lvl="1" indent="-533400">
              <a:lnSpc>
                <a:spcPct val="90000"/>
              </a:lnSpc>
              <a:buFontTx/>
              <a:buAutoNum type="arabicPeriod"/>
            </a:pPr>
            <a:r>
              <a:rPr lang="en-US" altLang="en-US" sz="2400" dirty="0">
                <a:latin typeface="Arial Narrow" panose="020B0606020202030204" pitchFamily="34" charset="0"/>
              </a:rPr>
              <a:t>Determine the basic operations that must be supported.  </a:t>
            </a:r>
          </a:p>
          <a:p>
            <a:pPr marL="933450" lvl="1" indent="-533400">
              <a:lnSpc>
                <a:spcPct val="90000"/>
              </a:lnSpc>
              <a:buFontTx/>
              <a:buAutoNum type="arabicPeriod"/>
            </a:pPr>
            <a:endParaRPr lang="en-US" altLang="en-US" sz="2400" dirty="0">
              <a:latin typeface="Arial Narrow" panose="020B0606020202030204" pitchFamily="34" charset="0"/>
            </a:endParaRPr>
          </a:p>
          <a:p>
            <a:pPr marL="933450" lvl="1" indent="-533400">
              <a:lnSpc>
                <a:spcPct val="90000"/>
              </a:lnSpc>
              <a:buFontTx/>
              <a:buAutoNum type="arabicPeriod"/>
            </a:pPr>
            <a:r>
              <a:rPr lang="en-US" altLang="en-US" sz="2400" dirty="0">
                <a:latin typeface="Arial Narrow" panose="020B0606020202030204" pitchFamily="34" charset="0"/>
              </a:rPr>
              <a:t>Quantify the resource constraints for each operation.</a:t>
            </a:r>
          </a:p>
          <a:p>
            <a:pPr marL="933450" lvl="1" indent="-533400">
              <a:lnSpc>
                <a:spcPct val="90000"/>
              </a:lnSpc>
              <a:buFontTx/>
              <a:buAutoNum type="arabicPeriod"/>
            </a:pPr>
            <a:endParaRPr lang="en-US" altLang="en-US" sz="2400" dirty="0">
              <a:latin typeface="Arial Narrow" panose="020B0606020202030204" pitchFamily="34" charset="0"/>
            </a:endParaRPr>
          </a:p>
          <a:p>
            <a:pPr marL="933450" lvl="1" indent="-533400">
              <a:lnSpc>
                <a:spcPct val="90000"/>
              </a:lnSpc>
              <a:buFontTx/>
              <a:buAutoNum type="arabicPeriod"/>
            </a:pPr>
            <a:r>
              <a:rPr lang="en-US" altLang="en-US" sz="2400" dirty="0">
                <a:latin typeface="Arial Narrow" panose="020B0606020202030204" pitchFamily="34" charset="0"/>
              </a:rPr>
              <a:t>Select the data structure that best meets these requirements.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D149E1-2AD1-4D74-8E63-543097DB70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3648F-C10C-476D-BA4E-5D96890A4ABC}" type="datetime1">
              <a:rPr lang="en-US" smtClean="0"/>
              <a:t>15-Sep-2024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0C792E-792C-4FA2-82C3-627039BF72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A209-9856-462B-A010-2A2374E3EB4A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37632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325880-FFD1-48AE-9982-FCB0F658DF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Arial Narrow" panose="020B0606020202030204" pitchFamily="34" charset="0"/>
              </a:rPr>
              <a:t>Introduction to Data Structures and Algorithms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1AD53-70E4-4DB2-B00E-814D78E4EB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Selecting a Data  Structure</a:t>
            </a:r>
            <a:endParaRPr lang="en-US" sz="2400" dirty="0">
              <a:latin typeface="Arial Narrow" panose="020B0606020202030204" pitchFamily="34" charset="0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305886E-6EB7-4207-A593-4BEE2572D0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4183C-BF88-40F9-A1FD-0C096233229E}" type="datetime1">
              <a:rPr lang="en-US" smtClean="0"/>
              <a:t>15-Sep-2024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503029-7C99-49DA-875E-D7B85E2B9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A209-9856-462B-A010-2A2374E3EB4A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6146" name="Picture 2" descr="https://i.pinimg.com/564x/c3/07/ac/c307acd7559bf9b3439d071cf21fc39d.jpg">
            <a:extLst>
              <a:ext uri="{FF2B5EF4-FFF2-40B4-BE49-F238E27FC236}">
                <a16:creationId xmlns:a16="http://schemas.microsoft.com/office/drawing/2014/main" id="{4D5B7D06-5509-48B4-94A4-51B170D6AC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0137" y="1193655"/>
            <a:ext cx="4883727" cy="53946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218044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325880-FFD1-48AE-9982-FCB0F658DF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Arial Narrow" panose="020B0606020202030204" pitchFamily="34" charset="0"/>
              </a:rPr>
              <a:t>Introduction to Data Structures and Algorithms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1AD53-70E4-4DB2-B00E-814D78E4EB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rgbClr val="0066FF"/>
                </a:solidFill>
                <a:latin typeface="Arial Narrow" panose="020B0606020202030204" pitchFamily="34" charset="0"/>
              </a:rPr>
              <a:t>Efficient Data Management:</a:t>
            </a:r>
          </a:p>
          <a:p>
            <a:pPr lvl="1"/>
            <a:r>
              <a:rPr lang="en-US" sz="2400" dirty="0">
                <a:latin typeface="Arial Narrow" panose="020B0606020202030204" pitchFamily="34" charset="0"/>
              </a:rPr>
              <a:t>Data structures provide efficient ways to organize and manage data. </a:t>
            </a:r>
          </a:p>
          <a:p>
            <a:pPr lvl="1"/>
            <a:r>
              <a:rPr lang="en-US" sz="2400" dirty="0">
                <a:latin typeface="Arial Narrow" panose="020B0606020202030204" pitchFamily="34" charset="0"/>
              </a:rPr>
              <a:t>They allow you to store, retrieve, and manipulate data in a manner that optimizes operations like searching, insertion, deletion, and traversal.</a:t>
            </a:r>
          </a:p>
          <a:p>
            <a:pPr marL="457200" lvl="1" indent="-457200">
              <a:buFont typeface="+mj-lt"/>
              <a:buAutoNum type="arabicPeriod" startAt="2"/>
            </a:pPr>
            <a:r>
              <a:rPr lang="en-US" sz="2400" dirty="0">
                <a:solidFill>
                  <a:srgbClr val="0066FF"/>
                </a:solidFill>
                <a:latin typeface="Arial Narrow" panose="020B0606020202030204" pitchFamily="34" charset="0"/>
              </a:rPr>
              <a:t>Algorithm Design and Analysis: </a:t>
            </a:r>
          </a:p>
          <a:p>
            <a:pPr marL="857250" lvl="1" indent="-457200"/>
            <a:r>
              <a:rPr lang="en-US" sz="2400" dirty="0">
                <a:latin typeface="Arial Narrow" panose="020B0606020202030204" pitchFamily="34" charset="0"/>
              </a:rPr>
              <a:t>Data structures are closely related to algorithms. </a:t>
            </a:r>
          </a:p>
          <a:p>
            <a:pPr marL="857250" lvl="1" indent="-457200"/>
            <a:r>
              <a:rPr lang="en-US" sz="2400" dirty="0">
                <a:latin typeface="Arial Narrow" panose="020B0606020202030204" pitchFamily="34" charset="0"/>
              </a:rPr>
              <a:t>Efficient algorithms often rely on the use of suitable data structures.</a:t>
            </a:r>
            <a:endParaRPr lang="en-PK" sz="2400" dirty="0">
              <a:latin typeface="Arial Narrow" panose="020B0606020202030204" pitchFamily="34" charset="0"/>
            </a:endParaRPr>
          </a:p>
          <a:p>
            <a:pPr marL="457200" indent="-457200">
              <a:buFont typeface="+mj-lt"/>
              <a:buAutoNum type="arabicPeriod" startAt="3"/>
            </a:pPr>
            <a:r>
              <a:rPr lang="en-US" sz="2400" dirty="0">
                <a:solidFill>
                  <a:srgbClr val="0066FF"/>
                </a:solidFill>
                <a:latin typeface="Arial Narrow" panose="020B0606020202030204" pitchFamily="34" charset="0"/>
              </a:rPr>
              <a:t>Problem Solving and Problem-Specific Solutions: </a:t>
            </a:r>
          </a:p>
          <a:p>
            <a:pPr lvl="1"/>
            <a:r>
              <a:rPr lang="en-US" sz="2400" dirty="0">
                <a:latin typeface="Arial Narrow" panose="020B0606020202030204" pitchFamily="34" charset="0"/>
              </a:rPr>
              <a:t>Data structures provide a way to model and represent real-world problems in software. </a:t>
            </a:r>
          </a:p>
          <a:p>
            <a:pPr lvl="1"/>
            <a:r>
              <a:rPr lang="en-US" sz="2400" dirty="0">
                <a:latin typeface="Arial Narrow" panose="020B0606020202030204" pitchFamily="34" charset="0"/>
              </a:rPr>
              <a:t>They allow you to create organized, efficient, and maintainable code that can handle various types of data and tasks.</a:t>
            </a:r>
            <a:endParaRPr lang="en-PK" sz="2400" dirty="0">
              <a:latin typeface="Arial Narrow" panose="020B0606020202030204" pitchFamily="34" charset="0"/>
            </a:endParaRPr>
          </a:p>
          <a:p>
            <a:pPr lvl="1"/>
            <a:endParaRPr lang="en-US" sz="2400" dirty="0">
              <a:latin typeface="Arial Narrow" panose="020B0606020202030204" pitchFamily="34" charset="0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305886E-6EB7-4207-A593-4BEE2572D0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4183C-BF88-40F9-A1FD-0C096233229E}" type="datetime1">
              <a:rPr lang="en-US" smtClean="0"/>
              <a:t>15-Sep-2024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503029-7C99-49DA-875E-D7B85E2B9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A209-9856-462B-A010-2A2374E3EB4A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74616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7A57D6-7EA5-4229-8028-5D9AF674AB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Arial Narrow" panose="020B0606020202030204" pitchFamily="34" charset="0"/>
              </a:rPr>
              <a:t>Fundamental Concepts of Algorithm Analysis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D2EDF7-D233-463D-A785-47E96506DD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685800"/>
            <a:ext cx="9144000" cy="6161316"/>
          </a:xfrm>
        </p:spPr>
        <p:txBody>
          <a:bodyPr>
            <a:normAutofit/>
          </a:bodyPr>
          <a:lstStyle/>
          <a:p>
            <a:pPr algn="just"/>
            <a:r>
              <a:rPr lang="en-US" sz="2400" dirty="0">
                <a:latin typeface="Arial Narrow" panose="020B0606020202030204" pitchFamily="34" charset="0"/>
              </a:rPr>
              <a:t>Algorithm analysis focuses on evaluating an algorithm's efficiency in terms of time and space complexity. </a:t>
            </a:r>
          </a:p>
          <a:p>
            <a:pPr algn="just"/>
            <a:endParaRPr lang="en-US" sz="2400" dirty="0">
              <a:latin typeface="Arial Narrow" panose="020B0606020202030204" pitchFamily="34" charset="0"/>
            </a:endParaRPr>
          </a:p>
          <a:p>
            <a:pPr algn="just"/>
            <a:r>
              <a:rPr lang="en-US" sz="2400" dirty="0">
                <a:latin typeface="Arial Narrow" panose="020B0606020202030204" pitchFamily="34" charset="0"/>
              </a:rPr>
              <a:t>Time complexity measures how the runtime of an algorithm grows with the input size, often expressed using Big O, Omega, or Theta notation. </a:t>
            </a:r>
          </a:p>
          <a:p>
            <a:pPr algn="just"/>
            <a:endParaRPr lang="en-US" sz="2400" dirty="0">
              <a:latin typeface="Arial Narrow" panose="020B0606020202030204" pitchFamily="34" charset="0"/>
            </a:endParaRPr>
          </a:p>
          <a:p>
            <a:pPr algn="just"/>
            <a:r>
              <a:rPr lang="en-US" sz="2400" dirty="0">
                <a:latin typeface="Arial Narrow" panose="020B0606020202030204" pitchFamily="34" charset="0"/>
              </a:rPr>
              <a:t>Space complexity assesses the memory usage of an algorithm relative to the input size. </a:t>
            </a:r>
          </a:p>
          <a:p>
            <a:pPr algn="just"/>
            <a:endParaRPr lang="en-US" sz="2400" dirty="0">
              <a:latin typeface="Arial Narrow" panose="020B0606020202030204" pitchFamily="34" charset="0"/>
            </a:endParaRPr>
          </a:p>
          <a:p>
            <a:pPr algn="just"/>
            <a:r>
              <a:rPr lang="en-US" sz="2400" dirty="0">
                <a:latin typeface="Arial Narrow" panose="020B0606020202030204" pitchFamily="34" charset="0"/>
              </a:rPr>
              <a:t>Key concepts include best, worst, and average case scenarios, which help in understanding an algorithm's performance in different situations. </a:t>
            </a:r>
          </a:p>
          <a:p>
            <a:pPr algn="just"/>
            <a:endParaRPr lang="en-US" sz="2400" dirty="0">
              <a:latin typeface="Arial Narrow" panose="020B0606020202030204" pitchFamily="34" charset="0"/>
            </a:endParaRPr>
          </a:p>
          <a:p>
            <a:pPr algn="just"/>
            <a:r>
              <a:rPr lang="en-US" sz="2400" dirty="0">
                <a:latin typeface="Arial Narrow" panose="020B0606020202030204" pitchFamily="34" charset="0"/>
              </a:rPr>
              <a:t>Additionally, recurrence relations is used to analyze the average performance over a sequence of operations or solve recursive algorithms, respectively.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03A7AB-6239-4C8E-9AC1-997DE9E853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3648F-C10C-476D-BA4E-5D96890A4ABC}" type="datetime1">
              <a:rPr lang="en-US" smtClean="0"/>
              <a:t>15-Sep-2024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36A549-C1EE-4357-9266-3066F7C9B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A209-9856-462B-A010-2A2374E3EB4A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43915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7A57D6-7EA5-4229-8028-5D9AF674AB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Arial Narrow" panose="020B0606020202030204" pitchFamily="34" charset="0"/>
              </a:rPr>
              <a:t>Time and Space Complexity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D2EDF7-D233-463D-A785-47E96506DD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857250" lvl="1" indent="-457200" algn="just">
              <a:buFont typeface="+mj-lt"/>
              <a:buAutoNum type="arabicPeriod"/>
            </a:pPr>
            <a:r>
              <a:rPr lang="en-US" sz="2400" dirty="0">
                <a:latin typeface="Arial Narrow" panose="020B0606020202030204" pitchFamily="34" charset="0"/>
              </a:rPr>
              <a:t>Time Complexity - Measures the amount of time an algorithm takes to complete as a function of the input size n.</a:t>
            </a:r>
          </a:p>
          <a:p>
            <a:pPr marL="857250" lvl="1" indent="-457200" algn="just">
              <a:buFont typeface="+mj-lt"/>
              <a:buAutoNum type="arabicPeriod"/>
            </a:pPr>
            <a:r>
              <a:rPr lang="en-US" sz="2400" dirty="0">
                <a:latin typeface="Arial Narrow" panose="020B0606020202030204" pitchFamily="34" charset="0"/>
              </a:rPr>
              <a:t>Space Complexity - Measures the amount of memory an algorithm uses as a function of the input size n.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03A7AB-6239-4C8E-9AC1-997DE9E853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3648F-C10C-476D-BA4E-5D96890A4ABC}" type="datetime1">
              <a:rPr lang="en-US" smtClean="0"/>
              <a:t>15-Sep-2024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36A549-C1EE-4357-9266-3066F7C9B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A209-9856-462B-A010-2A2374E3EB4A}" type="slidenum">
              <a:rPr lang="en-US" smtClean="0"/>
              <a:pPr/>
              <a:t>10</a:t>
            </a:fld>
            <a:endParaRPr lang="en-US"/>
          </a:p>
        </p:txBody>
      </p:sp>
      <p:pic>
        <p:nvPicPr>
          <p:cNvPr id="4100" name="Picture 4" descr="https://droidtechknow.com/programming/algorithms/big-o-notation/images/big-o-notation.jpg">
            <a:extLst>
              <a:ext uri="{FF2B5EF4-FFF2-40B4-BE49-F238E27FC236}">
                <a16:creationId xmlns:a16="http://schemas.microsoft.com/office/drawing/2014/main" id="{ECDFA712-60F8-454B-8295-F4055B6E56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9262" y="2297289"/>
            <a:ext cx="6245476" cy="42818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096868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7A57D6-7EA5-4229-8028-5D9AF674AB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Arial Narrow" panose="020B0606020202030204" pitchFamily="34" charset="0"/>
              </a:rPr>
              <a:t>Time and Space Complexity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D2EDF7-D233-463D-A785-47E96506DD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857250" lvl="1" indent="-457200" algn="just">
              <a:buFont typeface="+mj-lt"/>
              <a:buAutoNum type="arabicPeriod"/>
            </a:pPr>
            <a:r>
              <a:rPr lang="en-US" sz="2400" dirty="0">
                <a:latin typeface="Arial Narrow" panose="020B0606020202030204" pitchFamily="34" charset="0"/>
              </a:rPr>
              <a:t>Best Case: The minimum time or space required for the algorithm, considering the most favorable input.</a:t>
            </a:r>
          </a:p>
          <a:p>
            <a:pPr marL="857250" lvl="1" indent="-457200" algn="just">
              <a:buFont typeface="+mj-lt"/>
              <a:buAutoNum type="arabicPeriod"/>
            </a:pPr>
            <a:endParaRPr lang="en-US" sz="2400" dirty="0">
              <a:latin typeface="Arial Narrow" panose="020B0606020202030204" pitchFamily="34" charset="0"/>
            </a:endParaRPr>
          </a:p>
          <a:p>
            <a:pPr marL="857250" lvl="1" indent="-457200" algn="just">
              <a:buFont typeface="+mj-lt"/>
              <a:buAutoNum type="arabicPeriod"/>
            </a:pPr>
            <a:r>
              <a:rPr lang="en-US" sz="2400" dirty="0">
                <a:latin typeface="Arial Narrow" panose="020B0606020202030204" pitchFamily="34" charset="0"/>
              </a:rPr>
              <a:t>Worst Case: The maximum time or space required for the algorithm, considering the least favorable input.</a:t>
            </a:r>
          </a:p>
          <a:p>
            <a:pPr marL="857250" lvl="1" indent="-457200" algn="just">
              <a:buFont typeface="+mj-lt"/>
              <a:buAutoNum type="arabicPeriod"/>
            </a:pPr>
            <a:endParaRPr lang="en-US" sz="2400" dirty="0">
              <a:latin typeface="Arial Narrow" panose="020B0606020202030204" pitchFamily="34" charset="0"/>
            </a:endParaRPr>
          </a:p>
          <a:p>
            <a:pPr marL="857250" lvl="1" indent="-457200" algn="just">
              <a:buFont typeface="+mj-lt"/>
              <a:buAutoNum type="arabicPeriod"/>
            </a:pPr>
            <a:r>
              <a:rPr lang="en-US" sz="2400" dirty="0">
                <a:latin typeface="Arial Narrow" panose="020B0606020202030204" pitchFamily="34" charset="0"/>
              </a:rPr>
              <a:t>Average Case: The expected time or space required for the algorithm, considering a random input.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03A7AB-6239-4C8E-9AC1-997DE9E853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3648F-C10C-476D-BA4E-5D96890A4ABC}" type="datetime1">
              <a:rPr lang="en-US" smtClean="0"/>
              <a:t>15-Sep-2024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36A549-C1EE-4357-9266-3066F7C9B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A209-9856-462B-A010-2A2374E3EB4A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94989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7A57D6-7EA5-4229-8028-5D9AF674AB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Arial Narrow" panose="020B0606020202030204" pitchFamily="34" charset="0"/>
              </a:rPr>
              <a:t>Time and Space Complexity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D2EDF7-D233-463D-A785-47E96506DD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00050" lvl="1" indent="0" algn="just">
              <a:buNone/>
            </a:pPr>
            <a:endParaRPr lang="en-US" sz="2400" dirty="0">
              <a:latin typeface="Arial Narrow" panose="020B0606020202030204" pitchFamily="34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03A7AB-6239-4C8E-9AC1-997DE9E853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3648F-C10C-476D-BA4E-5D96890A4ABC}" type="datetime1">
              <a:rPr lang="en-US" smtClean="0"/>
              <a:t>15-Sep-2024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36A549-C1EE-4357-9266-3066F7C9B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A209-9856-462B-A010-2A2374E3EB4A}" type="slidenum">
              <a:rPr lang="en-US" smtClean="0"/>
              <a:pPr/>
              <a:t>12</a:t>
            </a:fld>
            <a:endParaRPr lang="en-US"/>
          </a:p>
        </p:txBody>
      </p:sp>
      <p:pic>
        <p:nvPicPr>
          <p:cNvPr id="7170" name="Picture 2" descr="https://blogger.googleusercontent.com/img/b/R29vZ2xl/AVvXsEgRwUuDHWrNS9HHBvoPpVWeODqON79qI1gPkqHu4LIuO7_uROsGQlcOQJ7hn8tGnXWPkf98J3p5b7LGfbnfktx9VG-54WKgtAe9hH8AFZdBhtlPASFOXzE2GENJ-cX9mYJ-2ENUkZy3Y1gX/s640/case+Graph+-+min.png">
            <a:extLst>
              <a:ext uri="{FF2B5EF4-FFF2-40B4-BE49-F238E27FC236}">
                <a16:creationId xmlns:a16="http://schemas.microsoft.com/office/drawing/2014/main" id="{4584C9AD-500F-4B81-B018-E99D2684CE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1143000"/>
            <a:ext cx="6096000" cy="457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120782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325880-FFD1-48AE-9982-FCB0F658DF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Asymptotic Notation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1AD53-70E4-4DB2-B00E-814D78E4EB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685800"/>
            <a:ext cx="9144000" cy="5670550"/>
          </a:xfrm>
        </p:spPr>
        <p:txBody>
          <a:bodyPr>
            <a:normAutofit/>
          </a:bodyPr>
          <a:lstStyle/>
          <a:p>
            <a:pPr algn="just"/>
            <a:r>
              <a:rPr lang="en-US" sz="2400" dirty="0">
                <a:latin typeface="Arial Narrow" panose="020B0606020202030204" pitchFamily="34" charset="0"/>
              </a:rPr>
              <a:t>Asymptotic notation is used to describe the behavior of algorithms as the input size grows towards infinity. </a:t>
            </a:r>
          </a:p>
          <a:p>
            <a:pPr algn="just"/>
            <a:r>
              <a:rPr lang="en-US" sz="2400" dirty="0">
                <a:latin typeface="Arial Narrow" panose="020B0606020202030204" pitchFamily="34" charset="0"/>
              </a:rPr>
              <a:t>It helps in analyzing and comparing the efficiency of algorithms. </a:t>
            </a:r>
          </a:p>
          <a:p>
            <a:pPr algn="just"/>
            <a:r>
              <a:rPr lang="en-US" sz="2400" dirty="0">
                <a:latin typeface="Arial Narrow" panose="020B0606020202030204" pitchFamily="34" charset="0"/>
              </a:rPr>
              <a:t>Here are the most common types of asymptotic notation with a simple example:</a:t>
            </a:r>
          </a:p>
          <a:p>
            <a:pPr marL="857250" lvl="1" indent="-457200" algn="just">
              <a:buFont typeface="+mj-lt"/>
              <a:buAutoNum type="arabicPeriod"/>
            </a:pPr>
            <a:r>
              <a:rPr lang="en-US" sz="2400" b="1" dirty="0">
                <a:latin typeface="Arial Narrow" panose="020B0606020202030204" pitchFamily="34" charset="0"/>
              </a:rPr>
              <a:t>Big O Notation (O(n)):</a:t>
            </a:r>
            <a:r>
              <a:rPr lang="en-US" sz="2400" dirty="0">
                <a:latin typeface="Arial Narrow" panose="020B0606020202030204" pitchFamily="34" charset="0"/>
              </a:rPr>
              <a:t> The time complexity is O(n) because the function performs one operation for each element in the list, so the time grows linearly with the size of the input list.</a:t>
            </a:r>
          </a:p>
          <a:p>
            <a:pPr marL="857250" lvl="1" indent="-457200" algn="just">
              <a:buFont typeface="+mj-lt"/>
              <a:buAutoNum type="arabicPeriod"/>
            </a:pPr>
            <a:r>
              <a:rPr lang="en-US" sz="2400" b="1" dirty="0">
                <a:latin typeface="Arial Narrow" panose="020B0606020202030204" pitchFamily="34" charset="0"/>
              </a:rPr>
              <a:t>Omega Notation (Ω(n)):</a:t>
            </a:r>
            <a:r>
              <a:rPr lang="en-US" sz="2400" dirty="0">
                <a:latin typeface="Arial Narrow" panose="020B0606020202030204" pitchFamily="34" charset="0"/>
              </a:rPr>
              <a:t> In the best-case scenario, the function still needs to iterate through all n elements to compute the sum, so its time complexity is also Ω(n).</a:t>
            </a:r>
          </a:p>
          <a:p>
            <a:pPr marL="857250" lvl="1" indent="-457200" algn="just">
              <a:buFont typeface="+mj-lt"/>
              <a:buAutoNum type="arabicPeriod"/>
            </a:pPr>
            <a:r>
              <a:rPr lang="en-US" sz="2400" b="1" dirty="0">
                <a:latin typeface="Arial Narrow" panose="020B0606020202030204" pitchFamily="34" charset="0"/>
              </a:rPr>
              <a:t>Theta Notation (Θ(n)):</a:t>
            </a:r>
            <a:r>
              <a:rPr lang="en-US" sz="2400" dirty="0">
                <a:latin typeface="Arial Narrow" panose="020B0606020202030204" pitchFamily="34" charset="0"/>
              </a:rPr>
              <a:t> Since the time complexity grows linearly with the size of the list and is bounded both above and below by a linear function, it is Θ(n).</a:t>
            </a:r>
          </a:p>
          <a:p>
            <a:endParaRPr lang="en-US" sz="2400" dirty="0">
              <a:latin typeface="Arial Narrow" panose="020B0606020202030204" pitchFamily="34" charset="0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305886E-6EB7-4207-A593-4BEE2572D0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4183C-BF88-40F9-A1FD-0C096233229E}" type="datetime1">
              <a:rPr lang="en-US" smtClean="0"/>
              <a:t>15-Sep-2024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503029-7C99-49DA-875E-D7B85E2B9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A209-9856-462B-A010-2A2374E3EB4A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77359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325880-FFD1-48AE-9982-FCB0F658DF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Asymptotic Notation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1D6BA634-465D-4CCB-A3D6-17C64A96F2F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4231"/>
            <a:ext cx="9144000" cy="5143500"/>
          </a:xfrm>
        </p:spPr>
      </p:pic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305886E-6EB7-4207-A593-4BEE2572D0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4183C-BF88-40F9-A1FD-0C096233229E}" type="datetime1">
              <a:rPr lang="en-US" smtClean="0"/>
              <a:t>15-Sep-2024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503029-7C99-49DA-875E-D7B85E2B9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A209-9856-462B-A010-2A2374E3EB4A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4" name="AutoShape 2" descr="Graph Diagram of Asymptotic Notations by Learn Loner. Big Oh Notation, Theta Notation, Omega Notation.">
            <a:extLst>
              <a:ext uri="{FF2B5EF4-FFF2-40B4-BE49-F238E27FC236}">
                <a16:creationId xmlns:a16="http://schemas.microsoft.com/office/drawing/2014/main" id="{8558F86E-A7C8-4385-9DEC-9B45A9DAFE8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0849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0A412-059E-4719-96A6-DE66B01C14B3}" type="datetime1">
              <a:rPr lang="en-US" smtClean="0"/>
              <a:pPr/>
              <a:t>15-Sep-2024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9B532-757F-4D00-BD97-1FEC350DEAF2}" type="slidenum">
              <a:rPr lang="en-US" smtClean="0"/>
              <a:pPr/>
              <a:t>15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3516" y="2699658"/>
            <a:ext cx="7326985" cy="1371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36477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e41a7a39-cefe-44f5-a3a8-0050e37c33e9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EDDBCD85B0433498E6BCE505FFEC7DE" ma:contentTypeVersion="15" ma:contentTypeDescription="Create a new document." ma:contentTypeScope="" ma:versionID="528d693c7cc464012b779c9363db476b">
  <xsd:schema xmlns:xsd="http://www.w3.org/2001/XMLSchema" xmlns:xs="http://www.w3.org/2001/XMLSchema" xmlns:p="http://schemas.microsoft.com/office/2006/metadata/properties" xmlns:ns3="e41a7a39-cefe-44f5-a3a8-0050e37c33e9" targetNamespace="http://schemas.microsoft.com/office/2006/metadata/properties" ma:root="true" ma:fieldsID="1b749ea39c3268e2a9a91a038912fe54" ns3:_="">
    <xsd:import namespace="e41a7a39-cefe-44f5-a3a8-0050e37c33e9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3:MediaLengthInSeconds" minOccurs="0"/>
                <xsd:element ref="ns3:MediaServiceLocation" minOccurs="0"/>
                <xsd:element ref="ns3:_activity" minOccurs="0"/>
                <xsd:element ref="ns3:MediaServiceObjectDetectorVersions" minOccurs="0"/>
                <xsd:element ref="ns3:MediaServiceSystemTag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41a7a39-cefe-44f5-a3a8-0050e37c33e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_activity" ma:index="19" nillable="true" ma:displayName="_activity" ma:hidden="true" ma:internalName="_activity">
      <xsd:simpleType>
        <xsd:restriction base="dms:Note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21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A849042-65C2-42FE-8C8E-7D0E8A47297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E207D34-F50E-4D4D-9D47-2ECFF116F129}">
  <ds:schemaRefs>
    <ds:schemaRef ds:uri="http://schemas.microsoft.com/office/2006/documentManagement/types"/>
    <ds:schemaRef ds:uri="http://purl.org/dc/terms/"/>
    <ds:schemaRef ds:uri="http://www.w3.org/XML/1998/namespace"/>
    <ds:schemaRef ds:uri="http://schemas.microsoft.com/office/2006/metadata/properties"/>
    <ds:schemaRef ds:uri="e41a7a39-cefe-44f5-a3a8-0050e37c33e9"/>
    <ds:schemaRef ds:uri="http://schemas.openxmlformats.org/package/2006/metadata/core-properties"/>
    <ds:schemaRef ds:uri="http://schemas.microsoft.com/office/infopath/2007/PartnerControls"/>
    <ds:schemaRef ds:uri="http://purl.org/dc/dcmitype/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DEE6FB4D-CE75-428E-8BA2-C8B22E71D99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41a7a39-cefe-44f5-a3a8-0050e37c33e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1220</TotalTime>
  <Words>751</Words>
  <Application>Microsoft Office PowerPoint</Application>
  <PresentationFormat>On-screen Show (4:3)</PresentationFormat>
  <Paragraphs>109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Arial</vt:lpstr>
      <vt:lpstr>Arial Narrow</vt:lpstr>
      <vt:lpstr>Calibri</vt:lpstr>
      <vt:lpstr>MoolBoran</vt:lpstr>
      <vt:lpstr>Symbol</vt:lpstr>
      <vt:lpstr>Wingdings</vt:lpstr>
      <vt:lpstr>Office Theme</vt:lpstr>
      <vt:lpstr>Data Structures &amp; Algorithms</vt:lpstr>
      <vt:lpstr>Week-01 Agenda </vt:lpstr>
      <vt:lpstr>Introduction to Data Structures and Algorithms</vt:lpstr>
      <vt:lpstr>Introduction to Data Structures and Algorithms</vt:lpstr>
      <vt:lpstr>Introduction to Data Structures and Algorithms</vt:lpstr>
      <vt:lpstr>Introduction to Data Structures and Algorithms</vt:lpstr>
      <vt:lpstr>Introduction to Data Structures and Algorithms</vt:lpstr>
      <vt:lpstr>Introduction to Data Structures and Algorithms</vt:lpstr>
      <vt:lpstr>Fundamental Concepts of Algorithm Analysis</vt:lpstr>
      <vt:lpstr>Time and Space Complexity</vt:lpstr>
      <vt:lpstr>Time and Space Complexity</vt:lpstr>
      <vt:lpstr>Time and Space Complexity</vt:lpstr>
      <vt:lpstr>Asymptotic Notation</vt:lpstr>
      <vt:lpstr>Asymptotic Notation</vt:lpstr>
      <vt:lpstr>PowerPoint Presentation</vt:lpstr>
    </vt:vector>
  </TitlesOfParts>
  <Company>Grizli777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Majid Kaleem</dc:creator>
  <cp:lastModifiedBy>majid kaleem BUKC</cp:lastModifiedBy>
  <cp:revision>317</cp:revision>
  <dcterms:created xsi:type="dcterms:W3CDTF">2016-10-27T12:58:45Z</dcterms:created>
  <dcterms:modified xsi:type="dcterms:W3CDTF">2024-09-15T17:48:30Z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0x0101004EDDBCD85B0433498E6BCE505FFEC7DE</vt:lpwstr>
  </property>
</Properties>
</file>