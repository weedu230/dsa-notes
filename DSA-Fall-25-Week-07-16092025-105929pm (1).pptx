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256" r:id="rId5"/>
    <p:sldId id="257" r:id="rId6"/>
    <p:sldId id="655" r:id="rId7"/>
    <p:sldId id="675" r:id="rId8"/>
    <p:sldId id="657" r:id="rId9"/>
    <p:sldId id="673" r:id="rId10"/>
    <p:sldId id="678" r:id="rId11"/>
    <p:sldId id="659" r:id="rId12"/>
    <p:sldId id="672" r:id="rId13"/>
    <p:sldId id="658" r:id="rId14"/>
    <p:sldId id="676" r:id="rId15"/>
    <p:sldId id="686" r:id="rId16"/>
    <p:sldId id="681" r:id="rId17"/>
    <p:sldId id="679" r:id="rId18"/>
    <p:sldId id="680" r:id="rId19"/>
    <p:sldId id="687" r:id="rId20"/>
    <p:sldId id="688" r:id="rId21"/>
    <p:sldId id="683" r:id="rId22"/>
    <p:sldId id="682" r:id="rId23"/>
    <p:sldId id="685" r:id="rId24"/>
    <p:sldId id="684" r:id="rId25"/>
    <p:sldId id="689" r:id="rId26"/>
    <p:sldId id="690" r:id="rId27"/>
    <p:sldId id="693" r:id="rId28"/>
    <p:sldId id="691" r:id="rId29"/>
    <p:sldId id="694" r:id="rId30"/>
    <p:sldId id="692" r:id="rId31"/>
    <p:sldId id="695" r:id="rId32"/>
    <p:sldId id="650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5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ABBB9-D43F-4F6B-B6A1-E0CDD613A533}" type="datetimeFigureOut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8513B-4632-4E89-ACB7-7E7F9046F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F71D2-D6BA-4174-87E1-0F5D0E08BB86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884"/>
            <a:ext cx="9144000" cy="530352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440363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053AB-C917-44B5-94A4-E19F9582D8A1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 userDrawn="1"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7A969-A3A4-4905-BB3B-A1F99714489D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122F-34FE-4A32-AF1E-06D01F4AB465}" type="datetime1">
              <a:rPr lang="en-US" smtClean="0"/>
              <a:t>16-Sep-2025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BF83-D408-43EE-8C8E-881EB30FED63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6E94-763D-4669-B6E9-51CBF0DE98F8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Prepared by: Engr. Majid Kaleem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AE6-6DBC-4573-A883-C8B56C3BA319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DD4B-BA74-4081-9C98-F75546208E81}" type="datetime1">
              <a:rPr lang="en-US" smtClean="0"/>
              <a:t>16-Sep-2025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6D023-EB81-4F7E-BAFB-BBC0F73C5589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CAF7-3317-49F4-8BCD-6F3AFB74B952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4185C-045E-4B07-B360-1E4D0D4807A8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9600" dirty="0">
                <a:latin typeface="MoolBoran" pitchFamily="34" charset="0"/>
                <a:cs typeface="MoolBoran" pitchFamily="34" charset="0"/>
              </a:rPr>
              <a:t>Data Structures &amp; Algorithms</a:t>
            </a:r>
            <a:endParaRPr lang="en-US" sz="9600" dirty="0">
              <a:latin typeface="MoolBoran" pitchFamily="34" charset="0"/>
              <a:cs typeface="MoolBoran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7200"/>
            <a:ext cx="6400800" cy="762000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  <a:latin typeface="MoolBoran" pitchFamily="34" charset="0"/>
                <a:cs typeface="MoolBoran" pitchFamily="34" charset="0"/>
              </a:rPr>
              <a:t>Week-07</a:t>
            </a:r>
            <a:endParaRPr lang="en-US" dirty="0">
              <a:solidFill>
                <a:schemeClr val="tx2"/>
              </a:solidFill>
              <a:latin typeface="MoolBoran" pitchFamily="34" charset="0"/>
              <a:cs typeface="MoolBoran" pitchFamily="34" charset="0"/>
            </a:endParaRPr>
          </a:p>
        </p:txBody>
      </p:sp>
      <p:pic>
        <p:nvPicPr>
          <p:cNvPr id="6" name="Picture 5" descr="logo5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6" y="0"/>
            <a:ext cx="2729014" cy="7782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0F576E-2ADB-4177-AB0E-A05B1562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753D-90AF-4F2E-8EC7-13C4E2C1D86D}" type="datetime1">
              <a:rPr lang="en-US" smtClean="0"/>
              <a:t>16-Sep-2025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63651-B497-4529-9AFF-59636D16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880-FFD1-48AE-9982-FCB0F65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Week-07 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AD53-70E4-4DB2-B00E-814D78E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Hashing &amp; Hash Tables</a:t>
            </a:r>
          </a:p>
          <a:p>
            <a:endParaRPr lang="en-PK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05886E-6EB7-4207-A593-4BEE25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183C-BF88-40F9-A1FD-0C096233229E}" type="datetime1">
              <a:rPr lang="en-US" smtClean="0"/>
              <a:t>16-Sep-2025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03029-7C99-49DA-875E-D7B85E2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0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ACE0-DF31-4733-B8C0-BFF282E9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Hashing – Definition (Recap)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B76E-3443-454F-A769-6518EC8DE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Hashing</a:t>
            </a:r>
            <a:r>
              <a:rPr lang="en-US" dirty="0"/>
              <a:t> refers to the process of generating a fixed-size output from an input of variable size using the mathematical formulas known as hash functions.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technique determines an index or location for the storage of an item in a data structure.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26435-16C6-455D-8E94-1799E72D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C0C4F-7782-4600-B829-96D22A33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21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ACE0-DF31-4733-B8C0-BFF282E9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Hashing – Definition (Recap)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B76E-3443-454F-A769-6518EC8DE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Hashing is a technique used to map data (keys) to a fixed-size value, known as a hash code or hash value.</a:t>
            </a:r>
          </a:p>
          <a:p>
            <a:endParaRPr lang="en-US" dirty="0"/>
          </a:p>
          <a:p>
            <a:r>
              <a:rPr lang="en-US" dirty="0"/>
              <a:t>The hash function transforms the input (or key) into an integer, which corresponds to the index in an array, called the hash table.</a:t>
            </a:r>
          </a:p>
          <a:p>
            <a:endParaRPr lang="en-US" dirty="0"/>
          </a:p>
          <a:p>
            <a:r>
              <a:rPr lang="en-US" dirty="0"/>
              <a:t>The purpose of hashing is to provide efficient searching, insertion, and deletion operations.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26435-16C6-455D-8E94-1799E72D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C0C4F-7782-4600-B829-96D22A33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69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2C578-0A8E-4193-8AB7-3337770FD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Hash Function (Recap)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DD937-DEE4-4F0D-B2B1-0B16B3745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Hash Function takes a key and converts it into an index in a hash table.</a:t>
            </a:r>
          </a:p>
          <a:p>
            <a:endParaRPr lang="en-US" dirty="0"/>
          </a:p>
          <a:p>
            <a:r>
              <a:rPr lang="en-US" dirty="0"/>
              <a:t>The function should:</a:t>
            </a:r>
          </a:p>
          <a:p>
            <a:endParaRPr lang="en-US" dirty="0"/>
          </a:p>
          <a:p>
            <a:pPr lvl="1"/>
            <a:r>
              <a:rPr lang="en-US" dirty="0"/>
              <a:t>Be deterministic (same key always gives the same index).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Minimize collisions (two keys hashing to the same index).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Distribute keys uniformly across the hash table.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3E3CD-3248-48C9-AAA3-A25EBB7D7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4E4BE-067E-4197-99AE-D028629E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17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97D3-9940-4B20-978B-084FFB174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Components of Hashing (Recap)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EB704-9C17-4F8B-9B2C-0FC046970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There are majorly three components of hashing: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b="1" dirty="0">
                <a:solidFill>
                  <a:srgbClr val="0033CC"/>
                </a:solidFill>
              </a:rPr>
              <a:t>Key:</a:t>
            </a:r>
            <a:r>
              <a:rPr lang="en-US" dirty="0">
                <a:solidFill>
                  <a:srgbClr val="0033CC"/>
                </a:solidFill>
              </a:rPr>
              <a:t> </a:t>
            </a:r>
            <a:r>
              <a:rPr lang="en-US" dirty="0"/>
              <a:t>A </a:t>
            </a:r>
            <a:r>
              <a:rPr lang="en-US" b="1" dirty="0"/>
              <a:t>Key</a:t>
            </a:r>
            <a:r>
              <a:rPr lang="en-US" dirty="0"/>
              <a:t> can be anything string or integer which is fed as input in the hash function the technique that determines an index or location for storage of an item in a data structure. 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b="1" dirty="0">
                <a:solidFill>
                  <a:srgbClr val="0033CC"/>
                </a:solidFill>
              </a:rPr>
              <a:t>Hash Function: </a:t>
            </a:r>
            <a:r>
              <a:rPr lang="en-US" dirty="0"/>
              <a:t>The </a:t>
            </a:r>
            <a:r>
              <a:rPr lang="en-US" b="1" dirty="0"/>
              <a:t>hash function</a:t>
            </a:r>
            <a:r>
              <a:rPr lang="en-US" dirty="0"/>
              <a:t> receives the input key and returns the index of an element in an array called a hash table. The index is known as the</a:t>
            </a:r>
            <a:r>
              <a:rPr lang="en-US" b="1" dirty="0"/>
              <a:t> hash index</a:t>
            </a:r>
            <a:r>
              <a:rPr lang="en-US" dirty="0"/>
              <a:t>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b="1" dirty="0">
                <a:solidFill>
                  <a:srgbClr val="0033CC"/>
                </a:solidFill>
              </a:rPr>
              <a:t>Hash Table:</a:t>
            </a:r>
            <a:r>
              <a:rPr lang="en-US" b="1" dirty="0"/>
              <a:t> </a:t>
            </a:r>
            <a:r>
              <a:rPr lang="en-US" dirty="0"/>
              <a:t>Hash table is a data structure that maps keys to values using a special function called a hash function. Hash stores the data in an associative manner in an array where each data value has its own unique index.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DE99E-02CE-4C39-B64D-1E71A1B8F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2DA6D-C403-4E4E-BE9F-42E1C168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59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7077-5071-484E-89E6-10245364A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Components of Hashing (Recap)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0E919-AB69-43EF-8897-ED2C304A7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66B8A-DBFD-486E-94B8-92E5680C5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5B972-F25B-4CA4-AF9C-4FA3A3DB9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17AC5F-E20E-4376-9612-87CA097C3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1281112"/>
            <a:ext cx="80105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353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2C578-0A8E-4193-8AB7-3337770FD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Hash Function (Recap)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DD937-DEE4-4F0D-B2B1-0B16B3745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3E3CD-3248-48C9-AAA3-A25EBB7D7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4E4BE-067E-4197-99AE-D028629E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 descr="Array vs. Linked List vs. Hash Table - Open4Tech">
            <a:extLst>
              <a:ext uri="{FF2B5EF4-FFF2-40B4-BE49-F238E27FC236}">
                <a16:creationId xmlns:a16="http://schemas.microsoft.com/office/drawing/2014/main" id="{2AB1B807-446F-4E2E-8CE4-039FE7071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611489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759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2C578-0A8E-4193-8AB7-3337770FD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Hash Function (Recap)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DD937-DEE4-4F0D-B2B1-0B16B3745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3E3CD-3248-48C9-AAA3-A25EBB7D7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4E4BE-067E-4197-99AE-D028629E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076" name="Picture 4" descr="Data Structures Tutorials - Static Hashing">
            <a:extLst>
              <a:ext uri="{FF2B5EF4-FFF2-40B4-BE49-F238E27FC236}">
                <a16:creationId xmlns:a16="http://schemas.microsoft.com/office/drawing/2014/main" id="{E3CD2033-1FE6-473B-ABDC-EF002660B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1489"/>
            <a:ext cx="9144000" cy="267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394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D3B83-CEA6-44F9-B336-BA45FA1FF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Hashing (Recap)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A691-E657-40A2-BB05-0F41A386F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33CC"/>
                </a:solidFill>
              </a:rPr>
              <a:t>Direct Hashing</a:t>
            </a:r>
          </a:p>
          <a:p>
            <a:endParaRPr lang="en-US" dirty="0"/>
          </a:p>
          <a:p>
            <a:pPr lvl="1"/>
            <a:r>
              <a:rPr lang="en-US" dirty="0"/>
              <a:t>Each key maps directly to an index in the hash table.</a:t>
            </a:r>
          </a:p>
          <a:p>
            <a:pPr lvl="1"/>
            <a:r>
              <a:rPr lang="en-US" dirty="0"/>
              <a:t>Only feasible when the key space is small.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 startAt="2"/>
            </a:pPr>
            <a:r>
              <a:rPr lang="en-US" dirty="0">
                <a:solidFill>
                  <a:srgbClr val="0033CC"/>
                </a:solidFill>
              </a:rPr>
              <a:t>Modulo-Division Hashing</a:t>
            </a:r>
          </a:p>
          <a:p>
            <a:pPr marL="514350" indent="-514350">
              <a:buFont typeface="+mj-lt"/>
              <a:buAutoNum type="arabicPeriod" startAt="2"/>
            </a:pPr>
            <a:endParaRPr lang="en-US" dirty="0"/>
          </a:p>
          <a:p>
            <a:pPr lvl="1"/>
            <a:r>
              <a:rPr lang="en-US" dirty="0"/>
              <a:t>A popular method where the key is divided by the table size and the remainder is used as the index.</a:t>
            </a:r>
          </a:p>
          <a:p>
            <a:pPr lvl="1"/>
            <a:r>
              <a:rPr lang="en-US" dirty="0"/>
              <a:t>Example: For key 25 and table size 10, index = 25 % 10 = 5.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17815-EC25-4F14-8E99-C85434C3D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84B31-24D7-446F-B433-65BEED6C8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074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8C8A-4108-45B2-A678-D53929585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Hash Table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AD0E3-EC8A-4F21-8FE6-F42DEE63C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Hash table is defined as a data structure used to insert, look up, and remove key-value pairs quickly. </a:t>
            </a:r>
          </a:p>
          <a:p>
            <a:endParaRPr lang="en-US" dirty="0"/>
          </a:p>
          <a:p>
            <a:r>
              <a:rPr lang="en-US" dirty="0"/>
              <a:t>It operates on the hashing concept, where each key is translated by a hash function into a distinct index in an array. </a:t>
            </a:r>
          </a:p>
          <a:p>
            <a:endParaRPr lang="en-US" dirty="0"/>
          </a:p>
          <a:p>
            <a:r>
              <a:rPr lang="en-US" dirty="0"/>
              <a:t>The index functions as a storage location for the matching value. In simple words, it maps the keys with the value.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4D4D0-A48A-46CF-9879-36F7CB73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2AE4B-565E-40FC-937C-3FB16AAB8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34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6682F-960E-4E94-B24A-4715A67CB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 Hashing 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2E6B7-01B0-45DF-938A-54C8A6EBE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A66E7-F17C-4D93-B67C-47697EF3A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EC33B-0AFB-457F-8331-B80E8D8C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3C6183-7838-4217-A184-C8554B335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" y="1433512"/>
            <a:ext cx="757237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031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E50C2-8BFA-4574-BB48-8F14B660B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Collision in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0BC8D-51BB-4766-BB36-D06A0AD88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Collisions happen when two or more keys point to the same array index. </a:t>
            </a:r>
          </a:p>
          <a:p>
            <a:endParaRPr lang="en-US" dirty="0"/>
          </a:p>
          <a:p>
            <a:r>
              <a:rPr lang="en-US" dirty="0"/>
              <a:t>Chaining, open addressing, and double hashing are a few techniques for resolving collisions.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29D3F-C733-40FB-83B8-CA92B30FB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106A9-9E22-42B8-94D1-E6C8366C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1C5B4C-D277-48A6-80A5-D31B656D7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65" y="3048000"/>
            <a:ext cx="6620268" cy="329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544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DE519-0BD7-4C7A-9184-52CFE6D24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Load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BE21-373A-4CE6-AD32-761A7581D9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685800"/>
                <a:ext cx="9144000" cy="58674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load factor in hashing is a measure that tells how full a hash table is.</a:t>
                </a:r>
              </a:p>
              <a:p>
                <a:endParaRPr lang="en-US" dirty="0"/>
              </a:p>
              <a:p>
                <a:r>
                  <a:rPr lang="en-US" dirty="0"/>
                  <a:t>It is calculated as the ratio of the number of elements in the hash table to the total number of available slots (or size of the table).</a:t>
                </a:r>
              </a:p>
              <a:p>
                <a:endParaRPr lang="en-US" dirty="0"/>
              </a:p>
              <a:p>
                <a:r>
                  <a:rPr lang="en-US" dirty="0"/>
                  <a:t>Load Factor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𝑆𝑖𝑧𝑒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𝐻𝑎𝑠h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𝑇𝑎𝑏𝑙𝑒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𝑁𝑢𝑚𝑏𝑒𝑟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𝐸𝑙𝑒𝑚𝑒𝑛𝑡𝑠</m:t>
                        </m:r>
                      </m:den>
                    </m:f>
                  </m:oMath>
                </a14:m>
                <a:r>
                  <a:rPr lang="en-US" dirty="0"/>
                  <a:t>​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BE21-373A-4CE6-AD32-761A7581D9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85800"/>
                <a:ext cx="9144000" cy="5867400"/>
              </a:xfrm>
              <a:blipFill>
                <a:blip r:embed="rId2"/>
                <a:stretch>
                  <a:fillRect l="-1200" t="-1040" r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8F0D0-5C87-47FC-8893-D60FF9BB8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3B584E-A757-4E0B-AAF5-0D46F8D26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59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DE519-0BD7-4C7A-9184-52CFE6D24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Load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BE21-373A-4CE6-AD32-761A7581D9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685800"/>
                <a:ext cx="9144000" cy="58674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 high load factor increases the chance of </a:t>
                </a:r>
                <a:r>
                  <a:rPr lang="en-US" b="1" dirty="0"/>
                  <a:t>collisions</a:t>
                </a:r>
                <a:r>
                  <a:rPr lang="en-US" dirty="0"/>
                  <a:t> and can reduce performance. To prevent this, the hash table is usually </a:t>
                </a:r>
                <a:r>
                  <a:rPr lang="en-US" b="1" dirty="0"/>
                  <a:t>resized</a:t>
                </a:r>
                <a:r>
                  <a:rPr lang="en-US" dirty="0"/>
                  <a:t> when the load factor exceeds a certain threshold (e.g., 0.7 or 70%).</a:t>
                </a:r>
              </a:p>
              <a:p>
                <a:r>
                  <a:rPr lang="en-US" dirty="0"/>
                  <a:t>Let’s say we have a hash table with </a:t>
                </a:r>
                <a:r>
                  <a:rPr lang="en-US" b="1" dirty="0"/>
                  <a:t>5 slots</a:t>
                </a:r>
                <a:r>
                  <a:rPr lang="en-US" dirty="0"/>
                  <a:t> (size = 5):</a:t>
                </a:r>
              </a:p>
              <a:p>
                <a:r>
                  <a:rPr lang="en-US" dirty="0"/>
                  <a:t>Insert 3 elements into the hash table.</a:t>
                </a:r>
              </a:p>
              <a:p>
                <a:r>
                  <a:rPr lang="en-US" dirty="0"/>
                  <a:t>The number of elements is now </a:t>
                </a:r>
                <a:r>
                  <a:rPr lang="en-US" b="1" dirty="0"/>
                  <a:t>3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Using the formula: Load Factor=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So, the </a:t>
                </a:r>
                <a:r>
                  <a:rPr lang="en-US" b="1" dirty="0"/>
                  <a:t>load factor is 0.6</a:t>
                </a:r>
                <a:r>
                  <a:rPr lang="en-US" dirty="0"/>
                  <a:t>, meaning 60% of the hash table is filled.</a:t>
                </a:r>
              </a:p>
              <a:p>
                <a:r>
                  <a:rPr lang="en-US" dirty="0"/>
                  <a:t>If the load factor increases further (e.g., to 0.8), it might trigger </a:t>
                </a:r>
                <a:r>
                  <a:rPr lang="en-US" b="1" dirty="0"/>
                  <a:t>rehashing</a:t>
                </a:r>
                <a:r>
                  <a:rPr lang="en-US" dirty="0"/>
                  <a:t> to resize the table and reduce collisions.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BE21-373A-4CE6-AD32-761A7581D9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85800"/>
                <a:ext cx="9144000" cy="5867400"/>
              </a:xfrm>
              <a:blipFill>
                <a:blip r:embed="rId2"/>
                <a:stretch>
                  <a:fillRect l="-1200" t="-1767" r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8F0D0-5C87-47FC-8893-D60FF9BB8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3B584E-A757-4E0B-AAF5-0D46F8D26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5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A80B-F18D-4CF5-99BB-6DB65F2C9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Collison Resolution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885E5-09D3-4B05-B8DC-691BE8F6E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85550-8E09-4FBB-AB7B-8C5C0D50F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1AC3C-6711-4383-94F0-1167B5764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BC349F-10D5-45E9-BB95-2F08BC5F4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95312"/>
            <a:ext cx="80010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15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DED2-999F-4C0A-8FE4-77563700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Open Hashing (Separate Chaining)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5DD1A-9E6E-4CA7-8C84-90D97617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A collision resolution method where each bucket in the hash table holds a linked list (or chain) of elements.</a:t>
            </a:r>
          </a:p>
          <a:p>
            <a:r>
              <a:rPr lang="en-US" b="1" dirty="0"/>
              <a:t>How it works</a:t>
            </a:r>
            <a:r>
              <a:rPr lang="en-US" dirty="0"/>
              <a:t>: When multiple elements hash to the same index, they are stored in the linked list at that index.</a:t>
            </a:r>
          </a:p>
          <a:p>
            <a:r>
              <a:rPr lang="en-US" b="1" dirty="0"/>
              <a:t>Key point</a:t>
            </a:r>
            <a:r>
              <a:rPr lang="en-US" dirty="0"/>
              <a:t>: The table size does not limit the number of elements at a given index.</a:t>
            </a:r>
          </a:p>
          <a:p>
            <a:r>
              <a:rPr lang="en-US" b="1" dirty="0"/>
              <a:t>Example</a:t>
            </a:r>
            <a:r>
              <a:rPr lang="en-US" dirty="0"/>
              <a:t>: If keys 5 and 15 both hash to index 0, the linked list at index 0 will hold both keys.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91A77-5B6E-409C-AF7E-E54C58D1D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F18277-526C-4C85-B98B-90FFC76DE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66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2FE52-9816-464C-81BE-A81C7573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Open Hashing (Separate Chaining)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7AE4E-E77D-4218-881F-C617E02B2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In separate chaining, a linked list of objects that hash to each slot in the hash table is present.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Two keys are included in the linked list if they hash to the same slot.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This method is rather simple to use and can manage several collisions.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FF52-2AA2-46FE-96ED-74C3F7BCB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27B8B-56B7-4840-B706-C1CDE0A1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9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2FE52-9816-464C-81BE-A81C7573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Open Hashing (Open Addressing)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7AE4E-E77D-4218-881F-C617E02B2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Collisions are handled by looking for the following empty space in the table. </a:t>
            </a:r>
          </a:p>
          <a:p>
            <a:endParaRPr lang="en-US" dirty="0"/>
          </a:p>
          <a:p>
            <a:r>
              <a:rPr lang="en-US" dirty="0"/>
              <a:t>If the first slot is already taken, the hash function is applied to the subsequent slots until one is left empty. </a:t>
            </a:r>
          </a:p>
          <a:p>
            <a:endParaRPr lang="en-US" dirty="0"/>
          </a:p>
          <a:p>
            <a:r>
              <a:rPr lang="en-US" dirty="0"/>
              <a:t>There are various ways to use this approach, including double hashing, linear probing, and quadratic probing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FF52-2AA2-46FE-96ED-74C3F7BCB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27B8B-56B7-4840-B706-C1CDE0A1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6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2FE52-9816-464C-81BE-A81C7573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Collision Resolution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7AE4E-E77D-4218-881F-C617E02B2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u="sng" dirty="0"/>
              <a:t>Open Addressing: </a:t>
            </a:r>
          </a:p>
          <a:p>
            <a:r>
              <a:rPr lang="en-US" dirty="0"/>
              <a:t>Let's use "key mod 7" as a simple hash function with the following keys: 50, 700, 76, 85, 92, 73, 101.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FF52-2AA2-46FE-96ED-74C3F7BCB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27B8B-56B7-4840-B706-C1CDE0A1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3074" name="Picture 2" descr="Hashing - Open Addressing for Collision Handling">
            <a:extLst>
              <a:ext uri="{FF2B5EF4-FFF2-40B4-BE49-F238E27FC236}">
                <a16:creationId xmlns:a16="http://schemas.microsoft.com/office/drawing/2014/main" id="{E9A1A6FA-0C06-433B-A4E7-87C319630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943" y="2133600"/>
            <a:ext cx="5204114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591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2FE52-9816-464C-81BE-A81C7573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Collision Resolution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7AE4E-E77D-4218-881F-C617E02B2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fontAlgn="base">
              <a:buFont typeface="+mj-lt"/>
              <a:buAutoNum type="arabicPeriod" startAt="2"/>
            </a:pPr>
            <a:r>
              <a:rPr lang="en-US" b="1" u="sng" dirty="0"/>
              <a:t>Separate Chaining</a:t>
            </a:r>
            <a:r>
              <a:rPr lang="en-US" b="1" dirty="0"/>
              <a:t>: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FF52-2AA2-46FE-96ED-74C3F7BCB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27B8B-56B7-4840-B706-C1CDE0A1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2050" name="Picture 2" descr="Homework 2: Arrays &amp; Lists, CMSC 341 Spring 2019">
            <a:extLst>
              <a:ext uri="{FF2B5EF4-FFF2-40B4-BE49-F238E27FC236}">
                <a16:creationId xmlns:a16="http://schemas.microsoft.com/office/drawing/2014/main" id="{57C6326A-5D4B-4E84-9988-5A0B10773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1143000"/>
            <a:ext cx="684847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531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17E5A-6B68-4E47-B151-81278168A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Closed Hashing (Open Addressing)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32663-7864-4614-89DE-2652F3129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A collision resolution method where all elements are stored within the hash table itself, with no external data structures like linked lists.</a:t>
            </a:r>
          </a:p>
          <a:p>
            <a:r>
              <a:rPr lang="en-US" b="1" dirty="0"/>
              <a:t>How it works</a:t>
            </a:r>
            <a:r>
              <a:rPr lang="en-US" dirty="0"/>
              <a:t>: When a collision occurs, the element is placed in another slot in the table based on a probing strategy (e.g., linear probing, quadratic probing, etc.).</a:t>
            </a:r>
          </a:p>
          <a:p>
            <a:r>
              <a:rPr lang="en-US" b="1" dirty="0"/>
              <a:t>Key point</a:t>
            </a:r>
            <a:r>
              <a:rPr lang="en-US" dirty="0"/>
              <a:t>: No linked lists; all elements must occupy slots in the hash table itself.</a:t>
            </a:r>
          </a:p>
          <a:p>
            <a:r>
              <a:rPr lang="en-US" b="1" dirty="0"/>
              <a:t>Example</a:t>
            </a:r>
            <a:r>
              <a:rPr lang="en-US" dirty="0"/>
              <a:t>: If index 3 is occupied, the element is placed in another slot found using a probing method.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002BC-BDC1-41DE-9616-C172FAB4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2C1D6-C72C-4438-A67B-04F687BE1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7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E0ED7-6D55-4714-A5E7-22758066D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3403D-0227-4F0F-B6FF-835CA3A96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A type of open addressing where collisions are resolved by checking the next available slot in a sequential manner.</a:t>
            </a:r>
          </a:p>
          <a:p>
            <a:r>
              <a:rPr lang="en-US" b="1" dirty="0"/>
              <a:t>How it works</a:t>
            </a:r>
            <a:r>
              <a:rPr lang="en-US" dirty="0"/>
              <a:t>: If the current index is full, check the next index (i.e., index + 1), and keep moving sequentially until an empty slot is found.</a:t>
            </a:r>
          </a:p>
          <a:p>
            <a:r>
              <a:rPr lang="en-US" b="1" dirty="0"/>
              <a:t>Key point</a:t>
            </a:r>
            <a:r>
              <a:rPr lang="en-US" dirty="0"/>
              <a:t>: Simple but can lead to clustering (many consecutive occupied slots).</a:t>
            </a:r>
          </a:p>
          <a:p>
            <a:r>
              <a:rPr lang="en-US" b="1" dirty="0"/>
              <a:t>Example</a:t>
            </a:r>
            <a:r>
              <a:rPr lang="en-US" dirty="0"/>
              <a:t>: If key 12 hashes to index 4, but it’s full, check index 5, then index 6, and so 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2DCE8-84DD-490F-AADE-A4BFE2985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1751A6-6B09-4DCF-921A-0BA98ACC9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45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A981-701E-4137-A86B-41947E3E9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2A8F4-6257-497E-95C4-E8EBE0E4D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FBE1D-C359-4604-9CCC-774464F51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1C120-1F5D-41B6-91C2-4AC86E05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E6D8CA-8938-4214-A83C-B0BC94A0B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1276350"/>
            <a:ext cx="75057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63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A438-2EB9-464D-B10E-C19B7D11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Quadratic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627E0-A865-43D9-A315-ED906A0BB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A collision resolution strategy where the interval between probes increases quadratically (e.g., by 1, 4, 9, etc.).</a:t>
            </a:r>
          </a:p>
          <a:p>
            <a:r>
              <a:rPr lang="en-US" b="1" dirty="0"/>
              <a:t>How it works</a:t>
            </a:r>
            <a:r>
              <a:rPr lang="en-US" dirty="0"/>
              <a:t>: If the current index is full, check indices calculated by adding squared offsets (e.g., index + 1², index + 2², etc.).</a:t>
            </a:r>
          </a:p>
          <a:p>
            <a:r>
              <a:rPr lang="en-US" b="1" dirty="0"/>
              <a:t>Key point</a:t>
            </a:r>
            <a:r>
              <a:rPr lang="en-US" dirty="0"/>
              <a:t>: Reduces clustering compared to linear probing, but may lead to secondary clustering.</a:t>
            </a:r>
          </a:p>
          <a:p>
            <a:r>
              <a:rPr lang="en-US" b="1" dirty="0"/>
              <a:t>Example</a:t>
            </a:r>
            <a:r>
              <a:rPr lang="en-US" dirty="0"/>
              <a:t>: If index 4 is full, check index 4 + 1² = 5, then 4 + 2² = 8, and so 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64BB6-D2C4-4FA5-94CF-412364C2E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AF397-0607-4CC6-8CA4-9DF9D61BC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45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E81-2824-42AC-8C87-5FB869329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Double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60114-3487-4FAE-9A91-BC3A615D1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A1A81-5DDA-4088-ADD6-44D3C0A9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BA0DE1-0CFC-46B4-BE84-5443AF9A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575B59-2401-4890-86A7-2004B66A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1309687"/>
            <a:ext cx="722947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922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E81-2824-42AC-8C87-5FB869329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Double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60114-3487-4FAE-9A91-BC3A615D1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</a:t>
            </a:r>
            <a:r>
              <a:rPr lang="en-US" dirty="0"/>
              <a:t>: A collision resolution strategy where a second hash function is used to calculate the probe step size, providing a more diverse probing sequence.</a:t>
            </a:r>
          </a:p>
          <a:p>
            <a:r>
              <a:rPr lang="en-US" b="1" dirty="0"/>
              <a:t>How it works</a:t>
            </a:r>
            <a:r>
              <a:rPr lang="en-US" dirty="0"/>
              <a:t>: When a collision occurs, a second hash function is applied to the key, and the result determines how far to move to the next slot.</a:t>
            </a:r>
          </a:p>
          <a:p>
            <a:r>
              <a:rPr lang="en-US" b="1" dirty="0"/>
              <a:t>Key point</a:t>
            </a:r>
            <a:r>
              <a:rPr lang="en-US" dirty="0"/>
              <a:t>: Reduces clustering and provides better distribution than linear or quadratic probing.</a:t>
            </a:r>
          </a:p>
          <a:p>
            <a:r>
              <a:rPr lang="en-US" b="1" dirty="0"/>
              <a:t>Example</a:t>
            </a:r>
            <a:r>
              <a:rPr lang="en-US" dirty="0"/>
              <a:t>: If key 17 hashes to index 2 and a collision occurs, use a second hash function (e.g., 7 - (key % 7)) to determine the next slot to check.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A1A81-5DDA-4088-ADD6-44D3C0A9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BA0DE1-0CFC-46B4-BE84-5443AF9A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91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E81-2824-42AC-8C87-5FB869329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Double 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60114-3487-4FAE-9A91-BC3A615D1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A1A81-5DDA-4088-ADD6-44D3C0A9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16-Sep-2025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BA0DE1-0CFC-46B4-BE84-5443AF9A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F30585-3452-40C5-8AE9-57BDD92E1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" y="1185862"/>
            <a:ext cx="762952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7519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16-Sep-2025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16" y="2699658"/>
            <a:ext cx="7326985" cy="1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4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1a7a39-cefe-44f5-a3a8-0050e37c33e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DDBCD85B0433498E6BCE505FFEC7DE" ma:contentTypeVersion="15" ma:contentTypeDescription="Create a new document." ma:contentTypeScope="" ma:versionID="528d693c7cc464012b779c9363db476b">
  <xsd:schema xmlns:xsd="http://www.w3.org/2001/XMLSchema" xmlns:xs="http://www.w3.org/2001/XMLSchema" xmlns:p="http://schemas.microsoft.com/office/2006/metadata/properties" xmlns:ns3="e41a7a39-cefe-44f5-a3a8-0050e37c33e9" targetNamespace="http://schemas.microsoft.com/office/2006/metadata/properties" ma:root="true" ma:fieldsID="1b749ea39c3268e2a9a91a038912fe54" ns3:_="">
    <xsd:import namespace="e41a7a39-cefe-44f5-a3a8-0050e37c33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a7a39-cefe-44f5-a3a8-0050e37c33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207D34-F50E-4D4D-9D47-2ECFF116F129}">
  <ds:schemaRefs>
    <ds:schemaRef ds:uri="http://schemas.microsoft.com/office/2006/documentManagement/types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e41a7a39-cefe-44f5-a3a8-0050e37c33e9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DEE6FB4D-CE75-428E-8BA2-C8B22E71D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1a7a39-cefe-44f5-a3a8-0050e37c3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A849042-65C2-42FE-8C8E-7D0E8A4729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1168</Words>
  <Application>Microsoft Office PowerPoint</Application>
  <PresentationFormat>On-screen Show (4:3)</PresentationFormat>
  <Paragraphs>171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 Math</vt:lpstr>
      <vt:lpstr>MoolBoran</vt:lpstr>
      <vt:lpstr>Office Theme</vt:lpstr>
      <vt:lpstr>Data Structures &amp; Algorithms</vt:lpstr>
      <vt:lpstr>Week-07 Agenda </vt:lpstr>
      <vt:lpstr>Hashing – Definition (Recap)</vt:lpstr>
      <vt:lpstr>Hashing – Definition (Recap)</vt:lpstr>
      <vt:lpstr>Hash Function (Recap)</vt:lpstr>
      <vt:lpstr>Components of Hashing (Recap)</vt:lpstr>
      <vt:lpstr>Components of Hashing (Recap)</vt:lpstr>
      <vt:lpstr>Hash Function (Recap)</vt:lpstr>
      <vt:lpstr>Hash Function (Recap)</vt:lpstr>
      <vt:lpstr>Types of Hashing (Recap)</vt:lpstr>
      <vt:lpstr>Hash Table Data Structure</vt:lpstr>
      <vt:lpstr>How  Hashing Works?</vt:lpstr>
      <vt:lpstr>Collision in Hashing</vt:lpstr>
      <vt:lpstr>Load Factor</vt:lpstr>
      <vt:lpstr>Load Factor</vt:lpstr>
      <vt:lpstr>Collison Resolution Techniques</vt:lpstr>
      <vt:lpstr>Open Hashing (Separate Chaining)</vt:lpstr>
      <vt:lpstr>Open Hashing (Separate Chaining)</vt:lpstr>
      <vt:lpstr>Open Hashing (Open Addressing)</vt:lpstr>
      <vt:lpstr>Collision Resolution Techniques</vt:lpstr>
      <vt:lpstr>Collision Resolution Techniques</vt:lpstr>
      <vt:lpstr>Closed Hashing (Open Addressing)</vt:lpstr>
      <vt:lpstr>Linear Probing</vt:lpstr>
      <vt:lpstr>Linear Probing</vt:lpstr>
      <vt:lpstr>Quadratic Probing</vt:lpstr>
      <vt:lpstr>Double Hashing</vt:lpstr>
      <vt:lpstr>Double Hashing</vt:lpstr>
      <vt:lpstr>Double Hashing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Majid Kaleem</dc:creator>
  <cp:lastModifiedBy>majid kaleem</cp:lastModifiedBy>
  <cp:revision>470</cp:revision>
  <dcterms:created xsi:type="dcterms:W3CDTF">2016-10-27T12:58:45Z</dcterms:created>
  <dcterms:modified xsi:type="dcterms:W3CDTF">2025-09-17T05:46:29Z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0x0101004EDDBCD85B0433498E6BCE505FFEC7DE</vt:lpwstr>
  </property>
</Properties>
</file>