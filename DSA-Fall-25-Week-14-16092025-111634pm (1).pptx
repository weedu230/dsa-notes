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84" r:id="rId7"/>
    <p:sldId id="285" r:id="rId8"/>
    <p:sldId id="274" r:id="rId9"/>
    <p:sldId id="275" r:id="rId10"/>
    <p:sldId id="276" r:id="rId11"/>
    <p:sldId id="277" r:id="rId12"/>
    <p:sldId id="278" r:id="rId13"/>
    <p:sldId id="279" r:id="rId14"/>
    <p:sldId id="289" r:id="rId15"/>
    <p:sldId id="288" r:id="rId16"/>
    <p:sldId id="290" r:id="rId17"/>
    <p:sldId id="286" r:id="rId18"/>
    <p:sldId id="287" r:id="rId19"/>
    <p:sldId id="280" r:id="rId20"/>
    <p:sldId id="281" r:id="rId21"/>
    <p:sldId id="282" r:id="rId22"/>
    <p:sldId id="283" r:id="rId23"/>
    <p:sldId id="291" r:id="rId24"/>
    <p:sldId id="292" r:id="rId25"/>
    <p:sldId id="27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8" autoAdjust="0"/>
    <p:restoredTop sz="94660"/>
  </p:normalViewPr>
  <p:slideViewPr>
    <p:cSldViewPr>
      <p:cViewPr varScale="1">
        <p:scale>
          <a:sx n="79" d="100"/>
          <a:sy n="79" d="100"/>
        </p:scale>
        <p:origin x="11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16-Sep-2025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Week-14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16-Sep-2025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Week-14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sz="2400" dirty="0"/>
              <a:t>NP-Completeness</a:t>
            </a:r>
          </a:p>
          <a:p>
            <a:pPr marL="400050" lvl="1" indent="0">
              <a:buNone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A27E-89A6-42EF-B947-FACC7CF4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Determinism vs. Nondeterminism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220D9-0FD0-4F11-8763-2019EA3CC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33FF"/>
                </a:solidFill>
              </a:rPr>
              <a:t>Nondeterministic</a:t>
            </a:r>
            <a:r>
              <a:rPr lang="en-US" altLang="en-US" dirty="0"/>
              <a:t> algorithms produce an answer by a series of “correct guesses”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rgbClr val="3333FF"/>
                </a:solidFill>
              </a:rPr>
              <a:t>Deterministic</a:t>
            </a:r>
            <a:r>
              <a:rPr lang="en-US" altLang="en-US" dirty="0"/>
              <a:t> algorithms (like those that a computer executes) make decisions based on information.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926B0-29C7-4A05-A2A0-9CF51DD3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51D4E-D497-4847-B8D1-38AA8B43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5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38A2-3760-43AC-936E-56F56CF4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C6559-1DE3-452A-8849-36C45D24B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“NP-Complete” comes from: </a:t>
            </a:r>
          </a:p>
          <a:p>
            <a:pPr lvl="1"/>
            <a:endParaRPr lang="en-US" altLang="en-US" b="1" dirty="0"/>
          </a:p>
          <a:p>
            <a:pPr lvl="1"/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33FF"/>
                </a:solidFill>
              </a:rPr>
              <a:t>N</a:t>
            </a:r>
            <a:r>
              <a:rPr lang="en-US" altLang="en-US" b="1" dirty="0"/>
              <a:t>ondeterministic </a:t>
            </a:r>
            <a:r>
              <a:rPr lang="en-US" altLang="en-US" b="1" dirty="0">
                <a:solidFill>
                  <a:srgbClr val="3333FF"/>
                </a:solidFill>
              </a:rPr>
              <a:t>P</a:t>
            </a:r>
            <a:r>
              <a:rPr lang="en-US" altLang="en-US" b="1" dirty="0"/>
              <a:t>olynomial</a:t>
            </a:r>
          </a:p>
          <a:p>
            <a:pPr lvl="1"/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33FF"/>
                </a:solidFill>
              </a:rPr>
              <a:t>Complete</a:t>
            </a:r>
            <a:r>
              <a:rPr lang="en-US" altLang="en-US" b="1" dirty="0"/>
              <a:t> - “Solve one, Solve them all”</a:t>
            </a:r>
          </a:p>
          <a:p>
            <a:endParaRPr lang="en-US" altLang="en-US" dirty="0"/>
          </a:p>
          <a:p>
            <a:r>
              <a:rPr lang="en-US" altLang="en-US" dirty="0"/>
              <a:t>There are more NP-Complete problems than provably intractable problems.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9C10B-9305-4EC5-93F5-F59DD735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3B543-5D4A-4203-A1A6-E415B17F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4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8BB8-11CB-49F6-8A4C-7149634BF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27DE0-30F8-4DFF-B749-F7FCAA537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NP-Completeness</a:t>
            </a:r>
            <a:r>
              <a:rPr lang="en-US" dirty="0"/>
              <a:t> is a concept in computational complexity theory. A problem is considered </a:t>
            </a:r>
            <a:r>
              <a:rPr lang="en-US" b="1" dirty="0"/>
              <a:t>NP-complete (NPC)</a:t>
            </a:r>
            <a:r>
              <a:rPr lang="en-US" dirty="0"/>
              <a:t> if it satisfies two properties: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b="1" dirty="0"/>
              <a:t>Belongs to NP (Nondeterministic Polynomial time):</a:t>
            </a:r>
            <a:r>
              <a:rPr lang="en-US" dirty="0"/>
              <a:t> The problem's solution, if given, can be verified in polynomial time.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b="1" dirty="0"/>
              <a:t>NP-hard:</a:t>
            </a:r>
            <a:r>
              <a:rPr lang="en-US" dirty="0"/>
              <a:t> Any problem in NP can be reduced to it in polynomial time. This means that solving an NP-complete problem efficiently would allow all other NP problems to be solved efficiently.</a:t>
            </a:r>
          </a:p>
          <a:p>
            <a:r>
              <a:rPr lang="en-US" dirty="0"/>
              <a:t>Informally, NP-complete problems are the hardest problems in the class NP, and no polynomial-time algorithm is currently known to solve them.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21F29-D329-4436-A6AE-3142EB203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523D9-CA77-4281-B069-D7D9C2E8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18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7C5A-35F7-4BF7-9A78-CD4A24E4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3E9DC-AE85-47DE-A2EA-2D052B738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Polynomial Time</a:t>
            </a:r>
            <a:r>
              <a:rPr lang="en-US" dirty="0"/>
              <a:t> refers to the computational complexity of an algorithm, where the running time grows at most as a polynomial function of the input size n.</a:t>
            </a:r>
          </a:p>
          <a:p>
            <a:endParaRPr lang="en-US" dirty="0"/>
          </a:p>
          <a:p>
            <a:r>
              <a:rPr lang="en-US" dirty="0"/>
              <a:t>An algorithm runs in </a:t>
            </a:r>
            <a:r>
              <a:rPr lang="en-US" b="1" dirty="0"/>
              <a:t>polynomial time</a:t>
            </a:r>
            <a:r>
              <a:rPr lang="en-US" dirty="0"/>
              <a:t> if its worst-case running time is O(</a:t>
            </a:r>
            <a:r>
              <a:rPr lang="en-US" dirty="0" err="1"/>
              <a:t>n</a:t>
            </a:r>
            <a:r>
              <a:rPr lang="en-US" baseline="30000" dirty="0" err="1"/>
              <a:t>k</a:t>
            </a:r>
            <a:r>
              <a:rPr lang="en-US" dirty="0"/>
              <a:t>), where:</a:t>
            </a:r>
          </a:p>
          <a:p>
            <a:pPr lvl="1"/>
            <a:r>
              <a:rPr lang="en-US" dirty="0"/>
              <a:t>n is the size of the input,</a:t>
            </a:r>
          </a:p>
          <a:p>
            <a:pPr lvl="1"/>
            <a:r>
              <a:rPr lang="en-US" dirty="0"/>
              <a:t>k is a constant (e.g., k=1,2,3, etc.),</a:t>
            </a:r>
          </a:p>
          <a:p>
            <a:pPr lvl="1"/>
            <a:r>
              <a:rPr lang="en-US" dirty="0"/>
              <a:t>O represents the Big-O notation for asymptotic complexity.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86894-615F-459F-95F9-C9C26F190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5AE84-3AEE-4ADF-96C9-D922DFC7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9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60FA4-F6DD-40FB-88B2-F3F098CF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41099-CDD2-4799-AA04-177E08CF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Examples of Polynomial-Time Problems:</a:t>
            </a:r>
          </a:p>
          <a:p>
            <a:endParaRPr lang="en-US" b="1" dirty="0"/>
          </a:p>
          <a:p>
            <a:r>
              <a:rPr lang="en-US" b="1" dirty="0"/>
              <a:t>Sorting Algorithms:</a:t>
            </a:r>
            <a:endParaRPr lang="en-US" dirty="0"/>
          </a:p>
          <a:p>
            <a:pPr lvl="1"/>
            <a:r>
              <a:rPr lang="en-US" sz="2400" dirty="0"/>
              <a:t>Bubble Sort, Merge Sort, Quick Sort → O(n log⁡ n)</a:t>
            </a:r>
          </a:p>
          <a:p>
            <a:endParaRPr lang="en-US" b="1" dirty="0"/>
          </a:p>
          <a:p>
            <a:r>
              <a:rPr lang="en-US" b="1" dirty="0"/>
              <a:t>Graph Problems:</a:t>
            </a:r>
            <a:endParaRPr lang="en-US" dirty="0"/>
          </a:p>
          <a:p>
            <a:pPr lvl="1"/>
            <a:r>
              <a:rPr lang="en-US" sz="2400" dirty="0"/>
              <a:t>Shortest path in a graph (e.g., Dijkstra’s algorithm) → O(V</a:t>
            </a:r>
            <a:r>
              <a:rPr lang="en-US" sz="2400" baseline="30000" dirty="0"/>
              <a:t>2</a:t>
            </a:r>
            <a:r>
              <a:rPr lang="en-US" sz="2400" dirty="0"/>
              <a:t>) </a:t>
            </a:r>
          </a:p>
          <a:p>
            <a:endParaRPr lang="en-US" b="1" dirty="0"/>
          </a:p>
          <a:p>
            <a:r>
              <a:rPr lang="en-US" b="1" dirty="0"/>
              <a:t>Matrix Multiplication:</a:t>
            </a:r>
            <a:endParaRPr lang="en-US" dirty="0"/>
          </a:p>
          <a:p>
            <a:pPr lvl="1"/>
            <a:r>
              <a:rPr lang="en-US" sz="2400" dirty="0"/>
              <a:t>Standard matrix multiplication → O(n</a:t>
            </a:r>
            <a:r>
              <a:rPr lang="en-US" sz="2400" baseline="30000" dirty="0"/>
              <a:t>3</a:t>
            </a:r>
            <a:r>
              <a:rPr lang="en-US" sz="2400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71406-98F4-4A6A-B5C0-48729B53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04701-7667-4FE0-BB3C-0FFD5294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50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7CD5D-3BC8-49BC-ADF6-9B67D2242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CD3EC-9836-4CEE-A8B6-384DBC54F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NP (Nondeterministic Polynomial time):</a:t>
            </a:r>
          </a:p>
          <a:p>
            <a:r>
              <a:rPr lang="en-US" dirty="0"/>
              <a:t>These are problems where a solution can be </a:t>
            </a:r>
            <a:r>
              <a:rPr lang="en-US" b="1" dirty="0"/>
              <a:t>verified</a:t>
            </a:r>
            <a:r>
              <a:rPr lang="en-US" dirty="0"/>
              <a:t> in polynomial time, even if finding the solution might not be easy.</a:t>
            </a:r>
          </a:p>
          <a:p>
            <a:r>
              <a:rPr lang="en-US" b="1" dirty="0"/>
              <a:t>Example:</a:t>
            </a:r>
          </a:p>
          <a:p>
            <a:r>
              <a:rPr lang="en-US" b="1" dirty="0"/>
              <a:t>Sudoku Puzzle:</a:t>
            </a:r>
            <a:endParaRPr lang="en-US" dirty="0"/>
          </a:p>
          <a:p>
            <a:pPr lvl="1"/>
            <a:r>
              <a:rPr lang="en-US" dirty="0"/>
              <a:t>Verifying: If someone gives you a completed Sudoku grid, you can check in polynomial time whether all rows, columns, and blocks follow the Sudoku rules.</a:t>
            </a:r>
          </a:p>
          <a:p>
            <a:pPr lvl="1"/>
            <a:r>
              <a:rPr lang="en-US" dirty="0"/>
              <a:t>Solving: Finding the solution from scratch may take much longer.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6A13B-9BE8-45E0-A9A0-CD24D6BB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84F69-1161-426B-8B97-90981FD5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4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16C1-ED88-4846-B3BE-5FE0F49B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3A23A-23B6-4E8B-83B1-04EB73648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8AB4B-610C-4B69-A30E-86424CAF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9601B-EA86-4BD9-A119-FBFCBC5B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Easy Sudoku Puzzles To Print">
            <a:extLst>
              <a:ext uri="{FF2B5EF4-FFF2-40B4-BE49-F238E27FC236}">
                <a16:creationId xmlns:a16="http://schemas.microsoft.com/office/drawing/2014/main" id="{DBD3D1C8-990A-457A-BEC5-5F0228873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6275"/>
            <a:ext cx="9144000" cy="55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67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FBFB-CB4C-4597-B91A-CE427CB63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NP-Complete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B758-7F36-4B02-8A59-D87284ADA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b="1" dirty="0"/>
              <a:t>NP-Complete:</a:t>
            </a:r>
          </a:p>
          <a:p>
            <a:r>
              <a:rPr lang="en-US" dirty="0"/>
              <a:t>These are the </a:t>
            </a:r>
            <a:r>
              <a:rPr lang="en-US" b="1" dirty="0"/>
              <a:t>hardest problems in NP</a:t>
            </a:r>
            <a:r>
              <a:rPr lang="en-US" dirty="0"/>
              <a:t>. If you can solve one NP-complete problem in polynomial time, you can solve all NP problems in polynomial time.</a:t>
            </a:r>
          </a:p>
          <a:p>
            <a:r>
              <a:rPr lang="en-US" b="1" dirty="0"/>
              <a:t>Example:</a:t>
            </a:r>
          </a:p>
          <a:p>
            <a:r>
              <a:rPr lang="en-US" b="1" dirty="0"/>
              <a:t>Traveling Salesman Problem (TSP):</a:t>
            </a:r>
            <a:endParaRPr lang="en-US" dirty="0"/>
          </a:p>
          <a:p>
            <a:pPr lvl="1"/>
            <a:r>
              <a:rPr lang="en-US" dirty="0"/>
              <a:t>Problem: A salesman wants to visit a set of cities exactly once and return to the starting city, minimizing the travel distance.</a:t>
            </a:r>
          </a:p>
          <a:p>
            <a:pPr lvl="1"/>
            <a:r>
              <a:rPr lang="en-US" dirty="0"/>
              <a:t>Verifying: If someone gives you a route, you can calculate the total distance in polynomial time and check if it’s valid.</a:t>
            </a:r>
          </a:p>
          <a:p>
            <a:pPr lvl="1"/>
            <a:r>
              <a:rPr lang="en-US" dirty="0"/>
              <a:t>Solving: Finding the shortest route is computationally hard.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30324-77FA-4D69-AB12-5FF2414F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52D29-9B12-4F92-AFDD-CE503D9C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92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CB67-5B21-4132-8C79-C5895979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NP-Complete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44B0-DCA6-4A8F-B2EC-9EDCAA00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Path-Finding (Traveling salesman)</a:t>
            </a:r>
          </a:p>
          <a:p>
            <a:r>
              <a:rPr lang="en-US" altLang="en-US" dirty="0"/>
              <a:t>Map coloring</a:t>
            </a:r>
          </a:p>
          <a:p>
            <a:r>
              <a:rPr lang="en-US" altLang="en-US" dirty="0"/>
              <a:t>Scheduling and Matching (bin packing)</a:t>
            </a:r>
          </a:p>
          <a:p>
            <a:r>
              <a:rPr lang="en-US" altLang="en-US" dirty="0"/>
              <a:t>2-D arrangement problems</a:t>
            </a:r>
          </a:p>
          <a:p>
            <a:r>
              <a:rPr lang="en-US" altLang="en-US" dirty="0"/>
              <a:t>Planning problems (pert planning)</a:t>
            </a:r>
          </a:p>
          <a:p>
            <a:r>
              <a:rPr lang="en-US" altLang="en-US" dirty="0"/>
              <a:t>Clique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94CBD-B6E8-4CF8-88DF-E96AE334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A98CD-E645-435B-998D-06956366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35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CB67-5B21-4132-8C79-C5895979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Traveling salesman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44B0-DCA6-4A8F-B2EC-9EDCAA00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94CBD-B6E8-4CF8-88DF-E96AE334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A98CD-E645-435B-998D-06956366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50F89D44-AE50-4EA7-AABD-31A31E1999E7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057400"/>
            <a:ext cx="5867400" cy="3429000"/>
            <a:chOff x="816" y="1296"/>
            <a:chExt cx="3696" cy="2160"/>
          </a:xfrm>
        </p:grpSpPr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E1A04E90-FB40-47A7-BD23-E5916875A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216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ACCD809E-AB47-4B48-90AD-7D1503916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448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E72C5AC2-8436-46C4-8718-2492D6519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728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F74AF577-E8C1-43D2-B579-2FADE3FF9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1" y="2205"/>
              <a:ext cx="144" cy="91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02F1FB9C-81AD-4B0C-B109-363DB017F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352"/>
              <a:ext cx="864" cy="768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3C58B6D9-5199-4A19-8B80-7091DF3CA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440"/>
              <a:ext cx="48" cy="86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DA73C575-627F-4E2D-BAD8-9DE0E4502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352"/>
              <a:ext cx="144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A0A28253-83AE-4309-8660-27EB02962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2304"/>
              <a:ext cx="86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BEE8BA1D-978B-4324-8F88-DA9C21316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440"/>
              <a:ext cx="48" cy="115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1">
              <a:extLst>
                <a:ext uri="{FF2B5EF4-FFF2-40B4-BE49-F238E27FC236}">
                  <a16:creationId xmlns:a16="http://schemas.microsoft.com/office/drawing/2014/main" id="{5BDED17F-590E-4DF6-BDF1-E7F987396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440"/>
              <a:ext cx="48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23">
              <a:extLst>
                <a:ext uri="{FF2B5EF4-FFF2-40B4-BE49-F238E27FC236}">
                  <a16:creationId xmlns:a16="http://schemas.microsoft.com/office/drawing/2014/main" id="{7F7DA4B8-7FE2-430C-8EAC-B725CBA598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872"/>
              <a:ext cx="144" cy="72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4">
              <a:extLst>
                <a:ext uri="{FF2B5EF4-FFF2-40B4-BE49-F238E27FC236}">
                  <a16:creationId xmlns:a16="http://schemas.microsoft.com/office/drawing/2014/main" id="{3EEC4D6B-E108-4026-81DA-9E0B1B55A1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1824"/>
              <a:ext cx="960" cy="144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F9AB9F04-DD12-4B28-A04F-510ED20A62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344"/>
              <a:ext cx="816" cy="48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78E74472-EC16-4DBC-8F74-7A493C10AD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440"/>
              <a:ext cx="864" cy="912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7BF28FCB-0158-4E5E-9865-C2C55D455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440"/>
              <a:ext cx="816" cy="110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6A0141BA-ABAB-44B1-898A-D29C02781D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968"/>
              <a:ext cx="624" cy="57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9">
              <a:extLst>
                <a:ext uri="{FF2B5EF4-FFF2-40B4-BE49-F238E27FC236}">
                  <a16:creationId xmlns:a16="http://schemas.microsoft.com/office/drawing/2014/main" id="{799FCA3D-EFBF-4826-89F9-7BD8D6D98F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6" y="1440"/>
              <a:ext cx="1440" cy="528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30">
              <a:extLst>
                <a:ext uri="{FF2B5EF4-FFF2-40B4-BE49-F238E27FC236}">
                  <a16:creationId xmlns:a16="http://schemas.microsoft.com/office/drawing/2014/main" id="{8470CB9B-88AA-4B3C-8FE8-07FD0D158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968"/>
              <a:ext cx="148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31">
              <a:extLst>
                <a:ext uri="{FF2B5EF4-FFF2-40B4-BE49-F238E27FC236}">
                  <a16:creationId xmlns:a16="http://schemas.microsoft.com/office/drawing/2014/main" id="{E2EBF8E7-9E91-4870-A83C-8BC268D49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12"/>
              <a:ext cx="1152" cy="1152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32">
              <a:extLst>
                <a:ext uri="{FF2B5EF4-FFF2-40B4-BE49-F238E27FC236}">
                  <a16:creationId xmlns:a16="http://schemas.microsoft.com/office/drawing/2014/main" id="{A3455DE0-F153-4198-8F04-73293B891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0" y="2112"/>
              <a:ext cx="96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BE644DCE-E7C2-41F4-AFD1-510470291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072"/>
              <a:ext cx="1056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35">
              <a:extLst>
                <a:ext uri="{FF2B5EF4-FFF2-40B4-BE49-F238E27FC236}">
                  <a16:creationId xmlns:a16="http://schemas.microsoft.com/office/drawing/2014/main" id="{28DAEE3A-10F8-4963-8C98-7CAF20C8D7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592"/>
              <a:ext cx="1008" cy="72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Oval 4">
              <a:extLst>
                <a:ext uri="{FF2B5EF4-FFF2-40B4-BE49-F238E27FC236}">
                  <a16:creationId xmlns:a16="http://schemas.microsoft.com/office/drawing/2014/main" id="{25CF7D6C-0DDC-456A-91E8-53EEBBE9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16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5">
              <a:extLst>
                <a:ext uri="{FF2B5EF4-FFF2-40B4-BE49-F238E27FC236}">
                  <a16:creationId xmlns:a16="http://schemas.microsoft.com/office/drawing/2014/main" id="{E43652E3-E0AD-4B60-8A2F-99DE74CD0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96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6">
              <a:extLst>
                <a:ext uri="{FF2B5EF4-FFF2-40B4-BE49-F238E27FC236}">
                  <a16:creationId xmlns:a16="http://schemas.microsoft.com/office/drawing/2014/main" id="{B7081120-DCDF-4396-B991-B55CF9F48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448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8">
              <a:extLst>
                <a:ext uri="{FF2B5EF4-FFF2-40B4-BE49-F238E27FC236}">
                  <a16:creationId xmlns:a16="http://schemas.microsoft.com/office/drawing/2014/main" id="{E161D971-0BDC-4B34-A58A-1523EB06C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824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>
              <a:extLst>
                <a:ext uri="{FF2B5EF4-FFF2-40B4-BE49-F238E27FC236}">
                  <a16:creationId xmlns:a16="http://schemas.microsoft.com/office/drawing/2014/main" id="{9AEF7AD6-F4C8-4F36-9B93-9D7420A36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208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13">
              <a:extLst>
                <a:ext uri="{FF2B5EF4-FFF2-40B4-BE49-F238E27FC236}">
                  <a16:creationId xmlns:a16="http://schemas.microsoft.com/office/drawing/2014/main" id="{123F95E2-B518-4179-874F-C360D33BD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20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19">
              <a:extLst>
                <a:ext uri="{FF2B5EF4-FFF2-40B4-BE49-F238E27FC236}">
                  <a16:creationId xmlns:a16="http://schemas.microsoft.com/office/drawing/2014/main" id="{427B6AE4-3F5B-4F4F-96D3-F3282FE40E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592"/>
              <a:ext cx="720" cy="624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2">
              <a:extLst>
                <a:ext uri="{FF2B5EF4-FFF2-40B4-BE49-F238E27FC236}">
                  <a16:creationId xmlns:a16="http://schemas.microsoft.com/office/drawing/2014/main" id="{99E41DBD-6291-4879-9670-05FB8E68B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592"/>
              <a:ext cx="432" cy="768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54239AC4-C0FF-4C8A-85BB-4FF2F8D47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976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3">
              <a:extLst>
                <a:ext uri="{FF2B5EF4-FFF2-40B4-BE49-F238E27FC236}">
                  <a16:creationId xmlns:a16="http://schemas.microsoft.com/office/drawing/2014/main" id="{3CC0DCF4-5B53-457B-A54E-126AE31C0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296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3175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1E96C-AA78-448A-9281-9B58DA34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5-Clique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5E9AA-64EB-4006-8AC1-1714A1E0B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D0CA-BF5F-44D2-AEE7-51E73537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6D1D6-4C61-4D3E-A894-F6E069F1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6" name="Group 1058">
            <a:extLst>
              <a:ext uri="{FF2B5EF4-FFF2-40B4-BE49-F238E27FC236}">
                <a16:creationId xmlns:a16="http://schemas.microsoft.com/office/drawing/2014/main" id="{8351BB1A-FB01-4CAE-87E7-0579D12879B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057400"/>
            <a:ext cx="5867400" cy="3429000"/>
            <a:chOff x="816" y="1296"/>
            <a:chExt cx="3696" cy="2160"/>
          </a:xfrm>
        </p:grpSpPr>
        <p:sp>
          <p:nvSpPr>
            <p:cNvPr id="7" name="Oval 1027">
              <a:extLst>
                <a:ext uri="{FF2B5EF4-FFF2-40B4-BE49-F238E27FC236}">
                  <a16:creationId xmlns:a16="http://schemas.microsoft.com/office/drawing/2014/main" id="{8F1154C4-76E5-401B-AC9D-95B17FA86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296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1028">
              <a:extLst>
                <a:ext uri="{FF2B5EF4-FFF2-40B4-BE49-F238E27FC236}">
                  <a16:creationId xmlns:a16="http://schemas.microsoft.com/office/drawing/2014/main" id="{0D3F5202-A928-4509-BE93-219B10B11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16"/>
              <a:ext cx="240" cy="24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029">
              <a:extLst>
                <a:ext uri="{FF2B5EF4-FFF2-40B4-BE49-F238E27FC236}">
                  <a16:creationId xmlns:a16="http://schemas.microsoft.com/office/drawing/2014/main" id="{CDC2A57B-A192-449E-84E5-22AF56646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96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031">
              <a:extLst>
                <a:ext uri="{FF2B5EF4-FFF2-40B4-BE49-F238E27FC236}">
                  <a16:creationId xmlns:a16="http://schemas.microsoft.com/office/drawing/2014/main" id="{7A1830B4-EA68-444B-B396-FA835A98F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216"/>
              <a:ext cx="240" cy="24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033">
              <a:extLst>
                <a:ext uri="{FF2B5EF4-FFF2-40B4-BE49-F238E27FC236}">
                  <a16:creationId xmlns:a16="http://schemas.microsoft.com/office/drawing/2014/main" id="{46E03C04-8BAF-40AD-A0F8-AC9391D2D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448"/>
              <a:ext cx="240" cy="24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034">
              <a:extLst>
                <a:ext uri="{FF2B5EF4-FFF2-40B4-BE49-F238E27FC236}">
                  <a16:creationId xmlns:a16="http://schemas.microsoft.com/office/drawing/2014/main" id="{77700042-042D-4D01-95BE-04A93D8D7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728"/>
              <a:ext cx="240" cy="24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035">
              <a:extLst>
                <a:ext uri="{FF2B5EF4-FFF2-40B4-BE49-F238E27FC236}">
                  <a16:creationId xmlns:a16="http://schemas.microsoft.com/office/drawing/2014/main" id="{79A4CFAB-B3D4-4927-B3A1-082AF4FB6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976"/>
              <a:ext cx="240" cy="24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037">
              <a:extLst>
                <a:ext uri="{FF2B5EF4-FFF2-40B4-BE49-F238E27FC236}">
                  <a16:creationId xmlns:a16="http://schemas.microsoft.com/office/drawing/2014/main" id="{01F14170-C2CF-4321-B6F0-6686C9FFD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20"/>
              <a:ext cx="240" cy="24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038">
              <a:extLst>
                <a:ext uri="{FF2B5EF4-FFF2-40B4-BE49-F238E27FC236}">
                  <a16:creationId xmlns:a16="http://schemas.microsoft.com/office/drawing/2014/main" id="{5C9B4FEA-80FB-4DA7-9308-F245351BE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1" y="2205"/>
              <a:ext cx="144" cy="91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039">
              <a:extLst>
                <a:ext uri="{FF2B5EF4-FFF2-40B4-BE49-F238E27FC236}">
                  <a16:creationId xmlns:a16="http://schemas.microsoft.com/office/drawing/2014/main" id="{25773E20-2322-408F-A1BA-776DB5B78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352"/>
              <a:ext cx="864" cy="7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040">
              <a:extLst>
                <a:ext uri="{FF2B5EF4-FFF2-40B4-BE49-F238E27FC236}">
                  <a16:creationId xmlns:a16="http://schemas.microsoft.com/office/drawing/2014/main" id="{55EA9EC6-6462-414E-9A5C-5B80B47262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440"/>
              <a:ext cx="48" cy="864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41">
              <a:extLst>
                <a:ext uri="{FF2B5EF4-FFF2-40B4-BE49-F238E27FC236}">
                  <a16:creationId xmlns:a16="http://schemas.microsoft.com/office/drawing/2014/main" id="{B668968E-B39D-4032-AD03-BA97332C4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352"/>
              <a:ext cx="144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042">
              <a:extLst>
                <a:ext uri="{FF2B5EF4-FFF2-40B4-BE49-F238E27FC236}">
                  <a16:creationId xmlns:a16="http://schemas.microsoft.com/office/drawing/2014/main" id="{8A4F9809-86B7-4AB4-90FB-05D1041E59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2304"/>
              <a:ext cx="864" cy="288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043">
              <a:extLst>
                <a:ext uri="{FF2B5EF4-FFF2-40B4-BE49-F238E27FC236}">
                  <a16:creationId xmlns:a16="http://schemas.microsoft.com/office/drawing/2014/main" id="{215EA244-5155-42A6-A6DF-91F08AB30E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592"/>
              <a:ext cx="72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044">
              <a:extLst>
                <a:ext uri="{FF2B5EF4-FFF2-40B4-BE49-F238E27FC236}">
                  <a16:creationId xmlns:a16="http://schemas.microsoft.com/office/drawing/2014/main" id="{15D368C3-4B6D-49E3-BFDB-6EB0327ED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440"/>
              <a:ext cx="48" cy="1152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045">
              <a:extLst>
                <a:ext uri="{FF2B5EF4-FFF2-40B4-BE49-F238E27FC236}">
                  <a16:creationId xmlns:a16="http://schemas.microsoft.com/office/drawing/2014/main" id="{BCD41DFF-FE36-4FB9-BEAE-C0DF91E7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440"/>
              <a:ext cx="480" cy="480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046">
              <a:extLst>
                <a:ext uri="{FF2B5EF4-FFF2-40B4-BE49-F238E27FC236}">
                  <a16:creationId xmlns:a16="http://schemas.microsoft.com/office/drawing/2014/main" id="{63F3651B-5949-4DDB-B9FE-958B55F2E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592"/>
              <a:ext cx="432" cy="7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047">
              <a:extLst>
                <a:ext uri="{FF2B5EF4-FFF2-40B4-BE49-F238E27FC236}">
                  <a16:creationId xmlns:a16="http://schemas.microsoft.com/office/drawing/2014/main" id="{EDFADC15-8A02-4625-81B7-D56253293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872"/>
              <a:ext cx="144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048">
              <a:extLst>
                <a:ext uri="{FF2B5EF4-FFF2-40B4-BE49-F238E27FC236}">
                  <a16:creationId xmlns:a16="http://schemas.microsoft.com/office/drawing/2014/main" id="{4ABCB271-10E7-42B7-B2F1-1ABF0CE713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1824"/>
              <a:ext cx="960" cy="1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049">
              <a:extLst>
                <a:ext uri="{FF2B5EF4-FFF2-40B4-BE49-F238E27FC236}">
                  <a16:creationId xmlns:a16="http://schemas.microsoft.com/office/drawing/2014/main" id="{05AA0D45-C97F-4695-A88E-436029196D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344"/>
              <a:ext cx="816" cy="48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050">
              <a:extLst>
                <a:ext uri="{FF2B5EF4-FFF2-40B4-BE49-F238E27FC236}">
                  <a16:creationId xmlns:a16="http://schemas.microsoft.com/office/drawing/2014/main" id="{D35BCE54-97D4-44CF-9AB8-4233192893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440"/>
              <a:ext cx="864" cy="912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051">
              <a:extLst>
                <a:ext uri="{FF2B5EF4-FFF2-40B4-BE49-F238E27FC236}">
                  <a16:creationId xmlns:a16="http://schemas.microsoft.com/office/drawing/2014/main" id="{416A0D80-D08A-4ACA-BFCD-9CCA8B140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440"/>
              <a:ext cx="816" cy="1104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052">
              <a:extLst>
                <a:ext uri="{FF2B5EF4-FFF2-40B4-BE49-F238E27FC236}">
                  <a16:creationId xmlns:a16="http://schemas.microsoft.com/office/drawing/2014/main" id="{FC68308F-D82A-44DA-AEE2-F90E179C90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968"/>
              <a:ext cx="624" cy="576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053">
              <a:extLst>
                <a:ext uri="{FF2B5EF4-FFF2-40B4-BE49-F238E27FC236}">
                  <a16:creationId xmlns:a16="http://schemas.microsoft.com/office/drawing/2014/main" id="{0322C309-6FA4-4C72-BCE1-9B6CE6BA3A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6" y="1440"/>
              <a:ext cx="1440" cy="528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1054">
              <a:extLst>
                <a:ext uri="{FF2B5EF4-FFF2-40B4-BE49-F238E27FC236}">
                  <a16:creationId xmlns:a16="http://schemas.microsoft.com/office/drawing/2014/main" id="{461BA8B2-5769-418A-810B-DDC11E522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968"/>
              <a:ext cx="1488" cy="336"/>
            </a:xfrm>
            <a:prstGeom prst="line">
              <a:avLst/>
            </a:prstGeom>
            <a:noFill/>
            <a:ln w="5715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1055">
              <a:extLst>
                <a:ext uri="{FF2B5EF4-FFF2-40B4-BE49-F238E27FC236}">
                  <a16:creationId xmlns:a16="http://schemas.microsoft.com/office/drawing/2014/main" id="{52ACDF60-C375-4A4B-ACF9-0C9C6A202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12"/>
              <a:ext cx="1152" cy="115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056">
              <a:extLst>
                <a:ext uri="{FF2B5EF4-FFF2-40B4-BE49-F238E27FC236}">
                  <a16:creationId xmlns:a16="http://schemas.microsoft.com/office/drawing/2014/main" id="{836458F1-54E1-4DAD-8D8C-070658EA0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0" y="2112"/>
              <a:ext cx="96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1057">
              <a:extLst>
                <a:ext uri="{FF2B5EF4-FFF2-40B4-BE49-F238E27FC236}">
                  <a16:creationId xmlns:a16="http://schemas.microsoft.com/office/drawing/2014/main" id="{B048BFB2-157D-4587-936A-13FCEEDDA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072"/>
              <a:ext cx="1056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Oval 1030">
              <a:extLst>
                <a:ext uri="{FF2B5EF4-FFF2-40B4-BE49-F238E27FC236}">
                  <a16:creationId xmlns:a16="http://schemas.microsoft.com/office/drawing/2014/main" id="{880B1B85-3DF2-4E7E-8E89-AB07392A4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448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032">
              <a:extLst>
                <a:ext uri="{FF2B5EF4-FFF2-40B4-BE49-F238E27FC236}">
                  <a16:creationId xmlns:a16="http://schemas.microsoft.com/office/drawing/2014/main" id="{A0B667E5-DAAA-44F7-AC9C-C4F35A5BF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824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1036">
              <a:extLst>
                <a:ext uri="{FF2B5EF4-FFF2-40B4-BE49-F238E27FC236}">
                  <a16:creationId xmlns:a16="http://schemas.microsoft.com/office/drawing/2014/main" id="{981F1D32-BBE7-4587-85A8-2D37E03D8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208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104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CB67-5B21-4132-8C79-C5895979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 Coloring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44B0-DCA6-4A8F-B2EC-9EDCAA00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94CBD-B6E8-4CF8-88DF-E96AE334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A98CD-E645-435B-998D-06956366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6" name="Group 2083">
            <a:extLst>
              <a:ext uri="{FF2B5EF4-FFF2-40B4-BE49-F238E27FC236}">
                <a16:creationId xmlns:a16="http://schemas.microsoft.com/office/drawing/2014/main" id="{89AE2448-B115-4A8C-A7D5-D72CDC580E62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057400"/>
            <a:ext cx="5867400" cy="3429000"/>
            <a:chOff x="816" y="1296"/>
            <a:chExt cx="3696" cy="2160"/>
          </a:xfrm>
        </p:grpSpPr>
        <p:sp>
          <p:nvSpPr>
            <p:cNvPr id="7" name="Line 2063">
              <a:extLst>
                <a:ext uri="{FF2B5EF4-FFF2-40B4-BE49-F238E27FC236}">
                  <a16:creationId xmlns:a16="http://schemas.microsoft.com/office/drawing/2014/main" id="{81FCD2F9-ACAF-4881-A403-AA0B115C7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1" y="2205"/>
              <a:ext cx="144" cy="91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2064">
              <a:extLst>
                <a:ext uri="{FF2B5EF4-FFF2-40B4-BE49-F238E27FC236}">
                  <a16:creationId xmlns:a16="http://schemas.microsoft.com/office/drawing/2014/main" id="{3706DD01-4A13-4F2E-B762-9ACA2E6897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352"/>
              <a:ext cx="864" cy="7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065">
              <a:extLst>
                <a:ext uri="{FF2B5EF4-FFF2-40B4-BE49-F238E27FC236}">
                  <a16:creationId xmlns:a16="http://schemas.microsoft.com/office/drawing/2014/main" id="{F6C6B821-EBBD-4230-B345-B74C75F73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440"/>
              <a:ext cx="48" cy="86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066">
              <a:extLst>
                <a:ext uri="{FF2B5EF4-FFF2-40B4-BE49-F238E27FC236}">
                  <a16:creationId xmlns:a16="http://schemas.microsoft.com/office/drawing/2014/main" id="{134AAC6E-4829-4B20-AC4C-10D6873A1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352"/>
              <a:ext cx="144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067">
              <a:extLst>
                <a:ext uri="{FF2B5EF4-FFF2-40B4-BE49-F238E27FC236}">
                  <a16:creationId xmlns:a16="http://schemas.microsoft.com/office/drawing/2014/main" id="{D74D1AAE-10DB-47A5-A2B1-5A5338D1E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2304"/>
              <a:ext cx="86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068">
              <a:extLst>
                <a:ext uri="{FF2B5EF4-FFF2-40B4-BE49-F238E27FC236}">
                  <a16:creationId xmlns:a16="http://schemas.microsoft.com/office/drawing/2014/main" id="{6001C991-C13C-420B-B90B-13C501861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592"/>
              <a:ext cx="72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070">
              <a:extLst>
                <a:ext uri="{FF2B5EF4-FFF2-40B4-BE49-F238E27FC236}">
                  <a16:creationId xmlns:a16="http://schemas.microsoft.com/office/drawing/2014/main" id="{C5EE2EB2-39AC-4BD1-A7A2-1DA6E4D6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440"/>
              <a:ext cx="48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071">
              <a:extLst>
                <a:ext uri="{FF2B5EF4-FFF2-40B4-BE49-F238E27FC236}">
                  <a16:creationId xmlns:a16="http://schemas.microsoft.com/office/drawing/2014/main" id="{9CA7277F-43D1-4C6B-AD61-5EABA811F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592"/>
              <a:ext cx="432" cy="7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072">
              <a:extLst>
                <a:ext uri="{FF2B5EF4-FFF2-40B4-BE49-F238E27FC236}">
                  <a16:creationId xmlns:a16="http://schemas.microsoft.com/office/drawing/2014/main" id="{76CAE5CE-50D9-42A4-82BB-226EC55B49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872"/>
              <a:ext cx="144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073">
              <a:extLst>
                <a:ext uri="{FF2B5EF4-FFF2-40B4-BE49-F238E27FC236}">
                  <a16:creationId xmlns:a16="http://schemas.microsoft.com/office/drawing/2014/main" id="{D0E0460F-BA4D-450E-9C49-F5E46653CC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1824"/>
              <a:ext cx="960" cy="1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2074">
              <a:extLst>
                <a:ext uri="{FF2B5EF4-FFF2-40B4-BE49-F238E27FC236}">
                  <a16:creationId xmlns:a16="http://schemas.microsoft.com/office/drawing/2014/main" id="{79A8AE7B-CF86-4303-8CC4-C9CCE807DA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344"/>
              <a:ext cx="816" cy="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075">
              <a:extLst>
                <a:ext uri="{FF2B5EF4-FFF2-40B4-BE49-F238E27FC236}">
                  <a16:creationId xmlns:a16="http://schemas.microsoft.com/office/drawing/2014/main" id="{D038B768-0BBF-4E48-ACC0-5C49DA99A9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440"/>
              <a:ext cx="864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076">
              <a:extLst>
                <a:ext uri="{FF2B5EF4-FFF2-40B4-BE49-F238E27FC236}">
                  <a16:creationId xmlns:a16="http://schemas.microsoft.com/office/drawing/2014/main" id="{9D45C369-87DC-494B-8BA6-5561F186F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440"/>
              <a:ext cx="816" cy="110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077">
              <a:extLst>
                <a:ext uri="{FF2B5EF4-FFF2-40B4-BE49-F238E27FC236}">
                  <a16:creationId xmlns:a16="http://schemas.microsoft.com/office/drawing/2014/main" id="{BCFC0B3C-159C-45F7-A1EC-96191B4C94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968"/>
              <a:ext cx="624" cy="57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078">
              <a:extLst>
                <a:ext uri="{FF2B5EF4-FFF2-40B4-BE49-F238E27FC236}">
                  <a16:creationId xmlns:a16="http://schemas.microsoft.com/office/drawing/2014/main" id="{312C3368-764C-4FA9-9CA6-33F15C1E2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6" y="1440"/>
              <a:ext cx="144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80">
              <a:extLst>
                <a:ext uri="{FF2B5EF4-FFF2-40B4-BE49-F238E27FC236}">
                  <a16:creationId xmlns:a16="http://schemas.microsoft.com/office/drawing/2014/main" id="{6BEF4E2D-9762-433E-9D96-4B8E861BA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12"/>
              <a:ext cx="1152" cy="115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082">
              <a:extLst>
                <a:ext uri="{FF2B5EF4-FFF2-40B4-BE49-F238E27FC236}">
                  <a16:creationId xmlns:a16="http://schemas.microsoft.com/office/drawing/2014/main" id="{014FBACC-5B57-4EFF-A143-20EEDA10D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072"/>
              <a:ext cx="1056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Oval 2052">
              <a:extLst>
                <a:ext uri="{FF2B5EF4-FFF2-40B4-BE49-F238E27FC236}">
                  <a16:creationId xmlns:a16="http://schemas.microsoft.com/office/drawing/2014/main" id="{F69F4E46-597C-4876-B52E-472AD9925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296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053">
              <a:extLst>
                <a:ext uri="{FF2B5EF4-FFF2-40B4-BE49-F238E27FC236}">
                  <a16:creationId xmlns:a16="http://schemas.microsoft.com/office/drawing/2014/main" id="{2348E01E-B905-4D83-A7F4-5B0A792DE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16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>
                <a:solidFill>
                  <a:srgbClr val="3333FF"/>
                </a:solidFill>
              </a:endParaRPr>
            </a:p>
          </p:txBody>
        </p:sp>
        <p:sp>
          <p:nvSpPr>
            <p:cNvPr id="26" name="Oval 2055">
              <a:extLst>
                <a:ext uri="{FF2B5EF4-FFF2-40B4-BE49-F238E27FC236}">
                  <a16:creationId xmlns:a16="http://schemas.microsoft.com/office/drawing/2014/main" id="{F11FD1ED-94A8-4A24-ABCE-356309B8F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448"/>
              <a:ext cx="240" cy="240"/>
            </a:xfrm>
            <a:prstGeom prst="ellipse">
              <a:avLst/>
            </a:prstGeom>
            <a:solidFill>
              <a:srgbClr val="66FF33"/>
            </a:solidFill>
            <a:ln w="38100">
              <a:solidFill>
                <a:srgbClr val="66FF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2056">
              <a:extLst>
                <a:ext uri="{FF2B5EF4-FFF2-40B4-BE49-F238E27FC236}">
                  <a16:creationId xmlns:a16="http://schemas.microsoft.com/office/drawing/2014/main" id="{246A5F83-E998-4F6A-9AE8-415FA427A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216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2057">
              <a:extLst>
                <a:ext uri="{FF2B5EF4-FFF2-40B4-BE49-F238E27FC236}">
                  <a16:creationId xmlns:a16="http://schemas.microsoft.com/office/drawing/2014/main" id="{94A8D956-F599-473D-8F1B-1A6F668F3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824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2058">
              <a:extLst>
                <a:ext uri="{FF2B5EF4-FFF2-40B4-BE49-F238E27FC236}">
                  <a16:creationId xmlns:a16="http://schemas.microsoft.com/office/drawing/2014/main" id="{4A65546F-4B35-4FF2-B089-F16D7C6FC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448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2059">
              <a:extLst>
                <a:ext uri="{FF2B5EF4-FFF2-40B4-BE49-F238E27FC236}">
                  <a16:creationId xmlns:a16="http://schemas.microsoft.com/office/drawing/2014/main" id="{ADBA5563-4C47-4576-ACDF-B315F0F56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728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2060">
              <a:extLst>
                <a:ext uri="{FF2B5EF4-FFF2-40B4-BE49-F238E27FC236}">
                  <a16:creationId xmlns:a16="http://schemas.microsoft.com/office/drawing/2014/main" id="{CDDCD850-A029-490E-924D-28A987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976"/>
              <a:ext cx="240" cy="240"/>
            </a:xfrm>
            <a:prstGeom prst="ellipse">
              <a:avLst/>
            </a:prstGeom>
            <a:solidFill>
              <a:srgbClr val="66FF33"/>
            </a:solidFill>
            <a:ln w="38100">
              <a:solidFill>
                <a:srgbClr val="66FF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2061">
              <a:extLst>
                <a:ext uri="{FF2B5EF4-FFF2-40B4-BE49-F238E27FC236}">
                  <a16:creationId xmlns:a16="http://schemas.microsoft.com/office/drawing/2014/main" id="{A17A017D-E6A2-4698-8304-487A5E3E5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208"/>
              <a:ext cx="240" cy="240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2062">
              <a:extLst>
                <a:ext uri="{FF2B5EF4-FFF2-40B4-BE49-F238E27FC236}">
                  <a16:creationId xmlns:a16="http://schemas.microsoft.com/office/drawing/2014/main" id="{EE882C51-2437-450B-BE51-6ACA73C1C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20"/>
              <a:ext cx="240" cy="240"/>
            </a:xfrm>
            <a:prstGeom prst="ellipse">
              <a:avLst/>
            </a:prstGeom>
            <a:solidFill>
              <a:srgbClr val="FF0033"/>
            </a:solidFill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2054">
              <a:extLst>
                <a:ext uri="{FF2B5EF4-FFF2-40B4-BE49-F238E27FC236}">
                  <a16:creationId xmlns:a16="http://schemas.microsoft.com/office/drawing/2014/main" id="{FEF25D7D-6E69-48AC-83DC-9DE2CD517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96"/>
              <a:ext cx="240" cy="240"/>
            </a:xfrm>
            <a:prstGeom prst="ellipse">
              <a:avLst/>
            </a:prstGeom>
            <a:solidFill>
              <a:srgbClr val="66FF33"/>
            </a:solidFill>
            <a:ln w="38100">
              <a:solidFill>
                <a:srgbClr val="66FF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1058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CB67-5B21-4132-8C79-C5895979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Class Scheduling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44B0-DCA6-4A8F-B2EC-9EDCAA00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With N teachers with certain hour restrictions M classes to be scheduled, can we:</a:t>
            </a:r>
          </a:p>
          <a:p>
            <a:pPr lvl="1"/>
            <a:r>
              <a:rPr lang="en-US" altLang="en-US" dirty="0"/>
              <a:t>Schedule all the classes</a:t>
            </a:r>
          </a:p>
          <a:p>
            <a:pPr lvl="1"/>
            <a:r>
              <a:rPr lang="en-US" altLang="en-US" dirty="0"/>
              <a:t>Make sure that no two teachers teach the same class at the same time</a:t>
            </a:r>
          </a:p>
          <a:p>
            <a:pPr lvl="1"/>
            <a:r>
              <a:rPr lang="en-US" altLang="en-US" dirty="0"/>
              <a:t>No teacher is scheduled to teach two classes at once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94CBD-B6E8-4CF8-88DF-E96AE334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A98CD-E645-435B-998D-06956366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9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C3CE-FBBC-467C-844D-5120901F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NP-Complete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DB711-4B2B-4B13-8764-4E7882854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267E0-6014-4B92-8CD4-FB54F15C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C8EDB-E8EB-480A-A411-C8FC0736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052" name="Picture 4" descr="PPT - Theory of Algorithms: Brute Force PowerPoint Presentation, free ...">
            <a:extLst>
              <a:ext uri="{FF2B5EF4-FFF2-40B4-BE49-F238E27FC236}">
                <a16:creationId xmlns:a16="http://schemas.microsoft.com/office/drawing/2014/main" id="{B0D94D4F-EBAA-402C-99C1-0564B314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86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8191E-FA18-48FB-9395-4B4F5759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63372-72A0-4003-A3B2-39778AC24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NP-Hard:</a:t>
            </a:r>
          </a:p>
          <a:p>
            <a:r>
              <a:rPr lang="en-US" dirty="0"/>
              <a:t>These are problems that are </a:t>
            </a:r>
            <a:r>
              <a:rPr lang="en-US" b="1" dirty="0"/>
              <a:t>at least as hard as NP problems</a:t>
            </a:r>
            <a:r>
              <a:rPr lang="en-US" dirty="0"/>
              <a:t>, but they don’t have to belong to NP (i.e., they don’t need to have solutions that are verifiable in polynomial time).</a:t>
            </a:r>
          </a:p>
          <a:p>
            <a:r>
              <a:rPr lang="en-US" b="1" dirty="0"/>
              <a:t>Example:</a:t>
            </a:r>
          </a:p>
          <a:p>
            <a:r>
              <a:rPr lang="en-US" b="1" dirty="0"/>
              <a:t>Chess (Optimal Strategy):</a:t>
            </a:r>
            <a:endParaRPr lang="en-US" dirty="0"/>
          </a:p>
          <a:p>
            <a:pPr lvl="1"/>
            <a:r>
              <a:rPr lang="en-US" dirty="0"/>
              <a:t>Problem: Determining the best strategy to win a game of chess from any position is NP-hard.</a:t>
            </a:r>
          </a:p>
          <a:p>
            <a:pPr lvl="1"/>
            <a:r>
              <a:rPr lang="en-US" dirty="0"/>
              <a:t>Verifying: You cannot easily verify a solution, which may involve many future moves.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EFFC4-E122-42C9-9AF5-7E00424B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81722-586F-42F4-8A11-0D7579EB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05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162E-5FC0-4638-9335-E5B8BA231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B3014-5E66-41A3-965A-E3F99535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E49CE-6345-4401-B3B0-F47AA540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3074" name="Picture 2" descr="Chess Board Details (Positions, Coordinates) ~ Chess Tips &amp; Tricks">
            <a:extLst>
              <a:ext uri="{FF2B5EF4-FFF2-40B4-BE49-F238E27FC236}">
                <a16:creationId xmlns:a16="http://schemas.microsoft.com/office/drawing/2014/main" id="{832AD006-F1B0-4469-ABCF-CE57844C9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0"/>
            <a:ext cx="6848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575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D578-EE65-4CAF-8F51-38752E51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NP-Hard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D68FD-E8AC-4DFC-A26C-848A71416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“Hard” problem/programming!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B0517-20DD-4B2A-9F5D-B81D9654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A60EE-4101-4EDC-8F03-B93ADE51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098" name="Picture 2" descr="How to Play Chess | WorldChess Store">
            <a:extLst>
              <a:ext uri="{FF2B5EF4-FFF2-40B4-BE49-F238E27FC236}">
                <a16:creationId xmlns:a16="http://schemas.microsoft.com/office/drawing/2014/main" id="{67A7DB54-86DF-4C08-B726-8190DB86A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1928813"/>
            <a:ext cx="333375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645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5885-AB24-49F3-9B85-6EC2EB9A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9B37-3CBB-4E81-B804-22CF9A282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⊆ NP, and NP-Complete problems are the hardest problems in NP, while NP-Hard problems are at least as hard as NP-Complete problems but may not belong to NP.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D9579-8508-4270-BD8B-DDADBBC4D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5FDCD-49BF-4A0F-B199-847CD08C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122" name="Picture 2" descr="1: Diagram of intersection among classes P, NP, NP-complete and NP-hard problems">
            <a:extLst>
              <a:ext uri="{FF2B5EF4-FFF2-40B4-BE49-F238E27FC236}">
                <a16:creationId xmlns:a16="http://schemas.microsoft.com/office/drawing/2014/main" id="{2611B030-D8EF-410E-99C4-AE245C0BE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085109"/>
            <a:ext cx="5524500" cy="446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829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32B7-2BC0-4293-A69F-D5EFA2F7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63C5D-7B9E-4598-9B47-F2EE50BA0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 ⊆ NP - </a:t>
            </a:r>
            <a:r>
              <a:rPr lang="en-US" dirty="0"/>
              <a:t>All problems in P are also in NP because solving a problem implies you can verify its solution.</a:t>
            </a:r>
          </a:p>
          <a:p>
            <a:endParaRPr lang="en-US" dirty="0"/>
          </a:p>
          <a:p>
            <a:r>
              <a:rPr lang="en-US" b="1" dirty="0"/>
              <a:t>NP-Complete ⊆ NP</a:t>
            </a:r>
            <a:r>
              <a:rPr lang="en-US" dirty="0"/>
              <a:t> - NP-Complete problems are the most challenging problems in NP.</a:t>
            </a:r>
          </a:p>
          <a:p>
            <a:endParaRPr lang="en-US" dirty="0"/>
          </a:p>
          <a:p>
            <a:r>
              <a:rPr lang="en-US" b="1" dirty="0"/>
              <a:t>NP-Hard ⊇ NP-Complete - </a:t>
            </a:r>
            <a:r>
              <a:rPr lang="en-US" dirty="0"/>
              <a:t>NP-Hard includes NP-complete problems but may also include problems outside NP.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C3983-3164-4BD7-AF4C-34D979528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09E64-B8A1-4B2B-86CF-D779D328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19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8BF1-20D2-4532-A9C6-DEDE2C47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AA8B6-03A3-405C-AD1C-74FC84B4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08E218D-EFB7-4B32-B09E-6098A940D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19" y="685800"/>
            <a:ext cx="7871603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92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207D34-F50E-4D4D-9D47-2ECFF116F129}">
  <ds:schemaRefs>
    <ds:schemaRef ds:uri="http://purl.org/dc/elements/1.1/"/>
    <ds:schemaRef ds:uri="http://purl.org/dc/terms/"/>
    <ds:schemaRef ds:uri="e41a7a39-cefe-44f5-a3a8-0050e37c33e9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794</Words>
  <Application>Microsoft Office PowerPoint</Application>
  <PresentationFormat>On-screen Show (4:3)</PresentationFormat>
  <Paragraphs>130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Narrow</vt:lpstr>
      <vt:lpstr>Calibri</vt:lpstr>
      <vt:lpstr>MoolBoran</vt:lpstr>
      <vt:lpstr>Office Theme</vt:lpstr>
      <vt:lpstr>Data Structures &amp; Algorithms</vt:lpstr>
      <vt:lpstr>Week-14 Agenda </vt:lpstr>
      <vt:lpstr>Determinism vs. Nondeterminism</vt:lpstr>
      <vt:lpstr>NP-Completeness</vt:lpstr>
      <vt:lpstr>NP-Completeness</vt:lpstr>
      <vt:lpstr>NP-Completeness</vt:lpstr>
      <vt:lpstr>NP-Completeness</vt:lpstr>
      <vt:lpstr>NP-Problems</vt:lpstr>
      <vt:lpstr>NP-Problems</vt:lpstr>
      <vt:lpstr>NP-Complete Problem</vt:lpstr>
      <vt:lpstr>NP-Complete Problem</vt:lpstr>
      <vt:lpstr>Traveling salesman</vt:lpstr>
      <vt:lpstr>5-Clique</vt:lpstr>
      <vt:lpstr>Map Coloring</vt:lpstr>
      <vt:lpstr>Class Scheduling Problem</vt:lpstr>
      <vt:lpstr>NP-Complete Problem</vt:lpstr>
      <vt:lpstr>NP-Hard</vt:lpstr>
      <vt:lpstr>PowerPoint Presentation</vt:lpstr>
      <vt:lpstr>NP-Hard</vt:lpstr>
      <vt:lpstr>Key Relationship</vt:lpstr>
      <vt:lpstr>Key Relationship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</cp:lastModifiedBy>
  <cp:revision>514</cp:revision>
  <dcterms:created xsi:type="dcterms:W3CDTF">2016-10-27T12:58:45Z</dcterms:created>
  <dcterms:modified xsi:type="dcterms:W3CDTF">2025-09-17T06:08:22Z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