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655" r:id="rId7"/>
    <p:sldId id="656" r:id="rId8"/>
    <p:sldId id="657" r:id="rId9"/>
    <p:sldId id="658" r:id="rId10"/>
    <p:sldId id="659" r:id="rId11"/>
    <p:sldId id="660" r:id="rId12"/>
    <p:sldId id="661" r:id="rId13"/>
    <p:sldId id="662" r:id="rId14"/>
    <p:sldId id="663" r:id="rId15"/>
    <p:sldId id="664" r:id="rId16"/>
    <p:sldId id="665" r:id="rId17"/>
    <p:sldId id="666" r:id="rId18"/>
    <p:sldId id="667" r:id="rId19"/>
    <p:sldId id="668" r:id="rId20"/>
    <p:sldId id="669" r:id="rId21"/>
    <p:sldId id="670" r:id="rId22"/>
    <p:sldId id="671" r:id="rId23"/>
    <p:sldId id="672" r:id="rId24"/>
    <p:sldId id="673" r:id="rId25"/>
    <p:sldId id="674" r:id="rId26"/>
    <p:sldId id="675" r:id="rId27"/>
    <p:sldId id="676" r:id="rId28"/>
    <p:sldId id="65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152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ABBB9-D43F-4F6B-B6A1-E0CDD613A533}" type="datetimeFigureOut">
              <a:rPr lang="en-US" smtClean="0"/>
              <a:pPr/>
              <a:t>28-Oct-2024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D8513B-4632-4E89-ACB7-7E7F9046F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F71D2-D6BA-4174-87E1-0F5D0E08BB86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884"/>
            <a:ext cx="9144000" cy="530352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440363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053AB-C917-44B5-94A4-E19F9582D8A1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3"/>
          <p:cNvSpPr>
            <a:spLocks noGrp="1"/>
          </p:cNvSpPr>
          <p:nvPr userDrawn="1"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7A969-A3A4-4905-BB3B-A1F99714489D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122F-34FE-4A32-AF1E-06D01F4AB465}" type="datetime1">
              <a:rPr lang="en-US" smtClean="0"/>
              <a:t>28-Oct-2024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9BF83-D408-43EE-8C8E-881EB30FED63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/>
          <a:p>
            <a:r>
              <a:rPr lang="en-GB" dirty="0"/>
              <a:t>Prepared by: Engr. </a:t>
            </a:r>
            <a:r>
              <a:rPr lang="en-GB" dirty="0" err="1"/>
              <a:t>Majid</a:t>
            </a:r>
            <a:r>
              <a:rPr lang="en-GB" dirty="0"/>
              <a:t> </a:t>
            </a:r>
            <a:r>
              <a:rPr lang="en-GB" dirty="0" err="1"/>
              <a:t>Kaleem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E6E94-763D-4669-B6E9-51CBF0DE98F8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74871" y="6324600"/>
            <a:ext cx="2209800" cy="396875"/>
          </a:xfrm>
        </p:spPr>
        <p:txBody>
          <a:bodyPr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GB"/>
              <a:t>Prepared by: Engr. Majid Kaleem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01000" y="6324600"/>
            <a:ext cx="685800" cy="396875"/>
          </a:xfrm>
        </p:spPr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90AE6-6DBC-4573-A883-C8B56C3BA319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4DD4B-BA74-4081-9C98-F75546208E81}" type="datetime1">
              <a:rPr lang="en-US" smtClean="0"/>
              <a:t>28-Oct-2024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6D023-EB81-4F7E-BAFB-BBC0F73C5589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3CAF7-3317-49F4-8BCD-6F3AFB74B952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4185C-045E-4B07-B360-1E4D0D4807A8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by: Engr. Majid Kaleem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2A209-9856-462B-A010-2A2374E3EB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9600" dirty="0">
                <a:latin typeface="MoolBoran" pitchFamily="34" charset="0"/>
                <a:cs typeface="MoolBoran" pitchFamily="34" charset="0"/>
              </a:rPr>
              <a:t>Data Structures &amp; Algorithms</a:t>
            </a:r>
            <a:endParaRPr lang="en-US" sz="9600" dirty="0">
              <a:latin typeface="MoolBoran" pitchFamily="34" charset="0"/>
              <a:cs typeface="MoolBoran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267200"/>
            <a:ext cx="6400800" cy="76200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  <a:latin typeface="MoolBoran" pitchFamily="34" charset="0"/>
                <a:cs typeface="MoolBoran" pitchFamily="34" charset="0"/>
              </a:rPr>
              <a:t>Week-08</a:t>
            </a:r>
            <a:endParaRPr lang="en-US" dirty="0">
              <a:solidFill>
                <a:schemeClr val="tx2"/>
              </a:solidFill>
              <a:latin typeface="MoolBoran" pitchFamily="34" charset="0"/>
              <a:cs typeface="MoolBoran" pitchFamily="34" charset="0"/>
            </a:endParaRPr>
          </a:p>
        </p:txBody>
      </p:sp>
      <p:pic>
        <p:nvPicPr>
          <p:cNvPr id="6" name="Picture 5" descr="logo5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86" y="0"/>
            <a:ext cx="2729014" cy="7782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A0F576E-2ADB-4177-AB0E-A05B1562F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6753D-90AF-4F2E-8EC7-13C4E2C1D86D}" type="datetime1">
              <a:rPr lang="en-US" smtClean="0"/>
              <a:t>28-Oct-2024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63651-B497-4529-9AFF-59636D160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25880-FFD1-48AE-9982-FCB0F658D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Week-08 </a:t>
            </a:r>
            <a:r>
              <a:rPr lang="en-US" dirty="0"/>
              <a:t>Agenda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1AD53-70E4-4DB2-B00E-814D78E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Graph Data Structures</a:t>
            </a:r>
            <a:endParaRPr lang="en-PK" dirty="0">
              <a:solidFill>
                <a:srgbClr val="0033CC"/>
              </a:solidFill>
            </a:endParaRPr>
          </a:p>
          <a:p>
            <a:endParaRPr lang="en-PK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305886E-6EB7-4207-A593-4BEE2572D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4183C-BF88-40F9-A1FD-0C096233229E}" type="datetime1">
              <a:rPr lang="en-US" smtClean="0"/>
              <a:t>28-Oct-2024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03029-7C99-49DA-875E-D7B85E2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707A2B-4615-418C-9492-0133AFD75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52562"/>
            <a:ext cx="594360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30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 fontScale="92500" lnSpcReduction="10000"/>
          </a:bodyPr>
          <a:lstStyle/>
          <a:p>
            <a:pPr algn="just" fontAlgn="base"/>
            <a:r>
              <a:rPr lang="en-US" dirty="0"/>
              <a:t>A graph is non-linear data structure. </a:t>
            </a:r>
          </a:p>
          <a:p>
            <a:pPr algn="just" fontAlgn="base"/>
            <a:r>
              <a:rPr lang="en-US" dirty="0"/>
              <a:t>It is a collection of nodes connected to each other by edges. Each node contains a data field.</a:t>
            </a:r>
          </a:p>
          <a:p>
            <a:pPr algn="just" fontAlgn="base"/>
            <a:r>
              <a:rPr lang="en-US" dirty="0"/>
              <a:t>EXAMPLE:</a:t>
            </a:r>
          </a:p>
          <a:p>
            <a:pPr algn="just" fontAlgn="base"/>
            <a:r>
              <a:rPr lang="en-US" dirty="0"/>
              <a:t>On Facebook, every profile is a node, including photos, videos, events, pages, and all other properties that have data.</a:t>
            </a:r>
          </a:p>
          <a:p>
            <a:pPr algn="just" fontAlgn="base"/>
            <a:r>
              <a:rPr lang="en-US" dirty="0"/>
              <a:t>And every connection acts as an edge, whether it’s between you and your Facebook friend or just a page you’ve liked.</a:t>
            </a:r>
          </a:p>
          <a:p>
            <a:pPr algn="just" fontAlgn="base"/>
            <a:r>
              <a:rPr lang="en-US" dirty="0"/>
              <a:t>Facebook and other social networks are just huge collections of nodes and edges.</a:t>
            </a:r>
          </a:p>
          <a:p>
            <a:pPr algn="just" fontAlgn="base"/>
            <a:r>
              <a:rPr lang="en-US" dirty="0"/>
              <a:t>Graph data structure solves many real-life problems. Most importantly they’re used to represent networks such as road networks in a city or circuit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521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 graph consists of:</a:t>
            </a:r>
          </a:p>
          <a:p>
            <a:pPr fontAlgn="base"/>
            <a:endParaRPr lang="en-US" b="1" dirty="0"/>
          </a:p>
          <a:p>
            <a:pPr marL="914400" lvl="1" indent="-514350" fontAlgn="base">
              <a:buFont typeface="+mj-lt"/>
              <a:buAutoNum type="arabicPeriod"/>
            </a:pPr>
            <a:r>
              <a:rPr lang="en-US" dirty="0"/>
              <a:t>A collection of nodes also known as vertices, in this case</a:t>
            </a:r>
          </a:p>
          <a:p>
            <a:pPr marL="914400" lvl="1" indent="-514350" fontAlgn="base">
              <a:buFont typeface="+mj-lt"/>
              <a:buAutoNum type="arabicPeriod"/>
            </a:pPr>
            <a:r>
              <a:rPr lang="en-US" dirty="0"/>
              <a:t>A collection of edges E connecting the vertices, (represented as ordered pair of vertices - 0, 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24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V (Vertices) = {0, 1, 2, 3}</a:t>
            </a:r>
            <a:endParaRPr lang="en-US" dirty="0"/>
          </a:p>
          <a:p>
            <a:pPr fontAlgn="base"/>
            <a:r>
              <a:rPr lang="en-US" b="1" dirty="0"/>
              <a:t>E (Edges) = {(0,1), (0,2), (0,3), (1,2)}</a:t>
            </a:r>
            <a:endParaRPr lang="en-US" dirty="0"/>
          </a:p>
          <a:p>
            <a:pPr fontAlgn="base"/>
            <a:r>
              <a:rPr lang="en-US" b="1" dirty="0"/>
              <a:t>G (Graph) = {V, E}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Picture 2" descr="Graph ">
            <a:extLst>
              <a:ext uri="{FF2B5EF4-FFF2-40B4-BE49-F238E27FC236}">
                <a16:creationId xmlns:a16="http://schemas.microsoft.com/office/drawing/2014/main" id="{4511DD3A-804E-42B3-8326-157AB821E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9262" y="683649"/>
            <a:ext cx="6245476" cy="378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8066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Graph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Vertex </a:t>
            </a:r>
            <a:r>
              <a:rPr lang="en-US" dirty="0"/>
              <a:t>- Each node of a graph is called a vertex. (plural - vertices). In the image above, the dots represented by 0, 1, 2, and 3 are vertices.</a:t>
            </a:r>
          </a:p>
          <a:p>
            <a:pPr algn="just" fontAlgn="base"/>
            <a:endParaRPr lang="en-US" b="1" dirty="0"/>
          </a:p>
          <a:p>
            <a:pPr algn="just" fontAlgn="base"/>
            <a:r>
              <a:rPr lang="en-US" b="1" dirty="0"/>
              <a:t>Edge</a:t>
            </a:r>
            <a:r>
              <a:rPr lang="en-US" dirty="0"/>
              <a:t> - Edges in a graph are the lines that connect two vertices. In the image above- the line (0, 1) from 0 to 1 represents an edge, similarly (1, 2), and so on.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Edges can be represented in the form of two-dimensional arrays.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432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Graph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algn="just" fontAlgn="base"/>
            <a:r>
              <a:rPr lang="en-US" b="1" dirty="0"/>
              <a:t>Adjacency -</a:t>
            </a:r>
            <a:r>
              <a:rPr lang="en-US" dirty="0"/>
              <a:t> A vertex is adjacent to another vertex if there is an edge connecting them. In the image above, vertices 0 and 1 are adjacent, but vertices 1 and 3 are not adjacent as there’s no edge between them.</a:t>
            </a:r>
          </a:p>
          <a:p>
            <a:pPr algn="just" fontAlgn="base"/>
            <a:endParaRPr lang="en-US" b="1" dirty="0"/>
          </a:p>
          <a:p>
            <a:pPr algn="just" fontAlgn="base"/>
            <a:r>
              <a:rPr lang="en-US" b="1" dirty="0"/>
              <a:t>Paths - </a:t>
            </a:r>
            <a:r>
              <a:rPr lang="en-US" dirty="0"/>
              <a:t>A series of edges that takes you from one vertex to another when they’re not adjacent to each other. In the above example: 1 and 3 are not adjacent. So, the sequence of edges [(1, 2), (2, 3)] will represent a path.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714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Graph 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algn="just" fontAlgn="base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2052" name="Picture 4" descr="Path in graphs">
            <a:extLst>
              <a:ext uri="{FF2B5EF4-FFF2-40B4-BE49-F238E27FC236}">
                <a16:creationId xmlns:a16="http://schemas.microsoft.com/office/drawing/2014/main" id="{F1972452-B614-42D5-A2A5-80EBA12E8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89" y="1343941"/>
            <a:ext cx="6870023" cy="416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476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Basic Operations in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Add/Remove Vertex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This is the most basic operation in a graph. You have to simply add a vertex to the graph; not needing to connect it with some other vertex through an edge.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While removing a vertex, you have to delete all the edges to and from that particular vertex.</a:t>
            </a:r>
          </a:p>
          <a:p>
            <a:pPr algn="just" fontAlgn="base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23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ACE0-DF31-4733-B8C0-BFF282E97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US" dirty="0">
                <a:effectLst/>
              </a:rPr>
              <a:t>Basic Operations in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3B76E-3443-454F-A769-6518EC8D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5800"/>
            <a:ext cx="9144000" cy="567055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Add/Remove Edge</a:t>
            </a:r>
          </a:p>
          <a:p>
            <a:pPr fontAlgn="base"/>
            <a:endParaRPr lang="en-US" dirty="0"/>
          </a:p>
          <a:p>
            <a:pPr algn="just" fontAlgn="base"/>
            <a:r>
              <a:rPr lang="en-US" dirty="0"/>
              <a:t>This operation adds or removes an edge between two vertices.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If all the edges originating from or ending at say vertex 1 is removed, 1 would become isolated.</a:t>
            </a:r>
          </a:p>
          <a:p>
            <a:pPr algn="just" fontAlgn="base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26435-16C6-455D-8E94-1799E72D2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C0C4F-7782-4600-B829-96D22A33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325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ECE9-5C0C-4496-8B7F-B03089399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Basic Operations in a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C18D-8E6B-44DE-A49B-ACE98C0F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6F548-B4BE-43BC-BFEA-20C800C3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FB7B3-156D-4636-B29D-4F6239CD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098" name="Picture 2" descr="Breadth-first search">
            <a:extLst>
              <a:ext uri="{FF2B5EF4-FFF2-40B4-BE49-F238E27FC236}">
                <a16:creationId xmlns:a16="http://schemas.microsoft.com/office/drawing/2014/main" id="{368AA721-2AAB-4C05-9775-5D1E87EE2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89" y="1217085"/>
            <a:ext cx="6870023" cy="491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5769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2ECE9-5C0C-4496-8B7F-B03089399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Basic Operations in a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3C18D-8E6B-44DE-A49B-ACE98C0FFC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This search operation traverses all the nodes at a single level/hierarchy before moving on to the next level of nodes.</a:t>
            </a:r>
          </a:p>
          <a:p>
            <a:pPr algn="just" fontAlgn="base"/>
            <a:r>
              <a:rPr lang="en-US" dirty="0"/>
              <a:t>The BFS algorithm starts at the first node (previous slide) and traverses all the nodes adjacent to 1 i.e. 2 and 3. After all the nodes at the first level are traversed, it proceeds to the next level repeating the same process.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 example - After vertices 2 and 3 are traversed, the BFS algorithm will then move to the first adjacent node of 2 i.e. 4, and traverse all its adjacent nodes. This goes on until all the nodes in the graph are searched.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6F548-B4BE-43BC-BFEA-20C800C3C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DFB7B3-156D-4636-B29D-4F6239CD6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19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B39D-766C-485C-BD90-612862E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Basic Operations in a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B2F-50D0-4E1A-A03A-20D9995D5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31F2-7AF4-4183-B49C-B46FF06A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6BEA-EE5C-445C-81D8-F717B20A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5122" name="Picture 2" descr="Depth-first search">
            <a:extLst>
              <a:ext uri="{FF2B5EF4-FFF2-40B4-BE49-F238E27FC236}">
                <a16:creationId xmlns:a16="http://schemas.microsoft.com/office/drawing/2014/main" id="{EA2770AB-3E96-4FED-ACD9-27B77215D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989" y="1219908"/>
            <a:ext cx="6870023" cy="4912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252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B39D-766C-485C-BD90-612862E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Basic Operations in a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FDB2F-50D0-4E1A-A03A-20D9995D5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This algorithm traverses the nodes in a vertical fashion. It starts with the root node and traverses one adjacent node and all its child nodes before moving on to the next adjacent node.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Example - The algorithm will start with 1 and search all the nodes connected to 2 - 4 and 5, and then move to the next adjacent node to 1 i.e. 3. The order would be given as: 1 -&gt; 2 -&gt; 4 -&gt; 5 -&gt; 3.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731F2-7AF4-4183-B49C-B46FF06A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3E6BEA-EE5C-445C-81D8-F717B20A3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32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6288-05F3-4FF3-B321-E56D063F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8B96-1EEC-4452-B92D-3002D1F2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32CD-6763-4C19-B693-EB0A31F6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B7C5-0187-46A6-9065-6593BF1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146" name="Picture 2" descr="Cyclic Graph">
            <a:extLst>
              <a:ext uri="{FF2B5EF4-FFF2-40B4-BE49-F238E27FC236}">
                <a16:creationId xmlns:a16="http://schemas.microsoft.com/office/drawing/2014/main" id="{E6E30BE1-C2A3-483C-82A8-FB392ED68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88" y="1225229"/>
            <a:ext cx="7557025" cy="493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495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6288-05F3-4FF3-B321-E56D063F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8B96-1EEC-4452-B92D-3002D1F2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As the name suggests, the vertices and edges form a cycle in a cyclic graph. The number of vertices n in a cyclic graph will always be equal to or greater than 3 (n&gt;=3), and the number of edges will also be 'n' for it to form a cycle.</a:t>
            </a:r>
            <a:br>
              <a:rPr lang="en-US" dirty="0"/>
            </a:br>
            <a:endParaRPr lang="en-US" dirty="0"/>
          </a:p>
          <a:p>
            <a:pPr algn="just" fontAlgn="base"/>
            <a:r>
              <a:rPr lang="en-US" dirty="0"/>
              <a:t>Example - A graph G that consists of n vertices (n&gt;=3) i.e. X1, X2, X3........</a:t>
            </a:r>
            <a:r>
              <a:rPr lang="en-US" dirty="0" err="1"/>
              <a:t>Xn</a:t>
            </a:r>
            <a:r>
              <a:rPr lang="en-US" dirty="0"/>
              <a:t> and edges (X1, X2), (X2, X3), (X3, X4)........(</a:t>
            </a:r>
            <a:r>
              <a:rPr lang="en-US" dirty="0" err="1"/>
              <a:t>Xn</a:t>
            </a:r>
            <a:r>
              <a:rPr lang="en-US" dirty="0"/>
              <a:t>, X1) will be a cyclic graph, since the last vertex </a:t>
            </a:r>
            <a:r>
              <a:rPr lang="en-US" dirty="0" err="1"/>
              <a:t>Xn</a:t>
            </a:r>
            <a:r>
              <a:rPr lang="en-US" dirty="0"/>
              <a:t> is also connected to X1.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32CD-6763-4C19-B693-EB0A31F6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B7C5-0187-46A6-9065-6593BF1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8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6288-05F3-4FF3-B321-E56D063F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8B96-1EEC-4452-B92D-3002D1F2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32CD-6763-4C19-B693-EB0A31F6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B7C5-0187-46A6-9065-6593BF1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7170" name="Picture 2" descr="Acyclic Graph">
            <a:extLst>
              <a:ext uri="{FF2B5EF4-FFF2-40B4-BE49-F238E27FC236}">
                <a16:creationId xmlns:a16="http://schemas.microsoft.com/office/drawing/2014/main" id="{D9B673A0-0B9B-4E84-86E7-5075A2A31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488" y="1236518"/>
            <a:ext cx="7557025" cy="4935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057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46288-05F3-4FF3-B321-E56D063F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8B96-1EEC-4452-B92D-3002D1F24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If there are no cycles present in a graph, it's an acyclic graph. 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If we start traversing the graph from point 2, we wouldn't have a path to traverse all the vertices and come back to point 2.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E32CD-6763-4C19-B693-EB0A31F6E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DB7C5-0187-46A6-9065-6593BF1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50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1FF-FF51-4152-808F-4B00B74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Representation of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C8D-7C7E-4273-9C4B-88D2D2A1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There are two major ways to do that:</a:t>
            </a:r>
          </a:p>
          <a:p>
            <a:pPr fontAlgn="base"/>
            <a:endParaRPr lang="en-US" dirty="0"/>
          </a:p>
          <a:p>
            <a:pPr marL="914400" lvl="1" indent="-514350" fontAlgn="base">
              <a:buFont typeface="+mj-lt"/>
              <a:buAutoNum type="arabicPeriod"/>
            </a:pPr>
            <a:r>
              <a:rPr lang="en-US" b="1" dirty="0"/>
              <a:t>Adjacency matrix</a:t>
            </a:r>
            <a:r>
              <a:rPr lang="en-US" dirty="0"/>
              <a:t> (Sequential representation)</a:t>
            </a:r>
          </a:p>
          <a:p>
            <a:pPr marL="914400" lvl="1" indent="-514350" fontAlgn="base">
              <a:buFont typeface="+mj-lt"/>
              <a:buAutoNum type="arabicPeriod"/>
            </a:pPr>
            <a:r>
              <a:rPr lang="en-US" b="1" dirty="0"/>
              <a:t>Adjacency list</a:t>
            </a:r>
            <a:r>
              <a:rPr lang="en-US" dirty="0"/>
              <a:t> (Linked list representation)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946F-9908-4C5B-99EB-2B510006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13F8D-515D-4991-8655-9A08D6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07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1FF-FF51-4152-808F-4B00B74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Representation of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C8D-7C7E-4273-9C4B-88D2D2A1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Adjacency matrix</a:t>
            </a:r>
          </a:p>
          <a:p>
            <a:pPr algn="just" fontAlgn="base"/>
            <a:r>
              <a:rPr lang="en-US" dirty="0"/>
              <a:t>An adjacency matrix is used to represent the mapping between vertices and edges of the graph.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It can represent the undirected graph, directed graph, weighted undirected, and weighted directed graph.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946F-9908-4C5B-99EB-2B510006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13F8D-515D-4991-8655-9A08D6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11268" name="Picture 4" descr="Example of an undirected graph, and a directed graph with weighted ...">
            <a:extLst>
              <a:ext uri="{FF2B5EF4-FFF2-40B4-BE49-F238E27FC236}">
                <a16:creationId xmlns:a16="http://schemas.microsoft.com/office/drawing/2014/main" id="{037C6E91-718D-458D-8B70-6D8BC5BDD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183" y="3517258"/>
            <a:ext cx="5533159" cy="3394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924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1FF-FF51-4152-808F-4B00B74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Representation of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C8D-7C7E-4273-9C4B-88D2D2A1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946F-9908-4C5B-99EB-2B510006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2946"/>
            <a:ext cx="2133600" cy="331932"/>
          </a:xfrm>
        </p:spPr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13F8D-515D-4991-8655-9A08D6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8194" name="Picture 2" descr="Adjacency Matrix">
            <a:extLst>
              <a:ext uri="{FF2B5EF4-FFF2-40B4-BE49-F238E27FC236}">
                <a16:creationId xmlns:a16="http://schemas.microsoft.com/office/drawing/2014/main" id="{F32261EC-F76D-4F6E-9743-666560C9C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35" y="582664"/>
            <a:ext cx="5906943" cy="623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108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1FF-FF51-4152-808F-4B00B74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Representation of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C8D-7C7E-4273-9C4B-88D2D2A1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Adjacency list</a:t>
            </a:r>
          </a:p>
          <a:p>
            <a:pPr algn="just" fontAlgn="base"/>
            <a:r>
              <a:rPr lang="en-US" dirty="0"/>
              <a:t>Adjacency list uses linked lists to represent a graph. </a:t>
            </a:r>
          </a:p>
          <a:p>
            <a:pPr algn="just" fontAlgn="base"/>
            <a:endParaRPr lang="en-US" dirty="0"/>
          </a:p>
          <a:p>
            <a:pPr algn="just" fontAlgn="base"/>
            <a:r>
              <a:rPr lang="en-US" dirty="0"/>
              <a:t>For each node in a graph, there exists a linked list that stores the node value and a pointer to the next adjacent node.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946F-9908-4C5B-99EB-2B510006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2946"/>
            <a:ext cx="2133600" cy="331932"/>
          </a:xfrm>
        </p:spPr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13F8D-515D-4991-8655-9A08D6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6330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B11FF-FF51-4152-808F-4B00B741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Representation of Graph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1DC8D-7C7E-4273-9C4B-88D2D2A15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E946F-9908-4C5B-99EB-2B510006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72946"/>
            <a:ext cx="2133600" cy="331932"/>
          </a:xfrm>
        </p:spPr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13F8D-515D-4991-8655-9A08D600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218" name="Picture 2" descr="Adjacency list">
            <a:extLst>
              <a:ext uri="{FF2B5EF4-FFF2-40B4-BE49-F238E27FC236}">
                <a16:creationId xmlns:a16="http://schemas.microsoft.com/office/drawing/2014/main" id="{DB79BB88-61B6-4DF9-8229-5F191E7A4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136" y="623455"/>
            <a:ext cx="6479886" cy="623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389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C45D-6793-4A75-B9C2-546DBC7F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- Blockchain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B695D-8110-4308-A609-61BEAA678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2C255-D1C0-4F69-BBEA-80989A1B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648F-C10C-476D-BA4E-5D96890A4ABC}" type="datetime1">
              <a:rPr lang="en-US" smtClean="0"/>
              <a:t>28-Oct-2024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26C30-90F2-407D-B3E1-89F50B5DC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2A209-9856-462B-A010-2A2374E3EB4A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42" name="Picture 2" descr="Block chain">
            <a:extLst>
              <a:ext uri="{FF2B5EF4-FFF2-40B4-BE49-F238E27FC236}">
                <a16:creationId xmlns:a16="http://schemas.microsoft.com/office/drawing/2014/main" id="{2E8557BE-24D7-439B-94B5-6F0213B53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6287"/>
            <a:ext cx="9144000" cy="5548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585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0A412-059E-4719-96A6-DE66B01C14B3}" type="datetime1">
              <a:rPr lang="en-US" smtClean="0"/>
              <a:pPr/>
              <a:t>28-Oct-2024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9B532-757F-4D00-BD97-1FEC350DEAF2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16" y="2699658"/>
            <a:ext cx="7326985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647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41a7a39-cefe-44f5-a3a8-0050e37c33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DDBCD85B0433498E6BCE505FFEC7DE" ma:contentTypeVersion="15" ma:contentTypeDescription="Create a new document." ma:contentTypeScope="" ma:versionID="528d693c7cc464012b779c9363db476b">
  <xsd:schema xmlns:xsd="http://www.w3.org/2001/XMLSchema" xmlns:xs="http://www.w3.org/2001/XMLSchema" xmlns:p="http://schemas.microsoft.com/office/2006/metadata/properties" xmlns:ns3="e41a7a39-cefe-44f5-a3a8-0050e37c33e9" targetNamespace="http://schemas.microsoft.com/office/2006/metadata/properties" ma:root="true" ma:fieldsID="1b749ea39c3268e2a9a91a038912fe54" ns3:_="">
    <xsd:import namespace="e41a7a39-cefe-44f5-a3a8-0050e37c33e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1a7a39-cefe-44f5-a3a8-0050e37c33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49042-65C2-42FE-8C8E-7D0E8A4729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207D34-F50E-4D4D-9D47-2ECFF116F129}">
  <ds:schemaRefs>
    <ds:schemaRef ds:uri="e41a7a39-cefe-44f5-a3a8-0050e37c33e9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E6FB4D-CE75-428E-8BA2-C8B22E71D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41a7a39-cefe-44f5-a3a8-0050e37c33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1665</TotalTime>
  <Words>812</Words>
  <Application>Microsoft Office PowerPoint</Application>
  <PresentationFormat>On-screen Show (4:3)</PresentationFormat>
  <Paragraphs>140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MoolBoran</vt:lpstr>
      <vt:lpstr>Office Theme</vt:lpstr>
      <vt:lpstr>Data Structures &amp; Algorithms</vt:lpstr>
      <vt:lpstr>Week-08 Agenda </vt:lpstr>
      <vt:lpstr>Graphs</vt:lpstr>
      <vt:lpstr>Graphs</vt:lpstr>
      <vt:lpstr>Graphs</vt:lpstr>
      <vt:lpstr>Graph Terminology</vt:lpstr>
      <vt:lpstr>Graph Terminology</vt:lpstr>
      <vt:lpstr>Graph Terminology</vt:lpstr>
      <vt:lpstr>Basic Operations in a Graph</vt:lpstr>
      <vt:lpstr>Basic Operations in a Graph</vt:lpstr>
      <vt:lpstr>Basic Operations in a Graph</vt:lpstr>
      <vt:lpstr>Basic Operations in a Graph</vt:lpstr>
      <vt:lpstr>Basic Operations in a Graph</vt:lpstr>
      <vt:lpstr>Basic Operations in a Graph</vt:lpstr>
      <vt:lpstr>Graph Types</vt:lpstr>
      <vt:lpstr>Graph Types</vt:lpstr>
      <vt:lpstr>Graph Types</vt:lpstr>
      <vt:lpstr>Graph Types</vt:lpstr>
      <vt:lpstr>Representation of Graph</vt:lpstr>
      <vt:lpstr>Representation of Graph</vt:lpstr>
      <vt:lpstr>Representation of Graph</vt:lpstr>
      <vt:lpstr>Representation of Graph</vt:lpstr>
      <vt:lpstr>Representation of Graph</vt:lpstr>
      <vt:lpstr>Example - Blockchain </vt:lpstr>
      <vt:lpstr>PowerPoint Presentation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Majid Kaleem</dc:creator>
  <cp:lastModifiedBy>majid kaleem BUKC</cp:lastModifiedBy>
  <cp:revision>506</cp:revision>
  <dcterms:created xsi:type="dcterms:W3CDTF">2016-10-27T12:58:45Z</dcterms:created>
  <dcterms:modified xsi:type="dcterms:W3CDTF">2024-10-28T15:46:43Z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0x0101004EDDBCD85B0433498E6BCE505FFEC7DE</vt:lpwstr>
  </property>
</Properties>
</file>