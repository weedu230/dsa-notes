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sldIdLst>
    <p:sldId id="256" r:id="rId5"/>
    <p:sldId id="257" r:id="rId6"/>
    <p:sldId id="652" r:id="rId7"/>
    <p:sldId id="653" r:id="rId8"/>
    <p:sldId id="654" r:id="rId9"/>
    <p:sldId id="655" r:id="rId10"/>
    <p:sldId id="656" r:id="rId11"/>
    <p:sldId id="657" r:id="rId12"/>
    <p:sldId id="659" r:id="rId13"/>
    <p:sldId id="658" r:id="rId14"/>
    <p:sldId id="660" r:id="rId15"/>
    <p:sldId id="665" r:id="rId16"/>
    <p:sldId id="661" r:id="rId17"/>
    <p:sldId id="668" r:id="rId18"/>
    <p:sldId id="662" r:id="rId19"/>
    <p:sldId id="666" r:id="rId20"/>
    <p:sldId id="663" r:id="rId21"/>
    <p:sldId id="667" r:id="rId22"/>
    <p:sldId id="664" r:id="rId23"/>
    <p:sldId id="650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15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6ABBB9-D43F-4F6B-B6A1-E0CDD613A533}" type="datetimeFigureOut">
              <a:rPr lang="en-US" smtClean="0"/>
              <a:pPr/>
              <a:t>05-Oct-2024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D8513B-4632-4E89-ACB7-7E7F9046F24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F71D2-D6BA-4174-87E1-0F5D0E08BB86}" type="datetime1">
              <a:rPr lang="en-US" smtClean="0"/>
              <a:t>05-Oct-2024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884"/>
            <a:ext cx="9144000" cy="530352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440363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05-Oct-2024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324600"/>
            <a:ext cx="685800" cy="396875"/>
          </a:xfrm>
        </p:spPr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053AB-C917-44B5-94A4-E19F9582D8A1}" type="datetime1">
              <a:rPr lang="en-US" smtClean="0"/>
              <a:t>05-Oct-2024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3"/>
          <p:cNvSpPr>
            <a:spLocks noGrp="1"/>
          </p:cNvSpPr>
          <p:nvPr userDrawn="1">
            <p:ph type="ftr" sz="quarter" idx="11"/>
          </p:nvPr>
        </p:nvSpPr>
        <p:spPr>
          <a:xfrm>
            <a:off x="5774871" y="6324600"/>
            <a:ext cx="2209800" cy="396875"/>
          </a:xfrm>
        </p:spPr>
        <p:txBody>
          <a:bodyPr/>
          <a:lstStyle/>
          <a:p>
            <a:r>
              <a:rPr lang="en-GB" dirty="0"/>
              <a:t>Prepared by: Engr. </a:t>
            </a:r>
            <a:r>
              <a:rPr lang="en-GB" dirty="0" err="1"/>
              <a:t>Majid</a:t>
            </a:r>
            <a:r>
              <a:rPr lang="en-GB" dirty="0"/>
              <a:t> </a:t>
            </a:r>
            <a:r>
              <a:rPr lang="en-GB" dirty="0" err="1"/>
              <a:t>Kaleem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7A969-A3A4-4905-BB3B-A1F99714489D}" type="datetime1">
              <a:rPr lang="en-US" smtClean="0"/>
              <a:t>05-Oct-2024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122F-34FE-4A32-AF1E-06D01F4AB465}" type="datetime1">
              <a:rPr lang="en-US" smtClean="0"/>
              <a:t>05-Oct-2024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9BF83-D408-43EE-8C8E-881EB30FED63}" type="datetime1">
              <a:rPr lang="en-US" smtClean="0"/>
              <a:t>05-Oct-2024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74871" y="6324600"/>
            <a:ext cx="2209800" cy="396875"/>
          </a:xfrm>
        </p:spPr>
        <p:txBody>
          <a:bodyPr/>
          <a:lstStyle/>
          <a:p>
            <a:r>
              <a:rPr lang="en-GB" dirty="0"/>
              <a:t>Prepared by: Engr. </a:t>
            </a:r>
            <a:r>
              <a:rPr lang="en-GB" dirty="0" err="1"/>
              <a:t>Majid</a:t>
            </a:r>
            <a:r>
              <a:rPr lang="en-GB" dirty="0"/>
              <a:t> </a:t>
            </a:r>
            <a:r>
              <a:rPr lang="en-GB" dirty="0" err="1"/>
              <a:t>Kaleem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324600"/>
            <a:ext cx="685800" cy="396875"/>
          </a:xfrm>
        </p:spPr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6E94-763D-4669-B6E9-51CBF0DE98F8}" type="datetime1">
              <a:rPr lang="en-US" smtClean="0"/>
              <a:t>05-Oct-2024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74871" y="6324600"/>
            <a:ext cx="2209800" cy="396875"/>
          </a:xfrm>
        </p:spPr>
        <p:txBody>
          <a:bodyPr/>
          <a:lstStyle>
            <a:lvl1pPr algn="r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/>
              <a:t>Prepared by: Engr. Majid Kaleem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324600"/>
            <a:ext cx="685800" cy="396875"/>
          </a:xfrm>
        </p:spPr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0AE6-6DBC-4573-A883-C8B56C3BA319}" type="datetime1">
              <a:rPr lang="en-US" smtClean="0"/>
              <a:t>05-Oct-2024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4DD4B-BA74-4081-9C98-F75546208E81}" type="datetime1">
              <a:rPr lang="en-US" smtClean="0"/>
              <a:t>05-Oct-2024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6D023-EB81-4F7E-BAFB-BBC0F73C5589}" type="datetime1">
              <a:rPr lang="en-US" smtClean="0"/>
              <a:t>05-Oct-2024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CAF7-3317-49F4-8BCD-6F3AFB74B952}" type="datetime1">
              <a:rPr lang="en-US" smtClean="0"/>
              <a:t>05-Oct-2024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4185C-045E-4B07-B360-1E4D0D4807A8}" type="datetime1">
              <a:rPr lang="en-US" smtClean="0"/>
              <a:t>05-Oct-2024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9600" dirty="0">
                <a:latin typeface="MoolBoran" pitchFamily="34" charset="0"/>
                <a:cs typeface="MoolBoran" pitchFamily="34" charset="0"/>
              </a:rPr>
              <a:t>Data Structures &amp; Algorithms</a:t>
            </a:r>
            <a:endParaRPr lang="en-US" sz="9600" dirty="0">
              <a:latin typeface="MoolBoran" pitchFamily="34" charset="0"/>
              <a:cs typeface="MoolBoran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267200"/>
            <a:ext cx="6400800" cy="762000"/>
          </a:xfrm>
        </p:spPr>
        <p:txBody>
          <a:bodyPr/>
          <a:lstStyle/>
          <a:p>
            <a:r>
              <a:rPr lang="en-GB" dirty="0">
                <a:solidFill>
                  <a:schemeClr val="tx2"/>
                </a:solidFill>
                <a:latin typeface="MoolBoran" pitchFamily="34" charset="0"/>
                <a:cs typeface="MoolBoran" pitchFamily="34" charset="0"/>
              </a:rPr>
              <a:t>Week-05</a:t>
            </a:r>
            <a:endParaRPr lang="en-US" dirty="0">
              <a:solidFill>
                <a:schemeClr val="tx2"/>
              </a:solidFill>
              <a:latin typeface="MoolBoran" pitchFamily="34" charset="0"/>
              <a:cs typeface="MoolBoran" pitchFamily="34" charset="0"/>
            </a:endParaRPr>
          </a:p>
        </p:txBody>
      </p:sp>
      <p:pic>
        <p:nvPicPr>
          <p:cNvPr id="6" name="Picture 5" descr="logo5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86" y="0"/>
            <a:ext cx="2729014" cy="77821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A0F576E-2ADB-4177-AB0E-A05B1562F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753D-90AF-4F2E-8EC7-13C4E2C1D86D}" type="datetime1">
              <a:rPr lang="en-US" smtClean="0"/>
              <a:t>05-Oct-2024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763651-B497-4529-9AFF-59636D16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25880-FFD1-48AE-9982-FCB0F658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Week-04 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1AD53-70E4-4DB2-B00E-814D78E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Tree Data Structure</a:t>
            </a:r>
            <a:endParaRPr lang="en-PK" dirty="0"/>
          </a:p>
          <a:p>
            <a:endParaRPr lang="en-PK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305886E-6EB7-4207-A593-4BEE2572D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4183C-BF88-40F9-A1FD-0C096233229E}" type="datetime1">
              <a:rPr lang="en-US" smtClean="0"/>
              <a:t>05-Oct-2024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03029-7C99-49DA-875E-D7B85E2B9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301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0B519-18AE-41DC-AD92-39B57E47C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Hierarchical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1B6A3-FA36-4EE1-9B52-4EB793683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 </a:t>
            </a:r>
            <a:r>
              <a:rPr lang="en-US" b="1" dirty="0"/>
              <a:t>Tree Data Structure: </a:t>
            </a:r>
          </a:p>
          <a:p>
            <a:r>
              <a:rPr lang="en-US" dirty="0"/>
              <a:t>A tree is a nonlinear hierarchical data structure that consists of nodes connected by edges.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722E5-7FBB-4612-A49C-1526902DD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05-Oct-2024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0A8643-9154-4FFE-8E38-ABC6116A8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026" name="Picture 2" descr="tree in data structure">
            <a:extLst>
              <a:ext uri="{FF2B5EF4-FFF2-40B4-BE49-F238E27FC236}">
                <a16:creationId xmlns:a16="http://schemas.microsoft.com/office/drawing/2014/main" id="{9F9A1CAC-4951-400A-B7A5-3633317F8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7728" y="2008909"/>
            <a:ext cx="3948545" cy="4849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909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79DEA-EB9A-4CD0-BA61-9F63DD654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Why Tree Data Structure?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19C0D-6276-4788-B6F8-5A769DD70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Other data structures such as arrays, linked list, stack, and queue are linear data structures that store data sequentially.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In order to perform any operation in a linear data structure, the time complexity increases with the increase in the data size.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But, it is not acceptable in today's computational world.</a:t>
            </a:r>
          </a:p>
          <a:p>
            <a:pPr algn="just"/>
            <a:r>
              <a:rPr lang="en-US" dirty="0"/>
              <a:t>Different tree data structures allow quicker and easier access to the data as it is a non-linear data structure.</a:t>
            </a:r>
          </a:p>
          <a:p>
            <a:pPr algn="just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2CFD4-A8EF-45EF-889A-631B976E3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05-Oct-2024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6B15AE-7977-4C71-B85F-A21CA050E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047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281D8-C651-4874-9BD9-14E0BDEDA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Tree Terminologies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69696-B8F3-4E27-9862-EE2ABFB72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Node</a:t>
            </a:r>
          </a:p>
          <a:p>
            <a:pPr algn="just"/>
            <a:r>
              <a:rPr lang="en-US" dirty="0"/>
              <a:t>A node is an entity that contains a key or value and pointers to its child nodes.</a:t>
            </a:r>
          </a:p>
          <a:p>
            <a:pPr algn="just"/>
            <a:r>
              <a:rPr lang="en-US" dirty="0"/>
              <a:t>The last nodes of each path are called </a:t>
            </a:r>
            <a:r>
              <a:rPr lang="en-US" b="1" dirty="0"/>
              <a:t>leaf nodes or external nodes</a:t>
            </a:r>
            <a:r>
              <a:rPr lang="en-US" dirty="0"/>
              <a:t> that do not contain a link/pointer to child nodes.</a:t>
            </a:r>
          </a:p>
          <a:p>
            <a:pPr algn="just"/>
            <a:r>
              <a:rPr lang="en-US" dirty="0"/>
              <a:t>The node having at least a child node is called an </a:t>
            </a:r>
            <a:r>
              <a:rPr lang="en-US" b="1" dirty="0"/>
              <a:t>internal node</a:t>
            </a:r>
            <a:r>
              <a:rPr lang="en-US" dirty="0"/>
              <a:t>.</a:t>
            </a:r>
          </a:p>
          <a:p>
            <a:pPr algn="just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B8C89-35AF-474C-955A-1C8562CDA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05-Oct-2024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30D49D-4CA6-4B4A-8B04-D9ACB1992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641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281D8-C651-4874-9BD9-14E0BDEDA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Tree Terminologies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69696-B8F3-4E27-9862-EE2ABFB72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Edge</a:t>
            </a:r>
            <a:endParaRPr lang="en-US" dirty="0"/>
          </a:p>
          <a:p>
            <a:r>
              <a:rPr lang="en-US" dirty="0"/>
              <a:t>It is the link between any two nodes.</a:t>
            </a:r>
          </a:p>
          <a:p>
            <a:pPr algn="just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B8C89-35AF-474C-955A-1C8562CDA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05-Oct-2024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30D49D-4CA6-4B4A-8B04-D9ACB1992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9964E7-FEC3-46C1-BE9F-7630B925F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00" y="1371600"/>
            <a:ext cx="77978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886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7D080-04DF-418C-B137-DDA9877E9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Tree Terminologies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35813-14AD-4119-BA4E-2066737B5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Root</a:t>
            </a:r>
          </a:p>
          <a:p>
            <a:r>
              <a:rPr lang="en-US" dirty="0"/>
              <a:t>It is the topmost node of a tree.</a:t>
            </a:r>
          </a:p>
          <a:p>
            <a:r>
              <a:rPr lang="en-US" b="1" dirty="0"/>
              <a:t>Height of a Node</a:t>
            </a:r>
          </a:p>
          <a:p>
            <a:r>
              <a:rPr lang="en-US" dirty="0"/>
              <a:t>The height of a node is the number of edges from the node to the deepest leaf (</a:t>
            </a:r>
            <a:r>
              <a:rPr lang="en-US" dirty="0" err="1"/>
              <a:t>ie</a:t>
            </a:r>
            <a:r>
              <a:rPr lang="en-US" dirty="0"/>
              <a:t>. the longest path from the node to a leaf node).</a:t>
            </a:r>
          </a:p>
          <a:p>
            <a:r>
              <a:rPr lang="en-US" b="1" dirty="0"/>
              <a:t>Depth of a Node</a:t>
            </a:r>
          </a:p>
          <a:p>
            <a:r>
              <a:rPr lang="en-US" dirty="0"/>
              <a:t>The depth of a node is the number of edges from the root to the node.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B9F62-5C83-4638-B949-941AD7428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05-Oct-2024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1530D1-1686-435F-B249-5E88E6AF5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323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09789-34D4-46A2-A7CC-D2B41D4CB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Tree Terminologies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3CA94-6CA8-433A-8D3A-89579E51B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Height of a Tree</a:t>
            </a:r>
          </a:p>
          <a:p>
            <a:r>
              <a:rPr lang="en-US" dirty="0"/>
              <a:t>The height of a Tree is the height of the root node or the depth of the deepest node.</a:t>
            </a:r>
          </a:p>
          <a:p>
            <a:r>
              <a:rPr lang="en-US" b="1" dirty="0"/>
              <a:t>Degree of a Node</a:t>
            </a:r>
          </a:p>
          <a:p>
            <a:r>
              <a:rPr lang="en-US" dirty="0"/>
              <a:t>The degree of a node is the total number of branches of that node.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FD84D-8B23-4BEF-9820-014F04A6E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05-Oct-2024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A1236-5B6E-4F2B-98AF-E7DF7891E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EFD672-EC50-4CF3-9B67-B680CEB719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528" y="2986839"/>
            <a:ext cx="4168944" cy="387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13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09789-34D4-46A2-A7CC-D2B41D4CB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Tree Terminologies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3CA94-6CA8-433A-8D3A-89579E51B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FD84D-8B23-4BEF-9820-014F04A6E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05-Oct-2024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A1236-5B6E-4F2B-98AF-E7DF7891E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F75BD7-C22B-4BA7-920C-873C4475C1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8760"/>
            <a:ext cx="9144000" cy="384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086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29584-D321-46C9-B4E3-EF11D4158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Types of Tree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A38DF-330B-4864-8050-3BA1F4857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Binary Tree</a:t>
            </a:r>
          </a:p>
          <a:p>
            <a:r>
              <a:rPr lang="en-US" dirty="0"/>
              <a:t>Binary Search Tree</a:t>
            </a:r>
          </a:p>
          <a:p>
            <a:r>
              <a:rPr lang="en-US" dirty="0"/>
              <a:t>AVL Tree</a:t>
            </a:r>
          </a:p>
          <a:p>
            <a:r>
              <a:rPr lang="en-US" dirty="0"/>
              <a:t>B-Tree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8FD72-6FCD-4828-998F-9E48DB59B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05-Oct-2024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F1178A-C8F0-4692-A4FE-C88FDC120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060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0FA48-DEB5-4F2D-B30B-998A4ADE7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Binary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7797D-627B-4A5F-A62E-600F7CB5A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At most 2 children per node.</a:t>
            </a:r>
          </a:p>
          <a:p>
            <a:pPr algn="just"/>
            <a:r>
              <a:rPr lang="en-US" dirty="0"/>
              <a:t>Can be empty (no nodes).</a:t>
            </a:r>
          </a:p>
          <a:p>
            <a:pPr algn="just"/>
            <a:r>
              <a:rPr lang="en-US" dirty="0"/>
              <a:t>Can be filled or unfilled.</a:t>
            </a:r>
          </a:p>
          <a:p>
            <a:pPr algn="just"/>
            <a:r>
              <a:rPr lang="en-US" b="1" dirty="0"/>
              <a:t>Representation</a:t>
            </a:r>
          </a:p>
          <a:p>
            <a:pPr lvl="1" algn="just"/>
            <a:r>
              <a:rPr lang="en-US" dirty="0"/>
              <a:t>Array Representation: Suitable for complete binary trees. The root is at index 0, left child at index 2*</a:t>
            </a:r>
            <a:r>
              <a:rPr lang="en-US" dirty="0" err="1"/>
              <a:t>i</a:t>
            </a:r>
            <a:r>
              <a:rPr lang="en-US" dirty="0"/>
              <a:t> + 1, and right child at 2*</a:t>
            </a:r>
            <a:r>
              <a:rPr lang="en-US" dirty="0" err="1"/>
              <a:t>i</a:t>
            </a:r>
            <a:r>
              <a:rPr lang="en-US" dirty="0"/>
              <a:t> + 2.</a:t>
            </a:r>
          </a:p>
          <a:p>
            <a:pPr lvl="1" algn="just"/>
            <a:r>
              <a:rPr lang="en-US" dirty="0"/>
              <a:t>Linked Representation: Each node is an object with properties for value and pointers to left and right children.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ACBFD-ED0F-4F9F-8F10-0F9C95A60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05-Oct-2024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9E19CB-7CB0-468C-8F72-9A195EA70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455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0FA48-DEB5-4F2D-B30B-998A4ADE7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Binary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7797D-627B-4A5F-A62E-600F7CB5A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ACBFD-ED0F-4F9F-8F10-0F9C95A60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05-Oct-2024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9E19CB-7CB0-468C-8F72-9A195EA70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5122" name="Picture 2" descr="Binary Tree And Its Types In Data Structure | LearnLoner">
            <a:extLst>
              <a:ext uri="{FF2B5EF4-FFF2-40B4-BE49-F238E27FC236}">
                <a16:creationId xmlns:a16="http://schemas.microsoft.com/office/drawing/2014/main" id="{69F2B920-A0FA-44D0-A41A-BC0BFDE515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394" y="1296725"/>
            <a:ext cx="7271212" cy="426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4504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0FA48-DEB5-4F2D-B30B-998A4ADE7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Binary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7797D-627B-4A5F-A62E-600F7CB5A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Traversal Methods</a:t>
            </a:r>
          </a:p>
          <a:p>
            <a:pPr lvl="1"/>
            <a:r>
              <a:rPr lang="en-US" b="1" dirty="0" err="1"/>
              <a:t>Inorder</a:t>
            </a:r>
            <a:r>
              <a:rPr lang="en-US" b="1" dirty="0"/>
              <a:t> (Left, Root, Right)</a:t>
            </a:r>
            <a:r>
              <a:rPr lang="en-US" dirty="0"/>
              <a:t>: Visit left subtree, root, right subtree.</a:t>
            </a:r>
          </a:p>
          <a:p>
            <a:pPr lvl="1"/>
            <a:r>
              <a:rPr lang="en-US" b="1" dirty="0"/>
              <a:t>Preorder (Root, Left, Right)</a:t>
            </a:r>
            <a:r>
              <a:rPr lang="en-US" dirty="0"/>
              <a:t>: Visit root, left subtree, right subtree.</a:t>
            </a:r>
          </a:p>
          <a:p>
            <a:pPr lvl="1"/>
            <a:r>
              <a:rPr lang="en-US" b="1" dirty="0" err="1"/>
              <a:t>Postorder</a:t>
            </a:r>
            <a:r>
              <a:rPr lang="en-US" b="1" dirty="0"/>
              <a:t> (Left, Right, Root)</a:t>
            </a:r>
            <a:r>
              <a:rPr lang="en-US" dirty="0"/>
              <a:t>: Visit left subtree, right subtree, root.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ACBFD-ED0F-4F9F-8F10-0F9C95A60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05-Oct-2024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9E19CB-7CB0-468C-8F72-9A195EA70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269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0FA48-DEB5-4F2D-B30B-998A4ADE7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Binary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7797D-627B-4A5F-A62E-600F7CB5A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ACBFD-ED0F-4F9F-8F10-0F9C95A60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05-Oct-2024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9E19CB-7CB0-468C-8F72-9A195EA70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4E8BBA-6E7E-448E-AE9A-5D3ED8464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5934"/>
            <a:ext cx="9144000" cy="2386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092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D123-E03A-4163-B3F6-64743EC53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Binary Search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12A02-EA88-4B58-8756-AFC44CA66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Efficient for searching, inserting, and deleting nodes.</a:t>
            </a:r>
          </a:p>
          <a:p>
            <a:r>
              <a:rPr lang="en-US" dirty="0"/>
              <a:t>Maintains sorted order.</a:t>
            </a:r>
          </a:p>
          <a:p>
            <a:r>
              <a:rPr lang="en-US" b="1" dirty="0"/>
              <a:t>Operations</a:t>
            </a:r>
          </a:p>
          <a:p>
            <a:pPr lvl="1"/>
            <a:r>
              <a:rPr lang="en-US" dirty="0"/>
              <a:t>Insertion: Start at the root; if the value is less, go left; if greater, go right.</a:t>
            </a:r>
          </a:p>
          <a:p>
            <a:pPr lvl="1"/>
            <a:r>
              <a:rPr lang="en-US" dirty="0"/>
              <a:t>Searching: Similar to insertion; traverse the tree based on the value.</a:t>
            </a:r>
          </a:p>
          <a:p>
            <a:pPr lvl="1"/>
            <a:r>
              <a:rPr lang="en-US" dirty="0"/>
              <a:t>Deletion:</a:t>
            </a:r>
          </a:p>
          <a:p>
            <a:pPr lvl="2"/>
            <a:r>
              <a:rPr lang="en-US" dirty="0"/>
              <a:t>If the node is a leaf, remove it.</a:t>
            </a:r>
          </a:p>
          <a:p>
            <a:pPr lvl="2"/>
            <a:r>
              <a:rPr lang="en-US" dirty="0"/>
              <a:t>If it has one child, connect the parent to the child.</a:t>
            </a:r>
          </a:p>
          <a:p>
            <a:pPr lvl="2"/>
            <a:r>
              <a:rPr lang="en-US" dirty="0"/>
              <a:t>If it has two children, find the in-order successor, replace the value, and delete the successor.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5A2D2-987F-445D-A13F-1A394BB1E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05-Oct-2024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0AE6BF-8C8E-4C9C-BE38-E82733402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3190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D123-E03A-4163-B3F6-64743EC53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Binary Search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12A02-EA88-4B58-8756-AFC44CA66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5A2D2-987F-445D-A13F-1A394BB1E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05-Oct-2024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0AE6BF-8C8E-4C9C-BE38-E82733402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6146" name="Picture 2" descr="Data Structures Tutorials - Binary Search Tree | example | BST Operations">
            <a:extLst>
              <a:ext uri="{FF2B5EF4-FFF2-40B4-BE49-F238E27FC236}">
                <a16:creationId xmlns:a16="http://schemas.microsoft.com/office/drawing/2014/main" id="{82F68C24-1073-4DEF-9765-7757AB761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2069" y="699165"/>
            <a:ext cx="4858275" cy="5667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842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E0CA0-5F69-4EEE-B7F7-66BC82601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AVL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09D6D-0426-4DDA-85F2-D2606F5EC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7912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An AVL Tree is a self-balancing binary search tree where the difference in heights between the left and right subtrees (balance factor) is at most 1 for all nodes.</a:t>
            </a:r>
          </a:p>
          <a:p>
            <a:r>
              <a:rPr lang="en-US" dirty="0"/>
              <a:t>Balance Factor</a:t>
            </a:r>
          </a:p>
          <a:p>
            <a:r>
              <a:rPr lang="en-US" dirty="0"/>
              <a:t>Balance Factor (BF) = Height of left subtree - Height of right subtree</a:t>
            </a:r>
          </a:p>
          <a:p>
            <a:r>
              <a:rPr lang="en-US" dirty="0"/>
              <a:t>BF can be -1, 0, or 1 for a balanced AVL tree.</a:t>
            </a:r>
          </a:p>
          <a:p>
            <a:r>
              <a:rPr lang="en-US" b="1" dirty="0"/>
              <a:t>Rotations</a:t>
            </a:r>
          </a:p>
          <a:p>
            <a:pPr lvl="1"/>
            <a:r>
              <a:rPr lang="en-US" dirty="0"/>
              <a:t>To maintain balance during insertion and deletion, AVL trees perform rotations:</a:t>
            </a:r>
          </a:p>
          <a:p>
            <a:pPr lvl="1"/>
            <a:r>
              <a:rPr lang="en-US" dirty="0"/>
              <a:t>Right Rotation: Used when a left-left case occurs.</a:t>
            </a:r>
          </a:p>
          <a:p>
            <a:pPr lvl="1"/>
            <a:r>
              <a:rPr lang="en-US" dirty="0"/>
              <a:t>Left Rotation: Used when a right-right case occurs.</a:t>
            </a:r>
          </a:p>
          <a:p>
            <a:pPr lvl="1"/>
            <a:r>
              <a:rPr lang="en-US" dirty="0"/>
              <a:t>Left-Right Rotation: Used when a left-right case occurs.</a:t>
            </a:r>
          </a:p>
          <a:p>
            <a:pPr lvl="1"/>
            <a:r>
              <a:rPr lang="en-US" dirty="0"/>
              <a:t>Right-Left Rotation: Used when a right-left case occurs.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8C038-124F-4B27-B005-F478F03C0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05-Oct-2024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FE354F-57C9-48DE-8A27-B3EBF4F6E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6950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B3C56-626F-485E-9B63-DE91795F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AVL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15288-D8FA-456F-A0E6-915939E13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2BA59-88DE-49CA-920E-E3BA1BBDE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05-Oct-2024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CA609B-EA6C-4273-ACD2-95F8652B3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7170" name="Picture 2" descr="AVL Tree Applications - javatpoint">
            <a:extLst>
              <a:ext uri="{FF2B5EF4-FFF2-40B4-BE49-F238E27FC236}">
                <a16:creationId xmlns:a16="http://schemas.microsoft.com/office/drawing/2014/main" id="{A601E058-A580-4D30-9C25-94EF9DD60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975" y="1762125"/>
            <a:ext cx="573405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55278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E0CA0-5F69-4EEE-B7F7-66BC82601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AVL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09D6D-0426-4DDA-85F2-D2606F5EC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791200"/>
          </a:xfrm>
        </p:spPr>
        <p:txBody>
          <a:bodyPr>
            <a:normAutofit/>
          </a:bodyPr>
          <a:lstStyle/>
          <a:p>
            <a:r>
              <a:rPr lang="en-US" b="1" dirty="0"/>
              <a:t>Insertion and Deletion</a:t>
            </a:r>
          </a:p>
          <a:p>
            <a:pPr lvl="1"/>
            <a:r>
              <a:rPr lang="en-US" dirty="0"/>
              <a:t>Insert the node as in a BST.</a:t>
            </a:r>
          </a:p>
          <a:p>
            <a:pPr lvl="1"/>
            <a:r>
              <a:rPr lang="en-US" dirty="0"/>
              <a:t>Update the heights and balance factors of nodes.</a:t>
            </a:r>
          </a:p>
          <a:p>
            <a:pPr lvl="1"/>
            <a:r>
              <a:rPr lang="en-US" dirty="0"/>
              <a:t>Perform rotations if necessary to maintain balance.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8C038-124F-4B27-B005-F478F03C0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05-Oct-2024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FE354F-57C9-48DE-8A27-B3EBF4F6E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0208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A412-059E-4719-96A6-DE66B01C14B3}" type="datetime1">
              <a:rPr lang="en-US" smtClean="0"/>
              <a:pPr/>
              <a:t>05-Oct-2024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B532-757F-4D00-BD97-1FEC350DEAF2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516" y="2699658"/>
            <a:ext cx="7326985" cy="13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647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DDBCD85B0433498E6BCE505FFEC7DE" ma:contentTypeVersion="15" ma:contentTypeDescription="Create a new document." ma:contentTypeScope="" ma:versionID="528d693c7cc464012b779c9363db476b">
  <xsd:schema xmlns:xsd="http://www.w3.org/2001/XMLSchema" xmlns:xs="http://www.w3.org/2001/XMLSchema" xmlns:p="http://schemas.microsoft.com/office/2006/metadata/properties" xmlns:ns3="e41a7a39-cefe-44f5-a3a8-0050e37c33e9" targetNamespace="http://schemas.microsoft.com/office/2006/metadata/properties" ma:root="true" ma:fieldsID="1b749ea39c3268e2a9a91a038912fe54" ns3:_="">
    <xsd:import namespace="e41a7a39-cefe-44f5-a3a8-0050e37c33e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1a7a39-cefe-44f5-a3a8-0050e37c33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41a7a39-cefe-44f5-a3a8-0050e37c33e9" xsi:nil="true"/>
  </documentManagement>
</p:properties>
</file>

<file path=customXml/itemProps1.xml><?xml version="1.0" encoding="utf-8"?>
<ds:datastoreItem xmlns:ds="http://schemas.openxmlformats.org/officeDocument/2006/customXml" ds:itemID="{6A849042-65C2-42FE-8C8E-7D0E8A4729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EE6FB4D-CE75-428E-8BA2-C8B22E71D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41a7a39-cefe-44f5-a3a8-0050e37c33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E207D34-F50E-4D4D-9D47-2ECFF116F129}">
  <ds:schemaRefs>
    <ds:schemaRef ds:uri="http://schemas.microsoft.com/office/2006/metadata/properties"/>
    <ds:schemaRef ds:uri="http://www.w3.org/XML/1998/namespace"/>
    <ds:schemaRef ds:uri="http://purl.org/dc/elements/1.1/"/>
    <ds:schemaRef ds:uri="e41a7a39-cefe-44f5-a3a8-0050e37c33e9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1464</TotalTime>
  <Words>697</Words>
  <Application>Microsoft Office PowerPoint</Application>
  <PresentationFormat>On-screen Show (4:3)</PresentationFormat>
  <Paragraphs>122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MoolBoran</vt:lpstr>
      <vt:lpstr>Office Theme</vt:lpstr>
      <vt:lpstr>Data Structures &amp; Algorithms</vt:lpstr>
      <vt:lpstr>Week-04 Agenda </vt:lpstr>
      <vt:lpstr>Hierarchical Data Structure</vt:lpstr>
      <vt:lpstr>Why Tree Data Structure?</vt:lpstr>
      <vt:lpstr>Tree Terminologies</vt:lpstr>
      <vt:lpstr>Tree Terminologies</vt:lpstr>
      <vt:lpstr>Tree Terminologies</vt:lpstr>
      <vt:lpstr>Tree Terminologies</vt:lpstr>
      <vt:lpstr>Tree Terminologies</vt:lpstr>
      <vt:lpstr>Types of Tree</vt:lpstr>
      <vt:lpstr>Binary Tree</vt:lpstr>
      <vt:lpstr>Binary Tree</vt:lpstr>
      <vt:lpstr>Binary Tree</vt:lpstr>
      <vt:lpstr>Binary Tree</vt:lpstr>
      <vt:lpstr>Binary Search Trees</vt:lpstr>
      <vt:lpstr>Binary Search Trees</vt:lpstr>
      <vt:lpstr>AVL Trees</vt:lpstr>
      <vt:lpstr>AVL Trees</vt:lpstr>
      <vt:lpstr>AVL Trees</vt:lpstr>
      <vt:lpstr>PowerPoint Presentation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Majid Kaleem</dc:creator>
  <cp:lastModifiedBy>majid kaleem BUKC</cp:lastModifiedBy>
  <cp:revision>383</cp:revision>
  <dcterms:created xsi:type="dcterms:W3CDTF">2016-10-27T12:58:45Z</dcterms:created>
  <dcterms:modified xsi:type="dcterms:W3CDTF">2024-10-05T18:11:23Z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0x0101004EDDBCD85B0433498E6BCE505FFEC7DE</vt:lpwstr>
  </property>
</Properties>
</file>