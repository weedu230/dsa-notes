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90" r:id="rId7"/>
    <p:sldId id="292" r:id="rId8"/>
    <p:sldId id="291" r:id="rId9"/>
    <p:sldId id="293" r:id="rId10"/>
    <p:sldId id="305" r:id="rId11"/>
    <p:sldId id="306" r:id="rId12"/>
    <p:sldId id="307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8" autoAdjust="0"/>
    <p:restoredTop sz="94660"/>
  </p:normalViewPr>
  <p:slideViewPr>
    <p:cSldViewPr>
      <p:cViewPr varScale="1">
        <p:scale>
          <a:sx n="79" d="100"/>
          <a:sy n="79" d="100"/>
        </p:scale>
        <p:origin x="11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ABBB9-D43F-4F6B-B6A1-E0CDD613A533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8513B-4632-4E89-ACB7-7E7F9046F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F71D2-D6BA-4174-87E1-0F5D0E08BB86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884"/>
            <a:ext cx="9144000" cy="530352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40363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53AB-C917-44B5-94A4-E19F9582D8A1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 userDrawn="1"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7A969-A3A4-4905-BB3B-A1F99714489D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122F-34FE-4A32-AF1E-06D01F4AB465}" type="datetime1">
              <a:rPr lang="en-US" smtClean="0"/>
              <a:t>16-Sep-2025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BF83-D408-43EE-8C8E-881EB30FED63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6E94-763D-4669-B6E9-51CBF0DE98F8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AE6-6DBC-4573-A883-C8B56C3BA319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DD4B-BA74-4081-9C98-F75546208E81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6D023-EB81-4F7E-BAFB-BBC0F73C5589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CAF7-3317-49F4-8BCD-6F3AFB74B952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4185C-045E-4B07-B360-1E4D0D4807A8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9600" dirty="0">
                <a:latin typeface="MoolBoran" pitchFamily="34" charset="0"/>
                <a:cs typeface="MoolBoran" pitchFamily="34" charset="0"/>
              </a:rPr>
              <a:t>Data Structures &amp; Algorithms</a:t>
            </a:r>
            <a:endParaRPr lang="en-US" sz="9600" dirty="0">
              <a:latin typeface="MoolBoran" pitchFamily="34" charset="0"/>
              <a:cs typeface="MoolBoran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762000"/>
          </a:xfrm>
        </p:spPr>
        <p:txBody>
          <a:bodyPr/>
          <a:lstStyle/>
          <a:p>
            <a:r>
              <a:rPr lang="en-GB">
                <a:solidFill>
                  <a:schemeClr val="tx2"/>
                </a:solidFill>
                <a:latin typeface="MoolBoran" pitchFamily="34" charset="0"/>
                <a:cs typeface="MoolBoran" pitchFamily="34" charset="0"/>
              </a:rPr>
              <a:t>Week-13</a:t>
            </a:r>
            <a:endParaRPr lang="en-US" dirty="0">
              <a:solidFill>
                <a:schemeClr val="tx2"/>
              </a:solidFill>
              <a:latin typeface="MoolBoran" pitchFamily="34" charset="0"/>
              <a:cs typeface="MoolBoran" pitchFamily="34" charset="0"/>
            </a:endParaRPr>
          </a:p>
        </p:txBody>
      </p:sp>
      <p:pic>
        <p:nvPicPr>
          <p:cNvPr id="6" name="Picture 5" descr="logo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6" y="0"/>
            <a:ext cx="2729014" cy="7782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0F576E-2ADB-4177-AB0E-A05B1562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753D-90AF-4F2E-8EC7-13C4E2C1D86D}" type="datetime1">
              <a:rPr lang="en-US" smtClean="0"/>
              <a:t>16-Sep-2025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63651-B497-4529-9AFF-59636D16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Week-13 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7250" lvl="1" indent="-457200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Greedy Algorithm</a:t>
            </a:r>
          </a:p>
          <a:p>
            <a:pPr lvl="1" fontAlgn="base"/>
            <a:r>
              <a:rPr lang="en-US" sz="2000" dirty="0"/>
              <a:t>Huffman Coding</a:t>
            </a:r>
          </a:p>
          <a:p>
            <a:pPr marL="857250" lvl="1" indent="-457200">
              <a:buFont typeface="+mj-lt"/>
              <a:buAutoNum type="arabicPeriod"/>
            </a:pP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D765-3DAC-41AC-BD34-46D549CE7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BD65E-F3A1-45FF-A39E-41DE24CAC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greedy algorithm is an approach for solving a problem by selecting the best option available. It doesn't worry whether the current best result will bring optimal results.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algorithm never reverses the earlier decision even if the choice is wrong. It works in a top-down approach.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algorithm may not produce the best result for all the problems. It's because it always goes for the best local choice to produce the global best result.</a:t>
            </a:r>
          </a:p>
          <a:p>
            <a:pPr algn="just">
              <a:lnSpc>
                <a:spcPct val="115000"/>
              </a:lnSpc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6A869-E79E-4326-B6B9-3D30B5488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8AD4B-A1A1-4D97-801F-9E7C8EB3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70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D765-3DAC-41AC-BD34-46D549CE7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BD65E-F3A1-45FF-A39E-41DE24CAC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greedy algorithm is an approach for solving a problem by selecting the best option available. It doesn't worry whether the current best result will bring optimal results.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algorithm never reverses the earlier decision even if the choice is wrong. It works in a top-down approach.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algorithm may not produce the best result for all the problems. It's because it always goes for the best local choice to produce the global best result.</a:t>
            </a:r>
          </a:p>
          <a:p>
            <a:pPr algn="just">
              <a:lnSpc>
                <a:spcPct val="115000"/>
              </a:lnSpc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6A869-E79E-4326-B6B9-3D30B5488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8AD4B-A1A1-4D97-801F-9E7C8EB3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06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C2AD5-FF41-457A-B9D1-E0D3A819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A0AFC-923E-4E55-A38D-7E14F6077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CF15F-5CCF-4BB9-A085-3862A9089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EEB20-48EA-4DAB-AB82-DFF87490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4" name="Picture 2" descr="What is Greedy Algorithm: Example, Applications and More | Simplilearn">
            <a:extLst>
              <a:ext uri="{FF2B5EF4-FFF2-40B4-BE49-F238E27FC236}">
                <a16:creationId xmlns:a16="http://schemas.microsoft.com/office/drawing/2014/main" id="{954287B9-40ED-44C4-AF9F-C23DE9327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5063"/>
            <a:ext cx="9144000" cy="458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919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8566-9334-4232-AF6D-80928BDA9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Huffman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E3CD3-4F01-44BA-B0CC-AFFA65779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Huffman Coding is a technique of compressing data to reduce its size without losing any of the details. It was first developed by David Huffman.</a:t>
            </a:r>
          </a:p>
          <a:p>
            <a:endParaRPr lang="en-US" dirty="0"/>
          </a:p>
          <a:p>
            <a:r>
              <a:rPr lang="en-US" dirty="0"/>
              <a:t>Huffman Coding is generally useful to compress the data in which there are frequently occurring characters.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8B3C-411D-42E2-B335-410FDA75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1979F-4EA3-4ABB-A9AB-67BEF793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29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8566-9334-4232-AF6D-80928BDA9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E3CD3-4F01-44BA-B0CC-AFFA65779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Frequency Calculation:</a:t>
            </a:r>
          </a:p>
          <a:p>
            <a:pPr lvl="1"/>
            <a:r>
              <a:rPr lang="en-US" dirty="0"/>
              <a:t>Count the frequency of each character in the input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Priority Queue:</a:t>
            </a:r>
          </a:p>
          <a:p>
            <a:pPr lvl="1"/>
            <a:r>
              <a:rPr lang="en-US" dirty="0"/>
              <a:t>Use the frequencies to create a priority queue (or min-heap) where each node represents a character and its frequency.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Build the Huffman Tree:</a:t>
            </a:r>
          </a:p>
          <a:p>
            <a:pPr lvl="1"/>
            <a:r>
              <a:rPr lang="en-US" dirty="0"/>
              <a:t>While there is more than one node in the queue:</a:t>
            </a:r>
          </a:p>
          <a:p>
            <a:pPr lvl="2"/>
            <a:r>
              <a:rPr lang="en-US" dirty="0"/>
              <a:t>Remove the two nodes with the lowest frequencies.</a:t>
            </a:r>
          </a:p>
          <a:p>
            <a:pPr lvl="2"/>
            <a:r>
              <a:rPr lang="en-US" dirty="0"/>
              <a:t>Create a new internal node with these two nodes as children and a frequency equal to the sum of their frequencies.</a:t>
            </a:r>
          </a:p>
          <a:p>
            <a:pPr lvl="2"/>
            <a:r>
              <a:rPr lang="en-US" dirty="0"/>
              <a:t>Insert the new node back into the queue.</a:t>
            </a:r>
          </a:p>
          <a:p>
            <a:pPr lvl="1"/>
            <a:r>
              <a:rPr lang="en-US" dirty="0"/>
              <a:t>The remaining node is the root of the Huffman tree.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8B3C-411D-42E2-B335-410FDA75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1979F-4EA3-4ABB-A9AB-67BEF793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06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8566-9334-4232-AF6D-80928BDA9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E3CD3-4F01-44BA-B0CC-AFFA65779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Generate Codes:</a:t>
            </a:r>
          </a:p>
          <a:p>
            <a:pPr marL="914400" lvl="1" indent="-514350"/>
            <a:r>
              <a:rPr lang="en-US" dirty="0"/>
              <a:t>Traverse the Huffman tree to assign codes to each character:</a:t>
            </a:r>
          </a:p>
          <a:p>
            <a:pPr marL="1314450" lvl="2" indent="-514350"/>
            <a:r>
              <a:rPr lang="en-US" dirty="0"/>
              <a:t>Assign a '0' for a left branch and a '1' for a right branch.</a:t>
            </a:r>
          </a:p>
          <a:p>
            <a:pPr marL="1314450" lvl="2" indent="-514350"/>
            <a:r>
              <a:rPr lang="en-US" dirty="0"/>
              <a:t>The path from the root to a character gives its binary code.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Encode the Input Data:</a:t>
            </a:r>
          </a:p>
          <a:p>
            <a:pPr marL="914400" lvl="1" indent="-514350"/>
            <a:r>
              <a:rPr lang="en-US" dirty="0"/>
              <a:t>Replace each character in the input data with its corresponding Huffman code to generate the encoded output.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8B3C-411D-42E2-B335-410FDA75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1979F-4EA3-4ABB-A9AB-67BEF793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3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8566-9334-4232-AF6D-80928BDA9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E3CD3-4F01-44BA-B0CC-AFFA65779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7912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 the Huffman Tree:</a:t>
            </a:r>
          </a:p>
          <a:p>
            <a:pPr marL="914400" lvl="1" indent="-514350"/>
            <a:r>
              <a:rPr lang="en-US" dirty="0"/>
              <a:t>Start with the root of the Huffman tree.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Read the Encoded Data:</a:t>
            </a:r>
          </a:p>
          <a:p>
            <a:pPr marL="914400" lvl="1" indent="-514350"/>
            <a:r>
              <a:rPr lang="en-US" dirty="0"/>
              <a:t>Read the encoded binary data bit by bit.</a:t>
            </a:r>
          </a:p>
          <a:p>
            <a:pPr marL="914400" lvl="1" indent="-514350"/>
            <a:r>
              <a:rPr lang="en-US" dirty="0"/>
              <a:t>Move down the tree based on the bits:</a:t>
            </a:r>
          </a:p>
          <a:p>
            <a:pPr lvl="2"/>
            <a:r>
              <a:rPr lang="en-US" dirty="0"/>
              <a:t>Go left for '0' and right for '1'.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Identify Characters:</a:t>
            </a:r>
          </a:p>
          <a:p>
            <a:pPr marL="914400" lvl="1" indent="-514350"/>
            <a:r>
              <a:rPr lang="en-US" dirty="0"/>
              <a:t>When a leaf node is reached, record the character.</a:t>
            </a:r>
          </a:p>
          <a:p>
            <a:pPr marL="914400" lvl="1" indent="-514350"/>
            <a:r>
              <a:rPr lang="en-US" dirty="0"/>
              <a:t>Return to the root of the tree and continue reading the next bits.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Repeat Until Complete:</a:t>
            </a:r>
          </a:p>
          <a:p>
            <a:pPr lvl="1"/>
            <a:r>
              <a:rPr lang="en-US" dirty="0"/>
              <a:t>Repeat the process until all the encoded data is decoded back into the original data.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8B3C-411D-42E2-B335-410FDA75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1979F-4EA3-4ABB-A9AB-67BEF793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23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8566-9334-4232-AF6D-80928BDA9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E3CD3-4F01-44BA-B0CC-AFFA65779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How Huffman Coding works?</a:t>
            </a:r>
          </a:p>
          <a:p>
            <a:r>
              <a:rPr lang="en-US" dirty="0"/>
              <a:t>Suppose the string below is to be sent over a network.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character occupies 8 bits. There are a total of 15 characters in the above string. Thus, a total of 8 * 15 = 120 bits are required to send this string.</a:t>
            </a:r>
          </a:p>
          <a:p>
            <a:endParaRPr lang="en-US" dirty="0"/>
          </a:p>
          <a:p>
            <a:r>
              <a:rPr lang="en-US" dirty="0"/>
              <a:t>Using the Huffman Coding technique, we can compress the string to a smaller size.</a:t>
            </a:r>
          </a:p>
          <a:p>
            <a:endParaRPr lang="en-US" dirty="0"/>
          </a:p>
          <a:p>
            <a:r>
              <a:rPr lang="en-US" dirty="0"/>
              <a:t>Huffman coding first creates a tree using the frequencies of the character and then generates code for each character.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8B3C-411D-42E2-B335-410FDA75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1979F-4EA3-4ABB-A9AB-67BEF793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8" name="Picture 2" descr="string">
            <a:extLst>
              <a:ext uri="{FF2B5EF4-FFF2-40B4-BE49-F238E27FC236}">
                <a16:creationId xmlns:a16="http://schemas.microsoft.com/office/drawing/2014/main" id="{921DCC84-B7AE-4CA2-B525-6BF27B245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143000"/>
            <a:ext cx="8915400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367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8566-9334-4232-AF6D-80928BDA9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E3CD3-4F01-44BA-B0CC-AFFA65779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Huffman coding is done with the help of the following steps.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Calculate the frequency of each character in the string.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arabicPeriod" startAt="2"/>
            </a:pPr>
            <a:r>
              <a:rPr lang="en-US" dirty="0"/>
              <a:t>Sort the characters in increasing order of the frequency. These are stored in a priority queue Q.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8B3C-411D-42E2-B335-410FDA75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1979F-4EA3-4ABB-A9AB-67BEF793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2" name="Picture 2" descr="frequency of string">
            <a:extLst>
              <a:ext uri="{FF2B5EF4-FFF2-40B4-BE49-F238E27FC236}">
                <a16:creationId xmlns:a16="http://schemas.microsoft.com/office/drawing/2014/main" id="{D542CD2C-0CFF-47D6-8FBB-8A732A5D4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1676400"/>
            <a:ext cx="592455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uffman coding">
            <a:extLst>
              <a:ext uri="{FF2B5EF4-FFF2-40B4-BE49-F238E27FC236}">
                <a16:creationId xmlns:a16="http://schemas.microsoft.com/office/drawing/2014/main" id="{4770D14E-0F58-440B-B8E5-58FBA3EA0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4191000"/>
            <a:ext cx="592455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634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7A3F-EB4D-4325-8C95-1B2E4EE2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63272-9BEB-4A2E-8FB1-CF74793C8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Make each unique character as a leaf node.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Create an empty node z. Assign the minimum frequency to the left child of z and assign the second minimum frequency to the right child of z. Set the value of the z as the sum of the above two minimum frequencies.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62CA7-75FB-40D1-840C-0594CA042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60A32-59A1-4E84-9715-D8F47913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146" name="Picture 2" descr="huffman coding">
            <a:extLst>
              <a:ext uri="{FF2B5EF4-FFF2-40B4-BE49-F238E27FC236}">
                <a16:creationId xmlns:a16="http://schemas.microsoft.com/office/drawing/2014/main" id="{5E30CE4D-D191-42D7-8B5D-48CB16BDA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513" y="2772798"/>
            <a:ext cx="3872975" cy="431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464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9B138-1DB6-4D84-ABAB-623DD7D8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2BDA5-FA7D-4B0C-A33C-2C543B85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6131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arabicPeriod" startAt="5"/>
            </a:pPr>
            <a:r>
              <a:rPr lang="en-US" dirty="0"/>
              <a:t>Remove these two minimum frequencies from Q and add the sum to the list of frequencies (* denote the internal nodes in the figure above).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dirty="0"/>
              <a:t>Insert node z into the tree.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E3616-C17C-4C75-B637-07471527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95D57-021F-42FA-B9DA-769BC775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2" descr="huffman coding">
            <a:extLst>
              <a:ext uri="{FF2B5EF4-FFF2-40B4-BE49-F238E27FC236}">
                <a16:creationId xmlns:a16="http://schemas.microsoft.com/office/drawing/2014/main" id="{745F84AD-B5B5-4E5C-995E-205997DE6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513" y="457200"/>
            <a:ext cx="3872975" cy="431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389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9B138-1DB6-4D84-ABAB-623DD7D8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2BDA5-FA7D-4B0C-A33C-2C543B85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60119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US" dirty="0"/>
              <a:t>Repeat steps 3 to 5 for all the characters.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E3616-C17C-4C75-B637-07471527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95D57-021F-42FA-B9DA-769BC775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170" name="Picture 2" descr="huffman coding">
            <a:extLst>
              <a:ext uri="{FF2B5EF4-FFF2-40B4-BE49-F238E27FC236}">
                <a16:creationId xmlns:a16="http://schemas.microsoft.com/office/drawing/2014/main" id="{039FA44C-D107-4D0B-A9FA-B2E07B223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003" y="1183550"/>
            <a:ext cx="3311995" cy="399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856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9B138-1DB6-4D84-ABAB-623DD7D8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2BDA5-FA7D-4B0C-A33C-2C543B85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60119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US" dirty="0"/>
              <a:t>Repeat steps 3 to 5 for all the characters.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E3616-C17C-4C75-B637-07471527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95D57-021F-42FA-B9DA-769BC775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9218" name="Picture 2" descr="huffman coding">
            <a:extLst>
              <a:ext uri="{FF2B5EF4-FFF2-40B4-BE49-F238E27FC236}">
                <a16:creationId xmlns:a16="http://schemas.microsoft.com/office/drawing/2014/main" id="{774E11AD-656E-42B2-8937-86C577CFB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90" y="1233309"/>
            <a:ext cx="3262610" cy="468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044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9B138-1DB6-4D84-ABAB-623DD7D8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2BDA5-FA7D-4B0C-A33C-2C543B85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60119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en-US" dirty="0"/>
              <a:t>For each non-leaf node, assign 0 to the left edge and 1 to the right edge.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E3616-C17C-4C75-B637-07471527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95D57-021F-42FA-B9DA-769BC775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42" name="Picture 2" descr="huffman coding">
            <a:extLst>
              <a:ext uri="{FF2B5EF4-FFF2-40B4-BE49-F238E27FC236}">
                <a16:creationId xmlns:a16="http://schemas.microsoft.com/office/drawing/2014/main" id="{538937B7-B0FE-4992-A72B-5EF8ADE0D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243" y="1615164"/>
            <a:ext cx="4007514" cy="435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211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9B138-1DB6-4D84-ABAB-623DD7D8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2BDA5-FA7D-4B0C-A33C-2C543B85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7089"/>
            <a:ext cx="9144000" cy="5601196"/>
          </a:xfrm>
        </p:spPr>
        <p:txBody>
          <a:bodyPr>
            <a:normAutofit/>
          </a:bodyPr>
          <a:lstStyle/>
          <a:p>
            <a:r>
              <a:rPr lang="en-US" dirty="0"/>
              <a:t>For sending the above string over a network, we have to send the tree as well as the above compressed-code. The total size is given by the table below.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Without encoding, the total size of the string was 120 bits. After encoding the size is reduced to 32 + 15 + 28 = 75.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E3616-C17C-4C75-B637-07471527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95D57-021F-42FA-B9DA-769BC775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1267" name="Picture 3" descr="image">
            <a:extLst>
              <a:ext uri="{FF2B5EF4-FFF2-40B4-BE49-F238E27FC236}">
                <a16:creationId xmlns:a16="http://schemas.microsoft.com/office/drawing/2014/main" id="{62293F11-7B00-4B40-A057-71FC2FF5F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2209800"/>
            <a:ext cx="751522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908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C44B2-33AC-415C-8471-1B19F8997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93C49-380A-41A8-8B9A-10E8ECAEA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Decoding the code</a:t>
            </a:r>
          </a:p>
          <a:p>
            <a:r>
              <a:rPr lang="en-US" dirty="0"/>
              <a:t>For decoding the code, we can take the code and traverse through the tree to find the character.</a:t>
            </a:r>
          </a:p>
          <a:p>
            <a:r>
              <a:rPr lang="en-US" dirty="0"/>
              <a:t>Let 101 is to be decoded, we can traverse from the root as in the figure below.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2651D-83EE-4C44-BE91-748A309DF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55206-6CF7-4937-B232-72A02C62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2290" name="Picture 2" descr="huffman coding">
            <a:extLst>
              <a:ext uri="{FF2B5EF4-FFF2-40B4-BE49-F238E27FC236}">
                <a16:creationId xmlns:a16="http://schemas.microsoft.com/office/drawing/2014/main" id="{15043E3E-D8CF-4A11-BF73-A8C8BF061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403" y="2902533"/>
            <a:ext cx="3643195" cy="395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261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C1A86-744A-4EEB-808D-C9CD7865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EE1C2-9625-4C6C-8C8A-4A97F3581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018F3-E2FE-4454-9415-FB800B7F8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A37FE-B520-4C06-A311-FFE8AB0E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3314" name="Picture 2" descr="Compression using Huffman coding.">
            <a:extLst>
              <a:ext uri="{FF2B5EF4-FFF2-40B4-BE49-F238E27FC236}">
                <a16:creationId xmlns:a16="http://schemas.microsoft.com/office/drawing/2014/main" id="{63DF0E04-6AA3-44A0-AC37-2F9B72E11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828800"/>
            <a:ext cx="5715000" cy="375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750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C1A86-744A-4EEB-808D-C9CD7865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EE1C2-9625-4C6C-8C8A-4A97F3581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018F3-E2FE-4454-9415-FB800B7F8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A37FE-B520-4C06-A311-FFE8AB0E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4338" name="Picture 2" descr="DEFLATE Compression Algorithm">
            <a:extLst>
              <a:ext uri="{FF2B5EF4-FFF2-40B4-BE49-F238E27FC236}">
                <a16:creationId xmlns:a16="http://schemas.microsoft.com/office/drawing/2014/main" id="{70FC6AD0-1F46-42A6-9117-F3B8B5BF1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66913"/>
            <a:ext cx="6096000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749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28BF1-20D2-4532-A9C6-DEDE2C47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AA8B6-03A3-405C-AD1C-74FC84B4B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E08E218D-EFB7-4B32-B09E-6098A940D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19" y="685800"/>
            <a:ext cx="7871603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92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1a7a39-cefe-44f5-a3a8-0050e37c33e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DDBCD85B0433498E6BCE505FFEC7DE" ma:contentTypeVersion="15" ma:contentTypeDescription="Create a new document." ma:contentTypeScope="" ma:versionID="528d693c7cc464012b779c9363db476b">
  <xsd:schema xmlns:xsd="http://www.w3.org/2001/XMLSchema" xmlns:xs="http://www.w3.org/2001/XMLSchema" xmlns:p="http://schemas.microsoft.com/office/2006/metadata/properties" xmlns:ns3="e41a7a39-cefe-44f5-a3a8-0050e37c33e9" targetNamespace="http://schemas.microsoft.com/office/2006/metadata/properties" ma:root="true" ma:fieldsID="1b749ea39c3268e2a9a91a038912fe54" ns3:_="">
    <xsd:import namespace="e41a7a39-cefe-44f5-a3a8-0050e37c33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a7a39-cefe-44f5-a3a8-0050e37c33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849042-65C2-42FE-8C8E-7D0E8A4729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207D34-F50E-4D4D-9D47-2ECFF116F129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e41a7a39-cefe-44f5-a3a8-0050e37c33e9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EE6FB4D-CE75-428E-8BA2-C8B22E71D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1a7a39-cefe-44f5-a3a8-0050e37c3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851</Words>
  <Application>Microsoft Office PowerPoint</Application>
  <PresentationFormat>On-screen Show (4:3)</PresentationFormat>
  <Paragraphs>145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Narrow</vt:lpstr>
      <vt:lpstr>Calibri</vt:lpstr>
      <vt:lpstr>MoolBoran</vt:lpstr>
      <vt:lpstr>Office Theme</vt:lpstr>
      <vt:lpstr>Data Structures &amp; Algorithms</vt:lpstr>
      <vt:lpstr>Week-13 Agenda </vt:lpstr>
      <vt:lpstr>Greedy Algorithm</vt:lpstr>
      <vt:lpstr>Greedy Algorithm</vt:lpstr>
      <vt:lpstr>Greedy Algorithm</vt:lpstr>
      <vt:lpstr>Huffman Coding</vt:lpstr>
      <vt:lpstr>Encoding Steps</vt:lpstr>
      <vt:lpstr>Encoding Steps</vt:lpstr>
      <vt:lpstr>Decoding Steps</vt:lpstr>
      <vt:lpstr>Encoding Example</vt:lpstr>
      <vt:lpstr>Encoding Example</vt:lpstr>
      <vt:lpstr>Encoding Example</vt:lpstr>
      <vt:lpstr>Encoding Example</vt:lpstr>
      <vt:lpstr>Encoding Example</vt:lpstr>
      <vt:lpstr>Encoding Example</vt:lpstr>
      <vt:lpstr>Encoding Example</vt:lpstr>
      <vt:lpstr>Encoding Example</vt:lpstr>
      <vt:lpstr>Decoding Example</vt:lpstr>
      <vt:lpstr>Another Example</vt:lpstr>
      <vt:lpstr>Another Example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Majid Kaleem</dc:creator>
  <cp:lastModifiedBy>majid kaleem</cp:lastModifiedBy>
  <cp:revision>496</cp:revision>
  <dcterms:created xsi:type="dcterms:W3CDTF">2016-10-27T12:58:45Z</dcterms:created>
  <dcterms:modified xsi:type="dcterms:W3CDTF">2025-09-17T06:07:53Z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0x0101004EDDBCD85B0433498E6BCE505FFEC7DE</vt:lpwstr>
  </property>
</Properties>
</file>