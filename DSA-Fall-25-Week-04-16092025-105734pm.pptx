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56" r:id="rId5"/>
    <p:sldId id="257" r:id="rId6"/>
    <p:sldId id="652" r:id="rId7"/>
    <p:sldId id="651" r:id="rId8"/>
    <p:sldId id="653" r:id="rId9"/>
    <p:sldId id="654" r:id="rId10"/>
    <p:sldId id="655" r:id="rId11"/>
    <p:sldId id="656" r:id="rId12"/>
    <p:sldId id="657" r:id="rId13"/>
    <p:sldId id="658" r:id="rId14"/>
    <p:sldId id="659" r:id="rId15"/>
    <p:sldId id="660" r:id="rId16"/>
    <p:sldId id="661" r:id="rId17"/>
    <p:sldId id="663" r:id="rId18"/>
    <p:sldId id="669" r:id="rId19"/>
    <p:sldId id="662" r:id="rId20"/>
    <p:sldId id="668" r:id="rId21"/>
    <p:sldId id="664" r:id="rId22"/>
    <p:sldId id="665" r:id="rId23"/>
    <p:sldId id="666" r:id="rId24"/>
    <p:sldId id="667" r:id="rId25"/>
    <p:sldId id="650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jid kaleem BUKC" userId="239ce719-e4df-4b60-a2f8-7908f29db894" providerId="ADAL" clId="{ADD686CA-CE1F-4045-88FE-04A30F82A6BC}"/>
    <pc:docChg chg="custSel modSld">
      <pc:chgData name="majid kaleem BUKC" userId="239ce719-e4df-4b60-a2f8-7908f29db894" providerId="ADAL" clId="{ADD686CA-CE1F-4045-88FE-04A30F82A6BC}" dt="2024-09-27T13:19:55.389" v="3" actId="478"/>
      <pc:docMkLst>
        <pc:docMk/>
      </pc:docMkLst>
      <pc:sldChg chg="delSp modSp">
        <pc:chgData name="majid kaleem BUKC" userId="239ce719-e4df-4b60-a2f8-7908f29db894" providerId="ADAL" clId="{ADD686CA-CE1F-4045-88FE-04A30F82A6BC}" dt="2024-09-27T13:19:31.393" v="2" actId="20577"/>
        <pc:sldMkLst>
          <pc:docMk/>
          <pc:sldMk cId="3508301846" sldId="257"/>
        </pc:sldMkLst>
        <pc:spChg chg="mod">
          <ac:chgData name="majid kaleem BUKC" userId="239ce719-e4df-4b60-a2f8-7908f29db894" providerId="ADAL" clId="{ADD686CA-CE1F-4045-88FE-04A30F82A6BC}" dt="2024-09-27T13:19:31.393" v="2" actId="20577"/>
          <ac:spMkLst>
            <pc:docMk/>
            <pc:sldMk cId="3508301846" sldId="257"/>
            <ac:spMk id="3" creationId="{2581AD53-70E4-4DB2-B00E-814D78E4EBC7}"/>
          </ac:spMkLst>
        </pc:spChg>
        <pc:picChg chg="del">
          <ac:chgData name="majid kaleem BUKC" userId="239ce719-e4df-4b60-a2f8-7908f29db894" providerId="ADAL" clId="{ADD686CA-CE1F-4045-88FE-04A30F82A6BC}" dt="2024-09-27T13:19:23.976" v="0" actId="478"/>
          <ac:picMkLst>
            <pc:docMk/>
            <pc:sldMk cId="3508301846" sldId="257"/>
            <ac:picMk id="9218" creationId="{92571B3D-D68A-4D2B-BAE8-E00BFDF11B80}"/>
          </ac:picMkLst>
        </pc:picChg>
      </pc:sldChg>
      <pc:sldChg chg="delSp">
        <pc:chgData name="majid kaleem BUKC" userId="239ce719-e4df-4b60-a2f8-7908f29db894" providerId="ADAL" clId="{ADD686CA-CE1F-4045-88FE-04A30F82A6BC}" dt="2024-09-27T13:19:55.389" v="3" actId="478"/>
        <pc:sldMkLst>
          <pc:docMk/>
          <pc:sldMk cId="2595022499" sldId="663"/>
        </pc:sldMkLst>
        <pc:picChg chg="del">
          <ac:chgData name="majid kaleem BUKC" userId="239ce719-e4df-4b60-a2f8-7908f29db894" providerId="ADAL" clId="{ADD686CA-CE1F-4045-88FE-04A30F82A6BC}" dt="2024-09-27T13:19:55.389" v="3" actId="478"/>
          <ac:picMkLst>
            <pc:docMk/>
            <pc:sldMk cId="2595022499" sldId="663"/>
            <ac:picMk id="3074" creationId="{E3CFB038-501B-4990-A1B6-1C8A1D7A871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ABBB9-D43F-4F6B-B6A1-E0CDD613A533}" type="datetimeFigureOut">
              <a:rPr lang="en-US" smtClean="0"/>
              <a:pPr/>
              <a:t>27-Sep-2024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8513B-4632-4E89-ACB7-7E7F9046F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F71D2-D6BA-4174-87E1-0F5D0E08BB86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884"/>
            <a:ext cx="9144000" cy="530352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440363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27-Sep-2024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053AB-C917-44B5-94A4-E19F9582D8A1}" type="datetime1">
              <a:rPr lang="en-US" smtClean="0"/>
              <a:t>27-Sep-2024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 userDrawn="1"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/>
          <a:p>
            <a:r>
              <a:rPr lang="en-GB" dirty="0"/>
              <a:t>Prepared by: Engr. </a:t>
            </a:r>
            <a:r>
              <a:rPr lang="en-GB" dirty="0" err="1"/>
              <a:t>Majid</a:t>
            </a:r>
            <a:r>
              <a:rPr lang="en-GB" dirty="0"/>
              <a:t> </a:t>
            </a:r>
            <a:r>
              <a:rPr lang="en-GB" dirty="0" err="1"/>
              <a:t>Kaleem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7A969-A3A4-4905-BB3B-A1F99714489D}" type="datetime1">
              <a:rPr lang="en-US" smtClean="0"/>
              <a:t>27-Sep-2024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122F-34FE-4A32-AF1E-06D01F4AB465}" type="datetime1">
              <a:rPr lang="en-US" smtClean="0"/>
              <a:t>27-Sep-2024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9BF83-D408-43EE-8C8E-881EB30FED63}" type="datetime1">
              <a:rPr lang="en-US" smtClean="0"/>
              <a:t>27-Sep-2024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/>
          <a:p>
            <a:r>
              <a:rPr lang="en-GB" dirty="0"/>
              <a:t>Prepared by: Engr. </a:t>
            </a:r>
            <a:r>
              <a:rPr lang="en-GB" dirty="0" err="1"/>
              <a:t>Majid</a:t>
            </a:r>
            <a:r>
              <a:rPr lang="en-GB" dirty="0"/>
              <a:t> </a:t>
            </a:r>
            <a:r>
              <a:rPr lang="en-GB" dirty="0" err="1"/>
              <a:t>Kaleem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6E94-763D-4669-B6E9-51CBF0DE98F8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Prepared by: Engr. Majid Kaleem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0AE6-6DBC-4573-A883-C8B56C3BA319}" type="datetime1">
              <a:rPr lang="en-US" smtClean="0"/>
              <a:t>27-Sep-2024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DD4B-BA74-4081-9C98-F75546208E81}" type="datetime1">
              <a:rPr lang="en-US" smtClean="0"/>
              <a:t>27-Sep-2024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6D023-EB81-4F7E-BAFB-BBC0F73C5589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CAF7-3317-49F4-8BCD-6F3AFB74B952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4185C-045E-4B07-B360-1E4D0D4807A8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9600" dirty="0">
                <a:latin typeface="MoolBoran" pitchFamily="34" charset="0"/>
                <a:cs typeface="MoolBoran" pitchFamily="34" charset="0"/>
              </a:rPr>
              <a:t>Data Structures &amp; Algorithms</a:t>
            </a:r>
            <a:endParaRPr lang="en-US" sz="9600" dirty="0">
              <a:latin typeface="MoolBoran" pitchFamily="34" charset="0"/>
              <a:cs typeface="MoolBoran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7200"/>
            <a:ext cx="6400800" cy="762000"/>
          </a:xfrm>
        </p:spPr>
        <p:txBody>
          <a:bodyPr/>
          <a:lstStyle/>
          <a:p>
            <a:r>
              <a:rPr lang="en-GB" dirty="0">
                <a:solidFill>
                  <a:schemeClr val="tx2"/>
                </a:solidFill>
                <a:latin typeface="MoolBoran" pitchFamily="34" charset="0"/>
                <a:cs typeface="MoolBoran" pitchFamily="34" charset="0"/>
              </a:rPr>
              <a:t>Week-04</a:t>
            </a:r>
            <a:endParaRPr lang="en-US" dirty="0">
              <a:solidFill>
                <a:schemeClr val="tx2"/>
              </a:solidFill>
              <a:latin typeface="MoolBoran" pitchFamily="34" charset="0"/>
              <a:cs typeface="MoolBoran" pitchFamily="34" charset="0"/>
            </a:endParaRPr>
          </a:p>
        </p:txBody>
      </p:sp>
      <p:pic>
        <p:nvPicPr>
          <p:cNvPr id="6" name="Picture 5" descr="logo5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6" y="0"/>
            <a:ext cx="2729014" cy="7782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A0F576E-2ADB-4177-AB0E-A05B1562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753D-90AF-4F2E-8EC7-13C4E2C1D86D}" type="datetime1">
              <a:rPr lang="en-US" smtClean="0"/>
              <a:t>27-Sep-2024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763651-B497-4529-9AFF-59636D16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5880-FFD1-48AE-9982-FCB0F658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Week-04 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1AD53-70E4-4DB2-B00E-814D78E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Stacks</a:t>
            </a:r>
          </a:p>
          <a:p>
            <a:r>
              <a:rPr lang="en-US" dirty="0"/>
              <a:t>Queues</a:t>
            </a:r>
            <a:endParaRPr lang="en-PK" dirty="0"/>
          </a:p>
          <a:p>
            <a:endParaRPr lang="en-PK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05886E-6EB7-4207-A593-4BEE2572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183C-BF88-40F9-A1FD-0C096233229E}" type="datetime1">
              <a:rPr lang="en-US" smtClean="0"/>
              <a:t>27-Sep-2024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03029-7C99-49DA-875E-D7B85E2B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01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B519-18AE-41DC-AD92-39B57E47C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1B6A3-FA36-4EE1-9B52-4EB793683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 </a:t>
            </a:r>
            <a:r>
              <a:rPr lang="en-US" b="1" dirty="0"/>
              <a:t>Stack</a:t>
            </a:r>
            <a:r>
              <a:rPr lang="en-US" dirty="0"/>
              <a:t> is a linear data structure that follows a particular order in which the operations are performed.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order may be </a:t>
            </a:r>
            <a:r>
              <a:rPr lang="en-US" b="1" dirty="0"/>
              <a:t>LIFO(Last In First Out)</a:t>
            </a:r>
            <a:r>
              <a:rPr lang="en-US" dirty="0"/>
              <a:t> or </a:t>
            </a:r>
            <a:r>
              <a:rPr lang="en-US" b="1" dirty="0"/>
              <a:t>FILO(First In Last Out)</a:t>
            </a:r>
            <a:r>
              <a:rPr lang="en-US" dirty="0"/>
              <a:t>. 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LIFO</a:t>
            </a:r>
            <a:r>
              <a:rPr lang="en-US" dirty="0"/>
              <a:t> implies that the element that is inserted last, comes out first and </a:t>
            </a:r>
            <a:r>
              <a:rPr lang="en-US" b="1" dirty="0"/>
              <a:t>FILO</a:t>
            </a:r>
            <a:r>
              <a:rPr lang="en-US" dirty="0"/>
              <a:t> means that the element that is inserted first, comes out last.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722E5-7FBB-4612-A49C-1526902DD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A8643-9154-4FFE-8E38-ABC6116A8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9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B519-18AE-41DC-AD92-39B57E47C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1B6A3-FA36-4EE1-9B52-4EB793683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722E5-7FBB-4612-A49C-1526902DD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A8643-9154-4FFE-8E38-ABC6116A8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8DB8C1-DB65-43A4-9CDF-458DE8D04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287" y="1176337"/>
            <a:ext cx="6067425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10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B519-18AE-41DC-AD92-39B57E47C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1B6A3-FA36-4EE1-9B52-4EB793683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722E5-7FBB-4612-A49C-1526902DD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A8643-9154-4FFE-8E38-ABC6116A8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 descr="https://miro.medium.com/v2/resize:fit:700/1*IX2GB_nYW7fP2LckB1_-cA.png">
            <a:extLst>
              <a:ext uri="{FF2B5EF4-FFF2-40B4-BE49-F238E27FC236}">
                <a16:creationId xmlns:a16="http://schemas.microsoft.com/office/drawing/2014/main" id="{04DD00A7-935A-4FC0-8956-80825F0FD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1943100"/>
            <a:ext cx="66675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984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95A6E-5C74-4BF8-B64B-000353E0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01268-A693-4BB5-BA6D-D772543CB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Stacks can be implemented using:</a:t>
            </a:r>
          </a:p>
          <a:p>
            <a:pPr lvl="1"/>
            <a:r>
              <a:rPr lang="en-US" b="1" dirty="0"/>
              <a:t>Arrays</a:t>
            </a:r>
            <a:r>
              <a:rPr lang="en-US" dirty="0"/>
              <a:t>: Fixed size, easy to implement but limited in capacity.</a:t>
            </a:r>
          </a:p>
          <a:p>
            <a:pPr lvl="1"/>
            <a:r>
              <a:rPr lang="en-US" b="1" dirty="0"/>
              <a:t>Linked Lists</a:t>
            </a:r>
            <a:r>
              <a:rPr lang="en-US" dirty="0"/>
              <a:t>: Dynamic size, can grow as needed.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BF074-825A-42E3-8604-C702C8C1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45AB0A-D6AF-4332-9550-88B8C0A9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836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CDD84-C824-47E3-AF67-7B902A3B8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67523-1E2D-4ECC-BA5B-19575522A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Push</a:t>
            </a:r>
            <a:r>
              <a:rPr lang="en-US" dirty="0"/>
              <a:t>: Adds an element to the top of the stack.</a:t>
            </a:r>
          </a:p>
          <a:p>
            <a:r>
              <a:rPr lang="en-US" b="1" dirty="0"/>
              <a:t>Pop</a:t>
            </a:r>
            <a:r>
              <a:rPr lang="en-US" dirty="0"/>
              <a:t>: Removes the top element from the stack.</a:t>
            </a:r>
          </a:p>
          <a:p>
            <a:r>
              <a:rPr lang="en-US" b="1" dirty="0"/>
              <a:t>Peek/Top</a:t>
            </a:r>
            <a:r>
              <a:rPr lang="en-US" dirty="0"/>
              <a:t>: Returns the top element without removing it.</a:t>
            </a:r>
          </a:p>
          <a:p>
            <a:r>
              <a:rPr lang="en-US" b="1" dirty="0" err="1"/>
              <a:t>IsEmpty</a:t>
            </a:r>
            <a:r>
              <a:rPr lang="en-US" dirty="0"/>
              <a:t>: Checks if the stack is empty.</a:t>
            </a:r>
          </a:p>
          <a:p>
            <a:r>
              <a:rPr lang="en-US" b="1" dirty="0"/>
              <a:t>Size</a:t>
            </a:r>
            <a:r>
              <a:rPr lang="en-US" dirty="0"/>
              <a:t>: Returns the number of elements in the stack.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057B0-B2D4-402C-BDD3-A284D9DDB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9CE18B-D65C-4B55-8BCB-CE1101ECA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69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2AB9A-2550-41F8-AADB-439FC6C83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745E2-B2C8-4A9F-9006-87B38F12A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Time Complexity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Push: O(1)</a:t>
            </a:r>
          </a:p>
          <a:p>
            <a:pPr lvl="1"/>
            <a:r>
              <a:rPr lang="en-US" dirty="0"/>
              <a:t>Pop: O(1)</a:t>
            </a:r>
          </a:p>
          <a:p>
            <a:pPr lvl="1"/>
            <a:r>
              <a:rPr lang="en-US" dirty="0"/>
              <a:t>Peek: O(1)</a:t>
            </a:r>
          </a:p>
          <a:p>
            <a:r>
              <a:rPr lang="en-US" b="1" dirty="0"/>
              <a:t>Space Complexity</a:t>
            </a:r>
            <a:r>
              <a:rPr lang="en-US" dirty="0"/>
              <a:t>: O(n) where n is the number of elements in the stack.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A5978-5637-4F74-BE8A-AAF2C2DFD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CFE550-570F-4EB1-B353-982565551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463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8469C-E678-4675-BE67-60E104397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83536-5726-426F-8E32-7EB384513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call management (call stack).</a:t>
            </a:r>
          </a:p>
          <a:p>
            <a:r>
              <a:rPr lang="en-US" dirty="0"/>
              <a:t>Syntax parsing (e.g., in compilers).</a:t>
            </a:r>
          </a:p>
          <a:p>
            <a:r>
              <a:rPr lang="en-US" dirty="0"/>
              <a:t>Backtracking algorithms (e.g., maze solving).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31451-F1EC-468F-9AE5-F4E1AB923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2CE69-6F62-4963-BBE0-EE7E9498D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261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B17F7-D699-43B3-A0CD-8C6FED7CE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8A412-5138-45A1-985B-84EBD763E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Static Stack</a:t>
            </a:r>
            <a:r>
              <a:rPr lang="en-US" dirty="0"/>
              <a:t>: Implemented using arrays with a fixed size.</a:t>
            </a:r>
          </a:p>
          <a:p>
            <a:pPr algn="just"/>
            <a:r>
              <a:rPr lang="en-US" b="1" dirty="0"/>
              <a:t>Dynamic Stack</a:t>
            </a:r>
            <a:r>
              <a:rPr lang="en-US" dirty="0"/>
              <a:t>: Implemented using linked lists, allowing dynamic resizing.</a:t>
            </a:r>
          </a:p>
          <a:p>
            <a:pPr algn="just"/>
            <a:r>
              <a:rPr lang="en-US" b="1" dirty="0"/>
              <a:t>Function Call Stack</a:t>
            </a:r>
            <a:r>
              <a:rPr lang="en-US" dirty="0"/>
              <a:t>: Used in programming languages to manage function calls and local variables.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6BB56-15D8-4E42-9900-871D902FA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008D9-9A10-44C3-BFFC-13EF9E649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28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D4626-90DD-407C-9EE9-79F550252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92E69-F88F-438F-80E9-458A867D9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queue</a:t>
            </a:r>
            <a:r>
              <a:rPr lang="en-US" dirty="0"/>
              <a:t> is a linear data structure that follows the First In First Out (FIFO) principle. </a:t>
            </a:r>
          </a:p>
          <a:p>
            <a:endParaRPr lang="en-US" dirty="0"/>
          </a:p>
          <a:p>
            <a:r>
              <a:rPr lang="en-US" dirty="0"/>
              <a:t>This means that the first element added to the queue will be the first one to be removed.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A9AEE-5C85-4EBC-AA17-2FED7C020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0403B0-B9D6-46F0-9EA1-18038A4E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31DC06-1130-490E-BB46-1AC301F58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212" y="3438525"/>
            <a:ext cx="574357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154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E152B-A165-4303-AF96-426AFC500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5AC43-35F5-47CB-B1F1-A43FE4C2E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Enqueue</a:t>
            </a:r>
            <a:r>
              <a:rPr lang="en-US" dirty="0"/>
              <a:t>: Adds an element to the back of the queue.</a:t>
            </a:r>
          </a:p>
          <a:p>
            <a:r>
              <a:rPr lang="en-US" b="1" dirty="0"/>
              <a:t>Dequeue</a:t>
            </a:r>
            <a:r>
              <a:rPr lang="en-US" dirty="0"/>
              <a:t>: Removes the front element from the queue.</a:t>
            </a:r>
          </a:p>
          <a:p>
            <a:r>
              <a:rPr lang="en-US" b="1" dirty="0"/>
              <a:t>Front/Peek</a:t>
            </a:r>
            <a:r>
              <a:rPr lang="en-US" dirty="0"/>
              <a:t>: Returns the front element without removing it.</a:t>
            </a:r>
          </a:p>
          <a:p>
            <a:r>
              <a:rPr lang="en-US" b="1" dirty="0" err="1"/>
              <a:t>IsEmpty</a:t>
            </a:r>
            <a:r>
              <a:rPr lang="en-US" dirty="0"/>
              <a:t>: Checks if the queue is empty.</a:t>
            </a:r>
          </a:p>
          <a:p>
            <a:r>
              <a:rPr lang="en-US" b="1" dirty="0"/>
              <a:t>Size</a:t>
            </a:r>
            <a:r>
              <a:rPr lang="en-US" dirty="0"/>
              <a:t>: Returns the number of elements in the queue.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E2309-D501-4878-BB94-988043FB0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7BCAE4-6F23-4106-AE59-49D52FD6A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2050" name="Picture 2" descr="Queue (abstract data type) - Wikipedia">
            <a:extLst>
              <a:ext uri="{FF2B5EF4-FFF2-40B4-BE49-F238E27FC236}">
                <a16:creationId xmlns:a16="http://schemas.microsoft.com/office/drawing/2014/main" id="{F434EC47-796B-45EC-9357-2DE7437B3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725" y="3395639"/>
            <a:ext cx="4264550" cy="2776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896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932AB-1D6B-4F40-A799-C85E93FC1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3F313-D151-435F-829F-7C1B289BC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Queues can be implemented using:</a:t>
            </a:r>
          </a:p>
          <a:p>
            <a:pPr lvl="1"/>
            <a:r>
              <a:rPr lang="en-US" b="1" dirty="0"/>
              <a:t>Arrays</a:t>
            </a:r>
            <a:r>
              <a:rPr lang="en-US" dirty="0"/>
              <a:t>: Fixed size, easy to implement but can lead to inefficiency if not managed properly.</a:t>
            </a:r>
          </a:p>
          <a:p>
            <a:pPr lvl="1"/>
            <a:r>
              <a:rPr lang="en-US" b="1" dirty="0"/>
              <a:t>Linked Lists</a:t>
            </a:r>
            <a:r>
              <a:rPr lang="en-US" dirty="0"/>
              <a:t>: Dynamic size, more flexible.</a:t>
            </a:r>
          </a:p>
          <a:p>
            <a:pPr lvl="1"/>
            <a:r>
              <a:rPr lang="en-US" b="1" dirty="0"/>
              <a:t>Circular Queues</a:t>
            </a:r>
            <a:r>
              <a:rPr lang="en-US" dirty="0"/>
              <a:t>: Efficient use of space by wrapping around.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C9D7E-F813-4BDE-B1C7-A2F39588B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A9538-F65C-4589-9C51-051BAB34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59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9F1B9-8A77-41CF-9B15-29A3EA287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D1782-B04D-47F8-8475-4ED9982AE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Simple Queue</a:t>
            </a:r>
            <a:r>
              <a:rPr lang="en-US" dirty="0"/>
              <a:t>: Standard FIFO queue.</a:t>
            </a:r>
          </a:p>
          <a:p>
            <a:r>
              <a:rPr lang="en-US" b="1" dirty="0"/>
              <a:t>Circular Queue</a:t>
            </a:r>
            <a:r>
              <a:rPr lang="en-US" dirty="0"/>
              <a:t>: Connects the end of the queue back to the front to utilize space efficiently.</a:t>
            </a:r>
          </a:p>
          <a:p>
            <a:r>
              <a:rPr lang="en-US" b="1" dirty="0"/>
              <a:t>Priority Queue</a:t>
            </a:r>
            <a:r>
              <a:rPr lang="en-US" dirty="0"/>
              <a:t>: Elements are dequeued based on priority rather than order.</a:t>
            </a:r>
          </a:p>
          <a:p>
            <a:r>
              <a:rPr lang="en-US" b="1" dirty="0"/>
              <a:t>Double-Ended Queue (Deque)</a:t>
            </a:r>
            <a:r>
              <a:rPr lang="en-US" dirty="0"/>
              <a:t>: Elements can be added or removed from both ends.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28565-B3B4-4A27-A608-D1DC53EEC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38B20A-DA67-4EC3-BFAD-51EC1ED4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22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DC566-C374-4460-AEEF-0B732636D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9FFF6-60F0-409E-9970-7011D78BC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F5C60-FE8A-4BDF-BBE2-C502525D4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AFF2C-F1AD-4F2D-98E4-275BE564D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C0C645-84EA-4675-BFD7-9649F3511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659" y="1795277"/>
            <a:ext cx="6074683" cy="326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022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1BA51-1D07-4610-AE9C-63B1FA8BF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6C4FA-D05C-4FD0-B922-918812CC5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Time Complexity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Enqueue: O(1)</a:t>
            </a:r>
          </a:p>
          <a:p>
            <a:pPr lvl="1"/>
            <a:r>
              <a:rPr lang="en-US" dirty="0"/>
              <a:t>Dequeue: O(1)</a:t>
            </a:r>
          </a:p>
          <a:p>
            <a:pPr lvl="1"/>
            <a:r>
              <a:rPr lang="en-US" dirty="0"/>
              <a:t>Front: O(1)</a:t>
            </a:r>
          </a:p>
          <a:p>
            <a:r>
              <a:rPr lang="en-US" b="1" dirty="0"/>
              <a:t>Space Complexity</a:t>
            </a:r>
            <a:r>
              <a:rPr lang="en-US" dirty="0"/>
              <a:t>: O(n) where n is the number of elements in the queue.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B7F89-7A0F-439C-9F76-873EE9FA5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950326-E045-456C-91B9-F50A30B1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65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19D2-B9AF-4D55-A1F6-774AE0B5D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Simple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63773-6D3C-467E-9E47-EDF5EC818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simple queue, insertion takes place at the rear and removal occurs at the front. </a:t>
            </a:r>
          </a:p>
          <a:p>
            <a:endParaRPr lang="en-US" dirty="0"/>
          </a:p>
          <a:p>
            <a:r>
              <a:rPr lang="en-US" dirty="0"/>
              <a:t>It strictly follows the FIFO (First in First out) rule.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6EAF6-C579-4BC4-80C3-DA3A9E8F1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50AE03-2803-4FED-8F32-CAD68750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0CB4E4-88F6-43A8-8FBA-9C72AC2F5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34640"/>
            <a:ext cx="9144000" cy="17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707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5EB3E-632C-4EB9-94CE-3A1DC79FD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Circular Queue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9820C-AB04-46F0-940C-A0E2CF087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BCA0D1-5B8A-4A95-A1B7-7D525A7D9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4098" name="Picture 2" descr="https://miro.medium.com/v2/resize:fit:700/1*J9K866QWpLC9OkmLLn3nEA.png">
            <a:extLst>
              <a:ext uri="{FF2B5EF4-FFF2-40B4-BE49-F238E27FC236}">
                <a16:creationId xmlns:a16="http://schemas.microsoft.com/office/drawing/2014/main" id="{31FF78B9-24E6-40B4-BE1E-D4BB800B43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026" y="685800"/>
            <a:ext cx="7771947" cy="5440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8344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98EFE-5508-4EAE-86A2-C95B3212D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Circular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7E0CA-809E-430E-AEAE-67F56E0D6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circular queue, the last element points to the first element making a circular link.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E4457-35E3-4C63-9D6F-889F6CD3E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ADDF48-E118-4F9D-9ADB-A60697B3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5124" name="Picture 4" descr="Circular queue ">
            <a:extLst>
              <a:ext uri="{FF2B5EF4-FFF2-40B4-BE49-F238E27FC236}">
                <a16:creationId xmlns:a16="http://schemas.microsoft.com/office/drawing/2014/main" id="{D9B2F75E-5154-44B7-8A91-5E4C568E7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2438400"/>
            <a:ext cx="855345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802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1742A-706D-4AFC-B6B4-092B7F47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Priority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DD29-A645-4E6C-BA17-19614A228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priority queue is a special type of queue in which each element is associated with a priority and is served according to its priority.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If elements with the same priority occur, they are served according to their order in the queue.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9787E-5CFC-4E00-A67F-27BD7CE94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E95CE-70AA-48A1-87CC-E96FCB7F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D0CFC1-B7A3-4F34-A958-F4DFB4C97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148" y="3505200"/>
            <a:ext cx="5677705" cy="287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459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4528F-FE44-4EBA-A09F-B6684C7B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Deque (Double Ended Queue)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D477E-9810-47CF-B608-20E781045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 a double-ended queue, insertion and removal of elements can be performed either from the front or rear. </a:t>
            </a:r>
          </a:p>
          <a:p>
            <a:pPr algn="just"/>
            <a:r>
              <a:rPr lang="en-US" dirty="0"/>
              <a:t>Thus, it does not follow the FIFO (First In First Out) rule.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89C35-3CE2-4C83-BDE8-20648AF2A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27-Sep-2024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CDC813-D4FF-4E89-A8AA-26779DDE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10F438-75AE-445A-AB6F-EF023D598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95019"/>
            <a:ext cx="9144000" cy="166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789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27-Sep-2024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16" y="2699658"/>
            <a:ext cx="7326985" cy="1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647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DDBCD85B0433498E6BCE505FFEC7DE" ma:contentTypeVersion="15" ma:contentTypeDescription="Create a new document." ma:contentTypeScope="" ma:versionID="528d693c7cc464012b779c9363db476b">
  <xsd:schema xmlns:xsd="http://www.w3.org/2001/XMLSchema" xmlns:xs="http://www.w3.org/2001/XMLSchema" xmlns:p="http://schemas.microsoft.com/office/2006/metadata/properties" xmlns:ns3="e41a7a39-cefe-44f5-a3a8-0050e37c33e9" targetNamespace="http://schemas.microsoft.com/office/2006/metadata/properties" ma:root="true" ma:fieldsID="1b749ea39c3268e2a9a91a038912fe54" ns3:_="">
    <xsd:import namespace="e41a7a39-cefe-44f5-a3a8-0050e37c33e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1a7a39-cefe-44f5-a3a8-0050e37c33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41a7a39-cefe-44f5-a3a8-0050e37c33e9" xsi:nil="true"/>
  </documentManagement>
</p:properties>
</file>

<file path=customXml/itemProps1.xml><?xml version="1.0" encoding="utf-8"?>
<ds:datastoreItem xmlns:ds="http://schemas.openxmlformats.org/officeDocument/2006/customXml" ds:itemID="{DEE6FB4D-CE75-428E-8BA2-C8B22E71D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1a7a39-cefe-44f5-a3a8-0050e37c33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A849042-65C2-42FE-8C8E-7D0E8A4729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207D34-F50E-4D4D-9D47-2ECFF116F129}">
  <ds:schemaRefs>
    <ds:schemaRef ds:uri="e41a7a39-cefe-44f5-a3a8-0050e37c33e9"/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1421</TotalTime>
  <Words>592</Words>
  <Application>Microsoft Office PowerPoint</Application>
  <PresentationFormat>On-screen Show (4:3)</PresentationFormat>
  <Paragraphs>122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MoolBoran</vt:lpstr>
      <vt:lpstr>Office Theme</vt:lpstr>
      <vt:lpstr>Data Structures &amp; Algorithms</vt:lpstr>
      <vt:lpstr>Week-04 Agenda </vt:lpstr>
      <vt:lpstr>Stack</vt:lpstr>
      <vt:lpstr>Stack</vt:lpstr>
      <vt:lpstr>Stack</vt:lpstr>
      <vt:lpstr>Implementation</vt:lpstr>
      <vt:lpstr>Operations</vt:lpstr>
      <vt:lpstr>Complexity</vt:lpstr>
      <vt:lpstr>Applications</vt:lpstr>
      <vt:lpstr>Types</vt:lpstr>
      <vt:lpstr>Queue</vt:lpstr>
      <vt:lpstr>Operations</vt:lpstr>
      <vt:lpstr>Implementation</vt:lpstr>
      <vt:lpstr>Types</vt:lpstr>
      <vt:lpstr>Types</vt:lpstr>
      <vt:lpstr>Complexity</vt:lpstr>
      <vt:lpstr>Simple Queue</vt:lpstr>
      <vt:lpstr>Circular Queue</vt:lpstr>
      <vt:lpstr>Circular Queue</vt:lpstr>
      <vt:lpstr>Priority Queue</vt:lpstr>
      <vt:lpstr>Deque (Double Ended Queue)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Majid Kaleem</dc:creator>
  <cp:lastModifiedBy>majid kaleem BUKC</cp:lastModifiedBy>
  <cp:revision>362</cp:revision>
  <dcterms:created xsi:type="dcterms:W3CDTF">2016-10-27T12:58:45Z</dcterms:created>
  <dcterms:modified xsi:type="dcterms:W3CDTF">2024-09-27T13:20:11Z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0x0101004EDDBCD85B0433498E6BCE505FFEC7DE</vt:lpwstr>
  </property>
</Properties>
</file>