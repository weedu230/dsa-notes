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651" r:id="rId7"/>
    <p:sldId id="652" r:id="rId8"/>
    <p:sldId id="656" r:id="rId9"/>
    <p:sldId id="653" r:id="rId10"/>
    <p:sldId id="660" r:id="rId11"/>
    <p:sldId id="661" r:id="rId12"/>
    <p:sldId id="662" r:id="rId13"/>
    <p:sldId id="663" r:id="rId14"/>
    <p:sldId id="664" r:id="rId15"/>
    <p:sldId id="665" r:id="rId16"/>
    <p:sldId id="666" r:id="rId17"/>
    <p:sldId id="667" r:id="rId18"/>
    <p:sldId id="668" r:id="rId19"/>
    <p:sldId id="669" r:id="rId20"/>
    <p:sldId id="670" r:id="rId21"/>
    <p:sldId id="671" r:id="rId22"/>
    <p:sldId id="654" r:id="rId23"/>
    <p:sldId id="65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Week-06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Week-06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 &amp; Priority Queue</a:t>
            </a:r>
            <a:endParaRPr lang="en-PK" dirty="0"/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5094-D7CB-43D1-84C7-EF10A2F2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C362-2C0E-40D9-BBCE-41FA99FBC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Heap is a specialized binary tree-based data structure.</a:t>
            </a:r>
          </a:p>
          <a:p>
            <a:r>
              <a:rPr lang="en-US" dirty="0"/>
              <a:t>It satisfies the Heap Property: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Max-Heap Property</a:t>
            </a:r>
            <a:r>
              <a:rPr lang="en-US" dirty="0"/>
              <a:t>: For any given node, the value of the parent node is greater than or equal to the values of its children. </a:t>
            </a:r>
            <a:r>
              <a:rPr lang="en-US" i="1" dirty="0">
                <a:solidFill>
                  <a:srgbClr val="0070C0"/>
                </a:solidFill>
              </a:rPr>
              <a:t>The root node contains the largest value.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Min-Heap Property</a:t>
            </a:r>
            <a:r>
              <a:rPr lang="en-US" dirty="0"/>
              <a:t>: For any given node, the value of the parent node is less than or equal to the values of its children. </a:t>
            </a:r>
            <a:r>
              <a:rPr lang="en-US" i="1" dirty="0">
                <a:solidFill>
                  <a:srgbClr val="0070C0"/>
                </a:solidFill>
              </a:rPr>
              <a:t>The root node contains the smallest value</a:t>
            </a:r>
            <a:r>
              <a:rPr lang="en-US" dirty="0"/>
              <a:t>.</a:t>
            </a:r>
          </a:p>
          <a:p>
            <a:r>
              <a:rPr lang="en-US" dirty="0"/>
              <a:t>It is a complete binary tree, meaning all levels are fully filled except possibly the last, which is filled from left to right.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3C82F-D931-4CB0-8CAA-30F7C21F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A21E2-E6E8-444D-ADF5-F2A69292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03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F2B8-B092-486C-A292-ED575467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39A7D-AC42-4890-8AD0-9C405871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heap is a tree-based data structure where the tree is a complete binary tree that maintains the property that either the children of a node are less than itself (max heap) or the children are greater than the node (min-heap).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FDAC7-A389-48FA-8C5A-E3117CEC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A2B41-202A-4C23-93E7-31EA9373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 descr="uvimateapp/machine-learning-interview-questions - Jovian">
            <a:extLst>
              <a:ext uri="{FF2B5EF4-FFF2-40B4-BE49-F238E27FC236}">
                <a16:creationId xmlns:a16="http://schemas.microsoft.com/office/drawing/2014/main" id="{A21176C2-E3F6-4C2C-9AA1-7798FF109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04" y="2551827"/>
            <a:ext cx="6610193" cy="38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62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50E3-0913-4A77-8DCD-14D9D08E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Heap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F9EB-0300-403A-9F23-457F4646A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DEC65-C894-4959-880E-A1A3FA5A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B4C29-A90E-4033-A60C-7030FEC8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6" descr="Heap Sort Algorithm">
            <a:extLst>
              <a:ext uri="{FF2B5EF4-FFF2-40B4-BE49-F238E27FC236}">
                <a16:creationId xmlns:a16="http://schemas.microsoft.com/office/drawing/2014/main" id="{8AA16090-8F70-430D-B36C-BA5DA9B2E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71550"/>
            <a:ext cx="86868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91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3B42-FFFD-4686-8E69-D0A3FEC1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D233-8BA7-4772-9E2D-11D624639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Insert</a:t>
            </a:r>
          </a:p>
          <a:p>
            <a:pPr lvl="1"/>
            <a:r>
              <a:rPr lang="en-US" dirty="0"/>
              <a:t>Insert a new node at the end of the heap.</a:t>
            </a:r>
          </a:p>
          <a:p>
            <a:pPr lvl="1"/>
            <a:r>
              <a:rPr lang="en-US" dirty="0"/>
              <a:t>Restore heap property by “bubbling up” or “percolating up.”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Delete (Extract Max/Min)</a:t>
            </a:r>
          </a:p>
          <a:p>
            <a:pPr lvl="1"/>
            <a:r>
              <a:rPr lang="en-US" dirty="0"/>
              <a:t>Remove the root node (max for Max-Heap, min for Min-Heap).</a:t>
            </a:r>
          </a:p>
          <a:p>
            <a:pPr lvl="1"/>
            <a:r>
              <a:rPr lang="en-US" dirty="0"/>
              <a:t>Replace the root with the last element and restore the heap property by “bubbling down” or “percolating down.”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Peek</a:t>
            </a:r>
          </a:p>
          <a:p>
            <a:pPr lvl="1"/>
            <a:r>
              <a:rPr lang="en-US" dirty="0"/>
              <a:t>Returns the root element without removing it (i.e., the maximum element in a Max-Heap or minimum in a Min-Heap).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3D72-ADF0-4FE5-B5C4-85D78F1C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5EA8D-2760-4F83-BA9C-BEE0ABCE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1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244D-EC3D-4BF4-A497-7373B044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527B5-EB2F-4011-828A-9497E3C2B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C272D-D4A3-48F8-AC0B-F2E07C40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B650-A7CC-4E5F-AA90-FFAAD802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C3932-AADF-4D42-977E-84E8F040B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429"/>
            <a:ext cx="9144000" cy="458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3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B3D6-422E-4914-9483-9503E5AB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B1A5-2E96-4F4A-8244-E9F9BBF96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Root: 13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97E1-E742-4021-8D4F-E656F1F5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286EA-9B4A-4981-8409-35491A73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7E3752C7-8480-4253-A7A4-3E0E5AFD6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00200"/>
            <a:ext cx="9067800" cy="478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86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B3D6-422E-4914-9483-9503E5AB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B1A5-2E96-4F4A-8244-E9F9BBF96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Root: 13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97E1-E742-4021-8D4F-E656F1F5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286EA-9B4A-4981-8409-35491A73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09A29505-CD1E-4CA3-8822-22FF6D297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603023"/>
            <a:ext cx="9067800" cy="479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9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B3D6-422E-4914-9483-9503E5AB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B1A5-2E96-4F4A-8244-E9F9BBF96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Root: 13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97E1-E742-4021-8D4F-E656F1F5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286EA-9B4A-4981-8409-35491A73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7A9FA708-2608-486F-B008-F04708B7F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598436"/>
            <a:ext cx="9067800" cy="479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8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63D1-5E63-40B1-BB82-EB88F4C3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Peek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24665-304B-47E8-BA60-A7D4B625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FE7FE-9456-4AF5-8220-0D356AA1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3F62B-DB4A-4EED-82FC-639E33A1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098" name="Picture 2" descr="Lightbox">
            <a:extLst>
              <a:ext uri="{FF2B5EF4-FFF2-40B4-BE49-F238E27FC236}">
                <a16:creationId xmlns:a16="http://schemas.microsoft.com/office/drawing/2014/main" id="{A7B401C2-1B9B-4400-811F-7A5549CC7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4963"/>
            <a:ext cx="9144000" cy="456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13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1500-4C06-4EF7-9400-F93DB682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 Heap - </a:t>
            </a:r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F305-18E9-41CB-ACF0-81F5D3083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67B2-5144-4B5D-9D6F-2826D020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F60AD-DE6B-4029-9C9B-7C7646C8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DDDC44-4297-43F2-899A-F95E35F8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700"/>
            <a:ext cx="9144000" cy="4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49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09EE-5EE8-4253-AB09-F7444B49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8410-36F6-4087-9666-639E30C3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15: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799A-CD91-495E-AB92-5A3C654D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3303-08ED-412D-A252-BF5731CE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A9E83B-7FF2-4A78-B66D-0400408F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9277"/>
            <a:ext cx="9144000" cy="457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6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09EE-5EE8-4253-AB09-F7444B49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8410-36F6-4087-9666-639E30C3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10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799A-CD91-495E-AB92-5A3C654D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3303-08ED-412D-A252-BF5731CE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B56A1-E5BC-494F-A254-FB24D21D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22" y="609600"/>
            <a:ext cx="5867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90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09EE-5EE8-4253-AB09-F7444B49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8410-36F6-4087-9666-639E30C3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799A-CD91-495E-AB92-5A3C654D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3303-08ED-412D-A252-BF5731CE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41BF8-FDA6-44D4-8437-46C4E4188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420"/>
            <a:ext cx="9144000" cy="458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40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09EE-5EE8-4253-AB09-F7444B49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Deletion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8410-36F6-4087-9666-639E30C3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D799A-CD91-495E-AB92-5A3C654D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C3303-08ED-412D-A252-BF5731CE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4B896-D501-416A-B511-198A706B8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140"/>
            <a:ext cx="9144000" cy="45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73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2018-CE5F-4911-97B3-B21ABB43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</a:t>
            </a:r>
            <a:r>
              <a:rPr lang="en-US" dirty="0" err="1"/>
              <a:t>Heapify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FCD1-EBE7-4F8B-AD01-F51C38AB2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C997C-2BE8-4B1F-8440-DD1D4369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257B2-FB02-4DDE-A894-39C32E04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07A312-5119-421A-A133-264B0DD93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5553"/>
            <a:ext cx="9144000" cy="45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3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5A94-A6CE-4A6A-B586-AA900254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 Heap - Peek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B80A-E8C0-4555-974D-9E84565EF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57F71-4236-4877-AA38-BE2F93C7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71365-EDDD-40AE-B7CF-85D71A80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728EA-2CF2-4BD5-947F-03C1E91B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875"/>
            <a:ext cx="9144000" cy="456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57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3B42-FFFD-4686-8E69-D0A3FEC1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D233-8BA7-4772-9E2D-11D624639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33CC"/>
                </a:solidFill>
              </a:rPr>
              <a:t>Heapify</a:t>
            </a:r>
            <a:r>
              <a:rPr lang="en-US" dirty="0">
                <a:solidFill>
                  <a:srgbClr val="0033CC"/>
                </a:solidFill>
              </a:rPr>
              <a:t>: </a:t>
            </a:r>
            <a:r>
              <a:rPr lang="en-US" dirty="0"/>
              <a:t>Process of converting a binary tree into a heap by adjusting the tree from the bottom-up.</a:t>
            </a:r>
          </a:p>
          <a:p>
            <a:endParaRPr lang="en-US" dirty="0"/>
          </a:p>
          <a:p>
            <a:r>
              <a:rPr lang="en-US" dirty="0">
                <a:solidFill>
                  <a:srgbClr val="0033CC"/>
                </a:solidFill>
              </a:rPr>
              <a:t>Time Complexity:</a:t>
            </a:r>
          </a:p>
          <a:p>
            <a:pPr lvl="1"/>
            <a:r>
              <a:rPr lang="en-US" dirty="0"/>
              <a:t>Inserting a node: O(log n)</a:t>
            </a:r>
          </a:p>
          <a:p>
            <a:pPr lvl="1"/>
            <a:r>
              <a:rPr lang="en-US" dirty="0"/>
              <a:t>Deleting the root (Extract Max/Min): O(log n)</a:t>
            </a:r>
          </a:p>
          <a:p>
            <a:pPr lvl="1"/>
            <a:r>
              <a:rPr lang="en-US" dirty="0"/>
              <a:t>Building a heap from an unsorted array: O(n)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3D72-ADF0-4FE5-B5C4-85D78F1C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5EA8D-2760-4F83-BA9C-BEE0ABCE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48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207D34-F50E-4D4D-9D47-2ECFF116F129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e41a7a39-cefe-44f5-a3a8-0050e37c33e9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433</Words>
  <Application>Microsoft Office PowerPoint</Application>
  <PresentationFormat>On-screen Show (4:3)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MoolBoran</vt:lpstr>
      <vt:lpstr>Office Theme</vt:lpstr>
      <vt:lpstr>Data Structures &amp; Algorithms</vt:lpstr>
      <vt:lpstr>Week-06 Agenda </vt:lpstr>
      <vt:lpstr>Heap - Definition</vt:lpstr>
      <vt:lpstr>Types of Heap</vt:lpstr>
      <vt:lpstr>Types of Heap</vt:lpstr>
      <vt:lpstr>Heap Operations</vt:lpstr>
      <vt:lpstr>Min Heap - Insertion</vt:lpstr>
      <vt:lpstr>Min Heap - Deletion</vt:lpstr>
      <vt:lpstr>Min Heap - Deletion</vt:lpstr>
      <vt:lpstr>Min Heap - Deletion</vt:lpstr>
      <vt:lpstr>Min Heap - Peek</vt:lpstr>
      <vt:lpstr>Min Heap - Heapify</vt:lpstr>
      <vt:lpstr>Max Heap - Insertion</vt:lpstr>
      <vt:lpstr>Max Heap - Deletion</vt:lpstr>
      <vt:lpstr>Max Heap - Deletion</vt:lpstr>
      <vt:lpstr>Max Heap - Deletion</vt:lpstr>
      <vt:lpstr>Max Heap - Heapify</vt:lpstr>
      <vt:lpstr>Max Heap - Peek</vt:lpstr>
      <vt:lpstr>Heap Construction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422</cp:revision>
  <dcterms:created xsi:type="dcterms:W3CDTF">2016-10-27T12:58:45Z</dcterms:created>
  <dcterms:modified xsi:type="dcterms:W3CDTF">2025-09-17T05:47:28Z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