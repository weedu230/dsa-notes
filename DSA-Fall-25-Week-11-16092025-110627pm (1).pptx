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90" r:id="rId7"/>
    <p:sldId id="297" r:id="rId8"/>
    <p:sldId id="289" r:id="rId9"/>
    <p:sldId id="303" r:id="rId10"/>
    <p:sldId id="304" r:id="rId11"/>
    <p:sldId id="293" r:id="rId12"/>
    <p:sldId id="295" r:id="rId13"/>
    <p:sldId id="299" r:id="rId14"/>
    <p:sldId id="300" r:id="rId15"/>
    <p:sldId id="291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6" r:id="rId24"/>
    <p:sldId id="301" r:id="rId25"/>
    <p:sldId id="302" r:id="rId26"/>
    <p:sldId id="305" r:id="rId27"/>
    <p:sldId id="292" r:id="rId28"/>
    <p:sldId id="27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Week-11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Week-11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Linear Search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latin typeface="Arial Narrow" panose="020B0606020202030204" pitchFamily="34" charset="0"/>
              </a:rPr>
              <a:t>Binary Search</a:t>
            </a:r>
          </a:p>
          <a:p>
            <a:pPr marL="857250" lvl="1" indent="-457200">
              <a:buFont typeface="+mj-lt"/>
              <a:buAutoNum type="arabicPeriod"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D765-3DAC-41AC-BD34-46D549CE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BD65E-F3A1-45FF-A39E-41DE24CA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Searching is the process of determining whether or not a given value exists in a data structure or a storage media.</a:t>
            </a:r>
          </a:p>
          <a:p>
            <a:pPr>
              <a:lnSpc>
                <a:spcPct val="115000"/>
              </a:lnSpc>
            </a:pPr>
            <a:endParaRPr lang="en-US" alt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We discuss two searching methods on one-dimensional arrays: linear search and binary search.</a:t>
            </a:r>
          </a:p>
          <a:p>
            <a:pPr>
              <a:lnSpc>
                <a:spcPct val="115000"/>
              </a:lnSpc>
            </a:pPr>
            <a:endParaRPr lang="en-US" altLang="en-US" sz="24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linear (or sequential) search algorithm on an array is:</a:t>
            </a:r>
          </a:p>
          <a:p>
            <a:pPr lvl="1">
              <a:lnSpc>
                <a:spcPct val="115000"/>
              </a:lnSpc>
            </a:pPr>
            <a:r>
              <a:rPr lang="en-US" altLang="en-US" sz="1600" dirty="0">
                <a:solidFill>
                  <a:srgbClr val="000000"/>
                </a:solidFill>
                <a:cs typeface="Arial" panose="020B0604020202020204" pitchFamily="34" charset="0"/>
              </a:rPr>
              <a:t>Sequentially scan the array, comparing each array item with the searched value.</a:t>
            </a:r>
          </a:p>
          <a:p>
            <a:pPr lvl="1">
              <a:lnSpc>
                <a:spcPct val="115000"/>
              </a:lnSpc>
            </a:pPr>
            <a:r>
              <a:rPr lang="en-US" altLang="en-US" sz="1600" dirty="0">
                <a:solidFill>
                  <a:srgbClr val="000000"/>
                </a:solidFill>
                <a:cs typeface="Arial" panose="020B0604020202020204" pitchFamily="34" charset="0"/>
              </a:rPr>
              <a:t>If a match is found; return the index of the matched element; otherwise return –1.</a:t>
            </a:r>
          </a:p>
          <a:p>
            <a:pPr>
              <a:lnSpc>
                <a:spcPct val="115000"/>
              </a:lnSpc>
            </a:pPr>
            <a:endParaRPr lang="en-US" altLang="en-US" sz="22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Note: linear search can be applied to both sorted and unsorted arrays.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A869-E79E-4326-B6B9-3D30B548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8AD4B-A1A1-4D97-801F-9E7C8EB3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7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6B02-2DF8-4B8D-8B33-12451D1F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9DE45-8466-45EC-B4EA-31B4B4BE6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EFFC-E414-4EE7-A5D6-E0190864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2F72A-386A-45FC-8BB2-C88C131E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4338" name="Picture 2" descr="https://blogger.googleusercontent.com/img/b/R29vZ2xl/AVvXsEjImwkUHB9fhlbyqI2OPzD-0Xw_0j7aH1CE6NWXIfraCd8F8QgH2d4hM9jkFVszmrHDjytDuxe62nzR2PS4TOM5k6ZB5aqKXViyJW29zjZocjTJ0sw1OuKFOxXnxj1yUFqQ2N5_-UIdBBYV/s1600/lineaer-search-example.png">
            <a:extLst>
              <a:ext uri="{FF2B5EF4-FFF2-40B4-BE49-F238E27FC236}">
                <a16:creationId xmlns:a16="http://schemas.microsoft.com/office/drawing/2014/main" id="{E042D18B-366D-4062-94CA-9F993E63C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4763"/>
            <a:ext cx="9144000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74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D765-3DAC-41AC-BD34-46D549CE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BD65E-F3A1-45FF-A39E-41DE24CA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Bubble sort works on the repeatedly swapping of adjacent elements until they are not in the intended order. </a:t>
            </a:r>
          </a:p>
          <a:p>
            <a:endParaRPr lang="en-US" dirty="0"/>
          </a:p>
          <a:p>
            <a:r>
              <a:rPr lang="en-US" dirty="0"/>
              <a:t>It is called bubble sort because the movement of array elements is just like the movement of air bubbles in the water. </a:t>
            </a:r>
          </a:p>
          <a:p>
            <a:endParaRPr lang="en-US" dirty="0"/>
          </a:p>
          <a:p>
            <a:r>
              <a:rPr lang="en-US" dirty="0"/>
              <a:t>Bubbles in water rise up to the surface; similarly, the array elements in bubble sort move to the end in each iteration.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A869-E79E-4326-B6B9-3D30B548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8AD4B-A1A1-4D97-801F-9E7C8EB3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75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548E-F4AB-4AA0-A16E-EA42567C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1E821-6F46-490B-B43A-C5C19FB15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Imagine that you have a database of sales made to customers. You need to deliver the goods that customer number 150 has bought, so need to find their address in the database.</a:t>
            </a:r>
          </a:p>
          <a:p>
            <a:endParaRPr lang="en-US" dirty="0"/>
          </a:p>
          <a:p>
            <a:r>
              <a:rPr lang="en-US" dirty="0"/>
              <a:t>The criterion is set first - Find the address for customer 150.</a:t>
            </a:r>
          </a:p>
          <a:p>
            <a:endParaRPr lang="en-US" dirty="0"/>
          </a:p>
          <a:p>
            <a:r>
              <a:rPr lang="en-US" dirty="0"/>
              <a:t>A linear search will begin at customer 1 and will search through each customer in turn until it reaches customer 150. It will then output the address for this customer. If it does not find customer 150, a message will be output to say that the customer is not found.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0E4C2-57FE-4787-84AD-1A47A2A8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42704-C1C2-4588-B19A-B596B50A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3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C548E-F4AB-4AA0-A16E-EA42567C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1E821-6F46-490B-B43A-C5C19FB15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0E4C2-57FE-4787-84AD-1A47A2A8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42704-C1C2-4588-B19A-B596B50A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8434" name="Picture 2" descr="A flowchart showing a serial search.">
            <a:extLst>
              <a:ext uri="{FF2B5EF4-FFF2-40B4-BE49-F238E27FC236}">
                <a16:creationId xmlns:a16="http://schemas.microsoft.com/office/drawing/2014/main" id="{B8CF6998-E9EA-4885-A757-46FEE72B1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28" y="556780"/>
            <a:ext cx="6234545" cy="623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45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2">
            <a:extLst>
              <a:ext uri="{FF2B5EF4-FFF2-40B4-BE49-F238E27FC236}">
                <a16:creationId xmlns:a16="http://schemas.microsoft.com/office/drawing/2014/main" id="{F07D1A65-657C-492E-B8CB-010D36FF7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Binary Search</a:t>
            </a:r>
            <a:endParaRPr lang="en-US" altLang="en-US" sz="2800" dirty="0">
              <a:ea typeface="ＭＳ Ｐゴシック" panose="020B0600070205080204" pitchFamily="34" charset="-128"/>
            </a:endParaRPr>
          </a:p>
        </p:txBody>
      </p:sp>
      <p:sp>
        <p:nvSpPr>
          <p:cNvPr id="1026" name="Rectangle 3">
            <a:extLst>
              <a:ext uri="{FF2B5EF4-FFF2-40B4-BE49-F238E27FC236}">
                <a16:creationId xmlns:a16="http://schemas.microsoft.com/office/drawing/2014/main" id="{B8F3D704-D85C-42D9-AF1D-184ADD05C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Binary search</a:t>
            </a:r>
            <a:r>
              <a:rPr lang="en-US" altLang="en-US" dirty="0">
                <a:ea typeface="ＭＳ Ｐゴシック" panose="020B0600070205080204" pitchFamily="34" charset="-128"/>
              </a:rPr>
              <a:t>: Locates a target value in a </a:t>
            </a:r>
            <a:r>
              <a:rPr lang="en-US" altLang="en-US" i="1" dirty="0">
                <a:ea typeface="ＭＳ Ｐゴシック" panose="020B0600070205080204" pitchFamily="34" charset="-128"/>
              </a:rPr>
              <a:t>sorted </a:t>
            </a:r>
            <a:r>
              <a:rPr lang="en-US" altLang="en-US" dirty="0">
                <a:ea typeface="ＭＳ Ｐゴシック" panose="020B0600070205080204" pitchFamily="34" charset="-128"/>
              </a:rPr>
              <a:t> array/list by successively eliminating half of the array from consideration.</a:t>
            </a:r>
          </a:p>
          <a:p>
            <a:pPr lvl="1"/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How many elements will it need to examine?   </a:t>
            </a:r>
            <a:r>
              <a:rPr lang="en-US" altLang="en-US" b="1" dirty="0">
                <a:ea typeface="ＭＳ Ｐゴシック" panose="020B0600070205080204" pitchFamily="34" charset="-128"/>
              </a:rPr>
              <a:t>O(log N)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be implemented with a loop or recursively</a:t>
            </a:r>
          </a:p>
          <a:p>
            <a:pPr lvl="1"/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Example: Searching the array below for the value </a:t>
            </a:r>
            <a:r>
              <a:rPr lang="en-US" altLang="en-US" b="1" dirty="0">
                <a:ea typeface="ＭＳ Ｐゴシック" panose="020B0600070205080204" pitchFamily="34" charset="-128"/>
              </a:rPr>
              <a:t>42</a:t>
            </a:r>
            <a:r>
              <a:rPr lang="en-US" altLang="en-US" dirty="0">
                <a:ea typeface="ＭＳ Ｐゴシック" panose="020B0600070205080204" pitchFamily="34" charset="-128"/>
              </a:rPr>
              <a:t>:</a:t>
            </a:r>
          </a:p>
        </p:txBody>
      </p:sp>
      <p:graphicFrame>
        <p:nvGraphicFramePr>
          <p:cNvPr id="320516" name="Group 4">
            <a:extLst>
              <a:ext uri="{FF2B5EF4-FFF2-40B4-BE49-F238E27FC236}">
                <a16:creationId xmlns:a16="http://schemas.microsoft.com/office/drawing/2014/main" id="{99C6BDD0-5EE7-4D23-831C-07093C73D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7674"/>
              </p:ext>
            </p:extLst>
          </p:nvPr>
        </p:nvGraphicFramePr>
        <p:xfrm>
          <a:off x="228600" y="3938588"/>
          <a:ext cx="8701088" cy="792408"/>
        </p:xfrm>
        <a:graphic>
          <a:graphicData uri="http://schemas.openxmlformats.org/drawingml/2006/table">
            <a:tbl>
              <a:tblPr/>
              <a:tblGrid>
                <a:gridCol w="78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60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index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8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9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11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14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value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-4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7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25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50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56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68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85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92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103</a:t>
                      </a: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20575" name="Group 63">
            <a:extLst>
              <a:ext uri="{FF2B5EF4-FFF2-40B4-BE49-F238E27FC236}">
                <a16:creationId xmlns:a16="http://schemas.microsoft.com/office/drawing/2014/main" id="{95FA4460-FAA5-4183-8AFB-4036EA367D2B}"/>
              </a:ext>
            </a:extLst>
          </p:cNvPr>
          <p:cNvGrpSpPr>
            <a:grpSpLocks/>
          </p:cNvGrpSpPr>
          <p:nvPr/>
        </p:nvGrpSpPr>
        <p:grpSpPr bwMode="auto">
          <a:xfrm>
            <a:off x="981075" y="4729163"/>
            <a:ext cx="619125" cy="833437"/>
            <a:chOff x="618" y="2880"/>
            <a:chExt cx="390" cy="525"/>
          </a:xfrm>
        </p:grpSpPr>
        <p:sp>
          <p:nvSpPr>
            <p:cNvPr id="320576" name="Text Box 64">
              <a:extLst>
                <a:ext uri="{FF2B5EF4-FFF2-40B4-BE49-F238E27FC236}">
                  <a16:creationId xmlns:a16="http://schemas.microsoft.com/office/drawing/2014/main" id="{F6E7DBD3-6A61-4881-AC07-F725735DBA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3168"/>
              <a:ext cx="39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Tahoma" charset="0"/>
                  <a:ea typeface="+mn-ea"/>
                </a:rPr>
                <a:t>min</a:t>
              </a:r>
            </a:p>
          </p:txBody>
        </p:sp>
        <p:sp>
          <p:nvSpPr>
            <p:cNvPr id="320577" name="Line 65">
              <a:extLst>
                <a:ext uri="{FF2B5EF4-FFF2-40B4-BE49-F238E27FC236}">
                  <a16:creationId xmlns:a16="http://schemas.microsoft.com/office/drawing/2014/main" id="{AD335775-4A7B-46A9-AFAD-7D412DA86F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320578" name="Group 66">
            <a:extLst>
              <a:ext uri="{FF2B5EF4-FFF2-40B4-BE49-F238E27FC236}">
                <a16:creationId xmlns:a16="http://schemas.microsoft.com/office/drawing/2014/main" id="{BACAEC9D-4270-4B9D-8D02-696BD12EE112}"/>
              </a:ext>
            </a:extLst>
          </p:cNvPr>
          <p:cNvGrpSpPr>
            <a:grpSpLocks/>
          </p:cNvGrpSpPr>
          <p:nvPr/>
        </p:nvGrpSpPr>
        <p:grpSpPr bwMode="auto">
          <a:xfrm>
            <a:off x="4562475" y="4729163"/>
            <a:ext cx="619125" cy="833437"/>
            <a:chOff x="618" y="2880"/>
            <a:chExt cx="390" cy="525"/>
          </a:xfrm>
        </p:grpSpPr>
        <p:sp>
          <p:nvSpPr>
            <p:cNvPr id="320579" name="Text Box 67">
              <a:extLst>
                <a:ext uri="{FF2B5EF4-FFF2-40B4-BE49-F238E27FC236}">
                  <a16:creationId xmlns:a16="http://schemas.microsoft.com/office/drawing/2014/main" id="{BA9C0493-5B6D-4A54-9A07-3E905DA13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3168"/>
              <a:ext cx="39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Tahoma" charset="0"/>
                  <a:ea typeface="+mn-ea"/>
                </a:rPr>
                <a:t>mid</a:t>
              </a:r>
            </a:p>
          </p:txBody>
        </p:sp>
        <p:sp>
          <p:nvSpPr>
            <p:cNvPr id="320580" name="Line 68">
              <a:extLst>
                <a:ext uri="{FF2B5EF4-FFF2-40B4-BE49-F238E27FC236}">
                  <a16:creationId xmlns:a16="http://schemas.microsoft.com/office/drawing/2014/main" id="{A904AA96-0166-40BE-BDC3-B911608E9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320581" name="Group 69">
            <a:extLst>
              <a:ext uri="{FF2B5EF4-FFF2-40B4-BE49-F238E27FC236}">
                <a16:creationId xmlns:a16="http://schemas.microsoft.com/office/drawing/2014/main" id="{F58DDEA2-EE19-41FA-A69A-C9491B39ED6B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4729163"/>
            <a:ext cx="619125" cy="833437"/>
            <a:chOff x="618" y="2880"/>
            <a:chExt cx="390" cy="525"/>
          </a:xfrm>
        </p:grpSpPr>
        <p:sp>
          <p:nvSpPr>
            <p:cNvPr id="320582" name="Text Box 70">
              <a:extLst>
                <a:ext uri="{FF2B5EF4-FFF2-40B4-BE49-F238E27FC236}">
                  <a16:creationId xmlns:a16="http://schemas.microsoft.com/office/drawing/2014/main" id="{1980C58E-6FA8-467B-AB40-4B52A9E0D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" y="3168"/>
              <a:ext cx="390" cy="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latin typeface="Tahoma" charset="0"/>
                  <a:ea typeface="+mn-ea"/>
                </a:rPr>
                <a:t>max</a:t>
              </a:r>
            </a:p>
          </p:txBody>
        </p:sp>
        <p:sp>
          <p:nvSpPr>
            <p:cNvPr id="320583" name="Line 71">
              <a:extLst>
                <a:ext uri="{FF2B5EF4-FFF2-40B4-BE49-F238E27FC236}">
                  <a16:creationId xmlns:a16="http://schemas.microsoft.com/office/drawing/2014/main" id="{4B692943-FB3F-48F0-86A8-045EC5E1D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2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8.55887E-8 L 0.20052 -8.55887E-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17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8.55887E-8 L 0.44218 -8.55887E-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205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052 -8.55887E-8 L 0.10052 -8.55887E-8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8.55887E-8 L -0.25886 -8.55887E-8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205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20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320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9FC-B683-4EC4-8EFF-CDFBA75C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Binary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66BA-5FB2-47EA-B82C-8A571239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94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Here’s how the binary search algorithm works: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Check if </a:t>
            </a:r>
            <a:r>
              <a:rPr lang="en-US" dirty="0" err="1"/>
              <a:t>nums</a:t>
            </a:r>
            <a:r>
              <a:rPr lang="en-US" dirty="0"/>
              <a:t>[mid] is equal to the target. If so, we’ve already found a match—in the very first step—and the search terminates.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 err="1"/>
              <a:t>nums</a:t>
            </a:r>
            <a:r>
              <a:rPr lang="en-US" dirty="0"/>
              <a:t>[mid] &gt; target, you only need to search the left half of the array. Even when you search through the left subarray you can use the same binary search algorithm.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 err="1"/>
              <a:t>nums</a:t>
            </a:r>
            <a:r>
              <a:rPr lang="en-US" dirty="0"/>
              <a:t>[mid] &lt; target, you can ignore all the elements up to the middle element and only consider the right half of the array.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2362A-80E1-4E97-81E4-68C67EA1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25919-BD88-446C-910B-2A1CDA3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9FC-B683-4EC4-8EFF-CDFBA75C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Binary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366BA-5FB2-47EA-B82C-8A5712399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943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Here’s how the binary search algorithm works: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Check if </a:t>
            </a:r>
            <a:r>
              <a:rPr lang="en-US" dirty="0" err="1"/>
              <a:t>nums</a:t>
            </a:r>
            <a:r>
              <a:rPr lang="en-US" dirty="0"/>
              <a:t>[mid] is equal to the target. If so, we’ve already found a match—in the very first step—and the search terminates.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 err="1"/>
              <a:t>nums</a:t>
            </a:r>
            <a:r>
              <a:rPr lang="en-US" dirty="0"/>
              <a:t>[mid] &gt; target, you only need to search the left half of the array. Even when you search through the left subarray you can use the same binary search algorithm.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dirty="0" err="1"/>
              <a:t>nums</a:t>
            </a:r>
            <a:r>
              <a:rPr lang="en-US" dirty="0"/>
              <a:t>[mid] &lt; target, you can ignore all the elements up to the middle element and only consider the right half of the array.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2362A-80E1-4E97-81E4-68C67EA1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25919-BD88-446C-910B-2A1CDA3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75C4-ADBB-4859-851B-11E5FD7E5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Binary Search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530A-F75F-46FF-B9F1-A6C887CDD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binary search algorithm uses the divide-and-conquer approach; it does not scan every element in the list; it only searches half of the list instead of going through each element. </a:t>
            </a:r>
          </a:p>
          <a:p>
            <a:endParaRPr lang="en-US" dirty="0"/>
          </a:p>
          <a:p>
            <a:r>
              <a:rPr lang="en-US" dirty="0"/>
              <a:t>It is said to be the best searching algorithm because it is faster to execute than linear search.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E4732-4281-4CA1-BAE8-577343D1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BC7F0-957E-400C-915D-3B83FD98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11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F58E539-9941-4952-8513-2A648369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EE4EB23-BE04-4ABC-B199-8CA0B0881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E30921F-2D91-4256-9218-01B4ED1F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47D5EDA-5E3F-46D2-931A-4DC29195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1E7DF83-7570-448D-A7D4-6CE20C65E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94BDC1D-0F31-41C1-AB99-26F589B38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3AA71B88-76F7-4A56-9286-1861E30C1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0ADF63ED-68FA-45F9-8679-7D162CE1D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71A34EA3-21B2-4EAA-B7BF-41CAA364C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BECE6328-493D-4118-BA6C-5272D0C12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F5361E9C-37FF-48A2-9519-8D5527A6D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C52F79C1-82FA-4170-AAA5-9E5FF0667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2F37AFF4-FCD2-4ECC-9B8B-21C039D23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55104DDF-323B-4740-BDBB-BE524CB0E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82EC4DD8-FFF6-42C0-875F-68B9FCB0F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0B445C85-671E-43E0-8E8B-07E383C7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64</a:t>
            </a:r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53B26A0D-6C3C-4411-A454-FF69869BA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5CBF434B-9D04-418E-ADB5-211DE6CEF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13</a:t>
            </a:r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7ABC1F7A-233F-42D1-862D-20CBBCC5E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25</a:t>
            </a:r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D86FDA77-CED7-4054-8A81-D2ECB9E1F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8D88ECA4-E2DB-43EA-80D2-6A508C6D2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75884D72-A9EB-48B8-ACDE-7962AA14A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43</a:t>
            </a:r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941614CC-8B7E-489A-80E7-BC56F56A9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53</a:t>
            </a:r>
          </a:p>
        </p:txBody>
      </p:sp>
      <p:sp>
        <p:nvSpPr>
          <p:cNvPr id="4123" name="Rectangle 27">
            <a:extLst>
              <a:ext uri="{FF2B5EF4-FFF2-40B4-BE49-F238E27FC236}">
                <a16:creationId xmlns:a16="http://schemas.microsoft.com/office/drawing/2014/main" id="{BE116CA5-B2C3-4F77-BA4F-C5F0CC3EF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84</a:t>
            </a:r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584DB325-719B-4B44-A1BD-20502FEFF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72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448B0480-BDF4-4AC2-97E3-C2952F995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93</a:t>
            </a:r>
          </a:p>
        </p:txBody>
      </p:sp>
      <p:sp>
        <p:nvSpPr>
          <p:cNvPr id="4126" name="Rectangle 30">
            <a:extLst>
              <a:ext uri="{FF2B5EF4-FFF2-40B4-BE49-F238E27FC236}">
                <a16:creationId xmlns:a16="http://schemas.microsoft.com/office/drawing/2014/main" id="{6851CF3A-2FC7-41A7-B6EB-9299F2020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95</a:t>
            </a:r>
          </a:p>
        </p:txBody>
      </p:sp>
      <p:sp>
        <p:nvSpPr>
          <p:cNvPr id="4127" name="Rectangle 31">
            <a:extLst>
              <a:ext uri="{FF2B5EF4-FFF2-40B4-BE49-F238E27FC236}">
                <a16:creationId xmlns:a16="http://schemas.microsoft.com/office/drawing/2014/main" id="{C66CBAC3-1B70-4E86-B3E3-D328D431F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97</a:t>
            </a:r>
          </a:p>
        </p:txBody>
      </p:sp>
      <p:sp>
        <p:nvSpPr>
          <p:cNvPr id="4128" name="Rectangle 32">
            <a:extLst>
              <a:ext uri="{FF2B5EF4-FFF2-40B4-BE49-F238E27FC236}">
                <a16:creationId xmlns:a16="http://schemas.microsoft.com/office/drawing/2014/main" id="{6682F690-B950-470B-A32C-EF9EE3FC9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96</a:t>
            </a:r>
          </a:p>
        </p:txBody>
      </p:sp>
      <p:sp>
        <p:nvSpPr>
          <p:cNvPr id="4129" name="Rectangle 33">
            <a:extLst>
              <a:ext uri="{FF2B5EF4-FFF2-40B4-BE49-F238E27FC236}">
                <a16:creationId xmlns:a16="http://schemas.microsoft.com/office/drawing/2014/main" id="{A27B02DA-2D5B-4913-96B4-3CD62E040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</a:rPr>
              <a:t>6</a:t>
            </a:r>
          </a:p>
        </p:txBody>
      </p:sp>
      <p:sp>
        <p:nvSpPr>
          <p:cNvPr id="4130" name="Rectangle 34">
            <a:extLst>
              <a:ext uri="{FF2B5EF4-FFF2-40B4-BE49-F238E27FC236}">
                <a16:creationId xmlns:a16="http://schemas.microsoft.com/office/drawing/2014/main" id="{503C19BD-37E4-4239-985B-746CEA4F2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dirty="0"/>
              <a:t>Binary Search</a:t>
            </a:r>
          </a:p>
        </p:txBody>
      </p:sp>
      <p:sp>
        <p:nvSpPr>
          <p:cNvPr id="4131" name="Rectangle 35">
            <a:extLst>
              <a:ext uri="{FF2B5EF4-FFF2-40B4-BE49-F238E27FC236}">
                <a16:creationId xmlns:a16="http://schemas.microsoft.com/office/drawing/2014/main" id="{86CD519B-6587-4FE4-993E-60701ABD6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5102225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4132" name="Line 36">
            <a:extLst>
              <a:ext uri="{FF2B5EF4-FFF2-40B4-BE49-F238E27FC236}">
                <a16:creationId xmlns:a16="http://schemas.microsoft.com/office/drawing/2014/main" id="{7349DCEB-15E1-479D-B8D0-0D8D8BEC7A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5" y="48387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5" name="Rectangle 39">
            <a:extLst>
              <a:ext uri="{FF2B5EF4-FFF2-40B4-BE49-F238E27FC236}">
                <a16:creationId xmlns:a16="http://schemas.microsoft.com/office/drawing/2014/main" id="{C7D4AB44-3F44-4FB7-8372-206F7EF5F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 dirty="0"/>
              <a:t>Binary search.   </a:t>
            </a:r>
            <a:r>
              <a:rPr kumimoji="0" lang="en-US" altLang="en-US" dirty="0">
                <a:solidFill>
                  <a:schemeClr val="tx1"/>
                </a:solidFill>
              </a:rPr>
              <a:t>Given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 dirty="0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 dirty="0">
                <a:solidFill>
                  <a:schemeClr val="tx1"/>
                </a:solidFill>
              </a:rPr>
              <a:t>, find index </a:t>
            </a:r>
            <a:r>
              <a:rPr kumimoji="0"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 dirty="0">
                <a:solidFill>
                  <a:schemeClr val="tx1"/>
                </a:solidFill>
              </a:rPr>
              <a:t>such that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a[</a:t>
            </a:r>
            <a:r>
              <a:rPr kumimoji="0"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]</a:t>
            </a:r>
            <a:r>
              <a:rPr kumimoji="0" lang="en-US" altLang="en-US" dirty="0">
                <a:solidFill>
                  <a:schemeClr val="tx1"/>
                </a:solidFill>
              </a:rPr>
              <a:t> =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 dirty="0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 dirty="0"/>
          </a:p>
          <a:p>
            <a:r>
              <a:rPr kumimoji="0" lang="en-US" altLang="en-US" dirty="0"/>
              <a:t>Invariant.  </a:t>
            </a:r>
            <a:r>
              <a:rPr kumimoji="0" lang="en-US" altLang="en-US" dirty="0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sz="1600" dirty="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 dirty="0"/>
              <a:t>Ex.  </a:t>
            </a:r>
            <a:r>
              <a:rPr kumimoji="0" lang="en-US" altLang="en-US" dirty="0">
                <a:solidFill>
                  <a:schemeClr val="tx1"/>
                </a:solidFill>
              </a:rPr>
              <a:t>Binary search for 33.</a:t>
            </a:r>
          </a:p>
          <a:p>
            <a:endParaRPr kumimoji="0" lang="en-US" altLang="en-US" sz="1600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4140" name="Rectangle 44">
            <a:extLst>
              <a:ext uri="{FF2B5EF4-FFF2-40B4-BE49-F238E27FC236}">
                <a16:creationId xmlns:a16="http://schemas.microsoft.com/office/drawing/2014/main" id="{11E5DADE-5106-4799-8E81-276C9D6D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05400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4141" name="Line 45">
            <a:extLst>
              <a:ext uri="{FF2B5EF4-FFF2-40B4-BE49-F238E27FC236}">
                <a16:creationId xmlns:a16="http://schemas.microsoft.com/office/drawing/2014/main" id="{3A53E76B-7F0E-4753-9D85-7EA1CD8455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3988" y="48418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34">
            <a:extLst>
              <a:ext uri="{FF2B5EF4-FFF2-40B4-BE49-F238E27FC236}">
                <a16:creationId xmlns:a16="http://schemas.microsoft.com/office/drawing/2014/main" id="{6B0E5BEC-AD43-44F0-ABB2-811F019A9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1063" name="Rectangle 39">
            <a:extLst>
              <a:ext uri="{FF2B5EF4-FFF2-40B4-BE49-F238E27FC236}">
                <a16:creationId xmlns:a16="http://schemas.microsoft.com/office/drawing/2014/main" id="{2C1D474B-C8B3-472F-8228-393F9F8A8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068" name="Rectangle 44">
            <a:extLst>
              <a:ext uri="{FF2B5EF4-FFF2-40B4-BE49-F238E27FC236}">
                <a16:creationId xmlns:a16="http://schemas.microsoft.com/office/drawing/2014/main" id="{CADD79AD-971F-44DF-95E6-102D9AC15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1069" name="Rectangle 45">
            <a:extLst>
              <a:ext uri="{FF2B5EF4-FFF2-40B4-BE49-F238E27FC236}">
                <a16:creationId xmlns:a16="http://schemas.microsoft.com/office/drawing/2014/main" id="{770B78E5-ABA3-4EDD-83AD-6F61B2BDD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070" name="Rectangle 46">
            <a:extLst>
              <a:ext uri="{FF2B5EF4-FFF2-40B4-BE49-F238E27FC236}">
                <a16:creationId xmlns:a16="http://schemas.microsoft.com/office/drawing/2014/main" id="{20DD13AE-8C5B-474E-AFBE-7F55BBDB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1071" name="Rectangle 47">
            <a:extLst>
              <a:ext uri="{FF2B5EF4-FFF2-40B4-BE49-F238E27FC236}">
                <a16:creationId xmlns:a16="http://schemas.microsoft.com/office/drawing/2014/main" id="{6F30F26F-377F-43DB-BBF7-CA74A0294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1072" name="Rectangle 48">
            <a:extLst>
              <a:ext uri="{FF2B5EF4-FFF2-40B4-BE49-F238E27FC236}">
                <a16:creationId xmlns:a16="http://schemas.microsoft.com/office/drawing/2014/main" id="{3493E780-3FC6-4D50-812F-283A0DDD6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1073" name="Rectangle 49">
            <a:extLst>
              <a:ext uri="{FF2B5EF4-FFF2-40B4-BE49-F238E27FC236}">
                <a16:creationId xmlns:a16="http://schemas.microsoft.com/office/drawing/2014/main" id="{B2E551D4-A94F-411A-A209-8599B2F3D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id="{E668A9A5-B3B0-4C42-A6E4-D095BF048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1075" name="Rectangle 51">
            <a:extLst>
              <a:ext uri="{FF2B5EF4-FFF2-40B4-BE49-F238E27FC236}">
                <a16:creationId xmlns:a16="http://schemas.microsoft.com/office/drawing/2014/main" id="{6B051B8B-5942-4664-8CA5-2C2AE61ED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1076" name="Rectangle 52">
            <a:extLst>
              <a:ext uri="{FF2B5EF4-FFF2-40B4-BE49-F238E27FC236}">
                <a16:creationId xmlns:a16="http://schemas.microsoft.com/office/drawing/2014/main" id="{7F06C985-0D04-485D-9EC7-790321BA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1077" name="Rectangle 53">
            <a:extLst>
              <a:ext uri="{FF2B5EF4-FFF2-40B4-BE49-F238E27FC236}">
                <a16:creationId xmlns:a16="http://schemas.microsoft.com/office/drawing/2014/main" id="{C0D84FB9-C35D-439B-A738-30CBA1B4E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1078" name="Rectangle 54">
            <a:extLst>
              <a:ext uri="{FF2B5EF4-FFF2-40B4-BE49-F238E27FC236}">
                <a16:creationId xmlns:a16="http://schemas.microsoft.com/office/drawing/2014/main" id="{6FDB05D6-102B-4BEE-A773-82D5EA291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1079" name="Rectangle 55">
            <a:extLst>
              <a:ext uri="{FF2B5EF4-FFF2-40B4-BE49-F238E27FC236}">
                <a16:creationId xmlns:a16="http://schemas.microsoft.com/office/drawing/2014/main" id="{5C7E2D0D-ACB7-4BEA-9C2A-17FF00486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1080" name="Rectangle 56">
            <a:extLst>
              <a:ext uri="{FF2B5EF4-FFF2-40B4-BE49-F238E27FC236}">
                <a16:creationId xmlns:a16="http://schemas.microsoft.com/office/drawing/2014/main" id="{ACCD0DCA-6B11-405D-8DBB-161DC00B0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1081" name="Rectangle 57">
            <a:extLst>
              <a:ext uri="{FF2B5EF4-FFF2-40B4-BE49-F238E27FC236}">
                <a16:creationId xmlns:a16="http://schemas.microsoft.com/office/drawing/2014/main" id="{63E73251-42F6-4F05-8418-B17FBC58C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1082" name="Rectangle 58">
            <a:extLst>
              <a:ext uri="{FF2B5EF4-FFF2-40B4-BE49-F238E27FC236}">
                <a16:creationId xmlns:a16="http://schemas.microsoft.com/office/drawing/2014/main" id="{8714E2F6-CA0C-4C09-A88D-35561BBD3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1083" name="Rectangle 59">
            <a:extLst>
              <a:ext uri="{FF2B5EF4-FFF2-40B4-BE49-F238E27FC236}">
                <a16:creationId xmlns:a16="http://schemas.microsoft.com/office/drawing/2014/main" id="{594DACE6-B35A-40CB-AAE2-DC4E1DB54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64</a:t>
            </a:r>
          </a:p>
        </p:txBody>
      </p:sp>
      <p:sp>
        <p:nvSpPr>
          <p:cNvPr id="1084" name="Rectangle 60">
            <a:extLst>
              <a:ext uri="{FF2B5EF4-FFF2-40B4-BE49-F238E27FC236}">
                <a16:creationId xmlns:a16="http://schemas.microsoft.com/office/drawing/2014/main" id="{D91E9749-FE89-49D0-8F6C-C4D186FC7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sp>
        <p:nvSpPr>
          <p:cNvPr id="1085" name="Rectangle 61">
            <a:extLst>
              <a:ext uri="{FF2B5EF4-FFF2-40B4-BE49-F238E27FC236}">
                <a16:creationId xmlns:a16="http://schemas.microsoft.com/office/drawing/2014/main" id="{A90EE236-F864-49B1-B2AF-A4710A5B4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13</a:t>
            </a:r>
          </a:p>
        </p:txBody>
      </p:sp>
      <p:sp>
        <p:nvSpPr>
          <p:cNvPr id="1086" name="Rectangle 62">
            <a:extLst>
              <a:ext uri="{FF2B5EF4-FFF2-40B4-BE49-F238E27FC236}">
                <a16:creationId xmlns:a16="http://schemas.microsoft.com/office/drawing/2014/main" id="{CF255B41-CAF4-4084-90A5-F94020AF5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25</a:t>
            </a:r>
          </a:p>
        </p:txBody>
      </p:sp>
      <p:sp>
        <p:nvSpPr>
          <p:cNvPr id="1087" name="Rectangle 63">
            <a:extLst>
              <a:ext uri="{FF2B5EF4-FFF2-40B4-BE49-F238E27FC236}">
                <a16:creationId xmlns:a16="http://schemas.microsoft.com/office/drawing/2014/main" id="{D61E46DE-D6FA-453D-A806-F6870A95F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1088" name="Rectangle 64">
            <a:extLst>
              <a:ext uri="{FF2B5EF4-FFF2-40B4-BE49-F238E27FC236}">
                <a16:creationId xmlns:a16="http://schemas.microsoft.com/office/drawing/2014/main" id="{35E09459-2AB3-4D55-A77F-CB34E4D08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1089" name="Rectangle 65">
            <a:extLst>
              <a:ext uri="{FF2B5EF4-FFF2-40B4-BE49-F238E27FC236}">
                <a16:creationId xmlns:a16="http://schemas.microsoft.com/office/drawing/2014/main" id="{2AF0D803-FBF0-4BB5-99A2-4B3437E5E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43</a:t>
            </a:r>
          </a:p>
        </p:txBody>
      </p:sp>
      <p:sp>
        <p:nvSpPr>
          <p:cNvPr id="1090" name="Rectangle 66">
            <a:extLst>
              <a:ext uri="{FF2B5EF4-FFF2-40B4-BE49-F238E27FC236}">
                <a16:creationId xmlns:a16="http://schemas.microsoft.com/office/drawing/2014/main" id="{155427C9-CD63-481B-86EE-FEB399B5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53</a:t>
            </a:r>
          </a:p>
        </p:txBody>
      </p:sp>
      <p:sp>
        <p:nvSpPr>
          <p:cNvPr id="1091" name="Rectangle 67">
            <a:extLst>
              <a:ext uri="{FF2B5EF4-FFF2-40B4-BE49-F238E27FC236}">
                <a16:creationId xmlns:a16="http://schemas.microsoft.com/office/drawing/2014/main" id="{325168F7-8D71-4976-A3C3-0320E02ED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84</a:t>
            </a:r>
          </a:p>
        </p:txBody>
      </p:sp>
      <p:sp>
        <p:nvSpPr>
          <p:cNvPr id="1092" name="Rectangle 68">
            <a:extLst>
              <a:ext uri="{FF2B5EF4-FFF2-40B4-BE49-F238E27FC236}">
                <a16:creationId xmlns:a16="http://schemas.microsoft.com/office/drawing/2014/main" id="{FCBDF9C4-8CBE-46D6-B3F4-D43B8D2D8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72</a:t>
            </a:r>
          </a:p>
        </p:txBody>
      </p:sp>
      <p:sp>
        <p:nvSpPr>
          <p:cNvPr id="1093" name="Rectangle 69">
            <a:extLst>
              <a:ext uri="{FF2B5EF4-FFF2-40B4-BE49-F238E27FC236}">
                <a16:creationId xmlns:a16="http://schemas.microsoft.com/office/drawing/2014/main" id="{B22FBE38-1613-4B11-9AA5-287EB20F9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93</a:t>
            </a:r>
          </a:p>
        </p:txBody>
      </p:sp>
      <p:sp>
        <p:nvSpPr>
          <p:cNvPr id="1094" name="Rectangle 70">
            <a:extLst>
              <a:ext uri="{FF2B5EF4-FFF2-40B4-BE49-F238E27FC236}">
                <a16:creationId xmlns:a16="http://schemas.microsoft.com/office/drawing/2014/main" id="{46B9045D-B0D5-475F-A23B-26D46D1D1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95</a:t>
            </a:r>
          </a:p>
        </p:txBody>
      </p:sp>
      <p:sp>
        <p:nvSpPr>
          <p:cNvPr id="1095" name="Rectangle 71">
            <a:extLst>
              <a:ext uri="{FF2B5EF4-FFF2-40B4-BE49-F238E27FC236}">
                <a16:creationId xmlns:a16="http://schemas.microsoft.com/office/drawing/2014/main" id="{94E4E857-BA03-4148-8161-7A5FDAB96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97</a:t>
            </a:r>
          </a:p>
        </p:txBody>
      </p:sp>
      <p:sp>
        <p:nvSpPr>
          <p:cNvPr id="1096" name="Rectangle 72">
            <a:extLst>
              <a:ext uri="{FF2B5EF4-FFF2-40B4-BE49-F238E27FC236}">
                <a16:creationId xmlns:a16="http://schemas.microsoft.com/office/drawing/2014/main" id="{C9166E4F-BE7A-43DB-8EF9-BD383A496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96</a:t>
            </a:r>
          </a:p>
        </p:txBody>
      </p:sp>
      <p:sp>
        <p:nvSpPr>
          <p:cNvPr id="1097" name="Rectangle 73">
            <a:extLst>
              <a:ext uri="{FF2B5EF4-FFF2-40B4-BE49-F238E27FC236}">
                <a16:creationId xmlns:a16="http://schemas.microsoft.com/office/drawing/2014/main" id="{4E2A3F0E-584A-4600-B96F-330631573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6</a:t>
            </a:r>
          </a:p>
        </p:txBody>
      </p:sp>
      <p:sp>
        <p:nvSpPr>
          <p:cNvPr id="1098" name="Rectangle 74">
            <a:extLst>
              <a:ext uri="{FF2B5EF4-FFF2-40B4-BE49-F238E27FC236}">
                <a16:creationId xmlns:a16="http://schemas.microsoft.com/office/drawing/2014/main" id="{C2F423C8-E2F6-4501-94FE-DF0F16BAD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5102225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1099" name="Line 75">
            <a:extLst>
              <a:ext uri="{FF2B5EF4-FFF2-40B4-BE49-F238E27FC236}">
                <a16:creationId xmlns:a16="http://schemas.microsoft.com/office/drawing/2014/main" id="{D39CECC8-DA31-47F0-AA04-B1B44694E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5" y="48387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1" name="Rectangle 77">
            <a:extLst>
              <a:ext uri="{FF2B5EF4-FFF2-40B4-BE49-F238E27FC236}">
                <a16:creationId xmlns:a16="http://schemas.microsoft.com/office/drawing/2014/main" id="{CB2A9136-09F7-4C3B-8EB2-129EF70E2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05400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1102" name="Line 78">
            <a:extLst>
              <a:ext uri="{FF2B5EF4-FFF2-40B4-BE49-F238E27FC236}">
                <a16:creationId xmlns:a16="http://schemas.microsoft.com/office/drawing/2014/main" id="{517A7D4C-481C-4A37-BA01-6FA0C5A2A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3988" y="48418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3" name="Rectangle 79">
            <a:extLst>
              <a:ext uri="{FF2B5EF4-FFF2-40B4-BE49-F238E27FC236}">
                <a16:creationId xmlns:a16="http://schemas.microsoft.com/office/drawing/2014/main" id="{FE68EC36-A809-420B-BD98-14EC36097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5103813"/>
            <a:ext cx="504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mid</a:t>
            </a:r>
          </a:p>
        </p:txBody>
      </p:sp>
      <p:sp>
        <p:nvSpPr>
          <p:cNvPr id="1104" name="Line 80">
            <a:extLst>
              <a:ext uri="{FF2B5EF4-FFF2-40B4-BE49-F238E27FC236}">
                <a16:creationId xmlns:a16="http://schemas.microsoft.com/office/drawing/2014/main" id="{DDA12030-45E2-497F-8276-99A0A7563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612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5" name="Oval 81">
            <a:extLst>
              <a:ext uri="{FF2B5EF4-FFF2-40B4-BE49-F238E27FC236}">
                <a16:creationId xmlns:a16="http://schemas.microsoft.com/office/drawing/2014/main" id="{A5F8D668-FF10-4FEA-817F-52262F956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4138613"/>
            <a:ext cx="357187" cy="357187"/>
          </a:xfrm>
          <a:prstGeom prst="ellipse">
            <a:avLst/>
          </a:prstGeom>
          <a:solidFill>
            <a:schemeClr val="folHlink">
              <a:alpha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88BC5EF-7D13-47A0-8D75-68C8D5CFA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D14E485-BB3E-4B0D-8BB7-64A0D3D3E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B89DFF88-5A51-4883-916C-AA0832744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5437434E-3CAD-43E1-B823-BDD7A541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A67EB83A-302C-4757-9085-41603F003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60C5B896-FD32-4BF4-AE65-37723120B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6318C6D3-074C-406F-9365-5F6B056BC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220E99CD-C72C-4E6E-AEB1-9F1628055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95E08FA1-94DF-4DB0-834B-4820657D0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B572B7BB-6A86-4759-AE69-4600C387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96ADA092-38BA-4762-B0DE-D31CF0897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F4218118-7994-4C68-BF65-D53168204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BF130AAC-E2AA-4CDC-AE94-42DD905F8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01F107A6-A21D-421A-83AF-492AFDEB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0C0E5AA0-2C40-42B8-95D6-23A91337A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7FADE035-90AB-4216-B8C9-5C4F35D9E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8D35F5BB-A13D-4CC5-A35E-776F21118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18451" name="Rectangle 19" descr="Outlined diamond">
            <a:extLst>
              <a:ext uri="{FF2B5EF4-FFF2-40B4-BE49-F238E27FC236}">
                <a16:creationId xmlns:a16="http://schemas.microsoft.com/office/drawing/2014/main" id="{71224AB4-F838-4A32-884E-C3A891A1E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1B19D9A2-4548-4C18-885A-83D881B1E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333B9EB7-ADBA-4BA3-A6DE-F2FB87C5D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13</a:t>
            </a:r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D896CD41-48FA-4645-8CDA-DEB94EB1C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25</a:t>
            </a:r>
          </a:p>
        </p:txBody>
      </p:sp>
      <p:sp>
        <p:nvSpPr>
          <p:cNvPr id="18455" name="Rectangle 23">
            <a:extLst>
              <a:ext uri="{FF2B5EF4-FFF2-40B4-BE49-F238E27FC236}">
                <a16:creationId xmlns:a16="http://schemas.microsoft.com/office/drawing/2014/main" id="{653206B2-BD8B-43F9-B8D0-CF612A491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18456" name="Rectangle 24">
            <a:extLst>
              <a:ext uri="{FF2B5EF4-FFF2-40B4-BE49-F238E27FC236}">
                <a16:creationId xmlns:a16="http://schemas.microsoft.com/office/drawing/2014/main" id="{CB936501-A28D-4134-9786-86E7B35FD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18457" name="Rectangle 25">
            <a:extLst>
              <a:ext uri="{FF2B5EF4-FFF2-40B4-BE49-F238E27FC236}">
                <a16:creationId xmlns:a16="http://schemas.microsoft.com/office/drawing/2014/main" id="{EEBBDDF2-3458-474C-B1A2-40BBCB038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43</a:t>
            </a:r>
          </a:p>
        </p:txBody>
      </p:sp>
      <p:sp>
        <p:nvSpPr>
          <p:cNvPr id="18458" name="Rectangle 26" descr="Outlined diamond">
            <a:extLst>
              <a:ext uri="{FF2B5EF4-FFF2-40B4-BE49-F238E27FC236}">
                <a16:creationId xmlns:a16="http://schemas.microsoft.com/office/drawing/2014/main" id="{E4339756-9861-4C58-973A-D34CA20C2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18459" name="Rectangle 27" descr="Outlined diamond">
            <a:extLst>
              <a:ext uri="{FF2B5EF4-FFF2-40B4-BE49-F238E27FC236}">
                <a16:creationId xmlns:a16="http://schemas.microsoft.com/office/drawing/2014/main" id="{65FA6ED4-95AD-4EB8-87FC-0158F2487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18460" name="Rectangle 28" descr="Outlined diamond">
            <a:extLst>
              <a:ext uri="{FF2B5EF4-FFF2-40B4-BE49-F238E27FC236}">
                <a16:creationId xmlns:a16="http://schemas.microsoft.com/office/drawing/2014/main" id="{F2EB5EDB-35AC-40B5-A3A2-BEF9D03B9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18461" name="Rectangle 29" descr="Outlined diamond">
            <a:extLst>
              <a:ext uri="{FF2B5EF4-FFF2-40B4-BE49-F238E27FC236}">
                <a16:creationId xmlns:a16="http://schemas.microsoft.com/office/drawing/2014/main" id="{32E2FB22-9CF3-4443-81FC-6A2ED09BF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18462" name="Rectangle 30" descr="Outlined diamond">
            <a:extLst>
              <a:ext uri="{FF2B5EF4-FFF2-40B4-BE49-F238E27FC236}">
                <a16:creationId xmlns:a16="http://schemas.microsoft.com/office/drawing/2014/main" id="{4375947E-C5D2-47BC-891F-8508604BE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18463" name="Rectangle 31" descr="Outlined diamond">
            <a:extLst>
              <a:ext uri="{FF2B5EF4-FFF2-40B4-BE49-F238E27FC236}">
                <a16:creationId xmlns:a16="http://schemas.microsoft.com/office/drawing/2014/main" id="{9E8017C7-BC82-4D8E-A09D-3008B3F8C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18464" name="Rectangle 32" descr="Outlined diamond">
            <a:extLst>
              <a:ext uri="{FF2B5EF4-FFF2-40B4-BE49-F238E27FC236}">
                <a16:creationId xmlns:a16="http://schemas.microsoft.com/office/drawing/2014/main" id="{D90B0788-14F8-43C4-9B6E-766AD30F7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18465" name="Rectangle 33">
            <a:extLst>
              <a:ext uri="{FF2B5EF4-FFF2-40B4-BE49-F238E27FC236}">
                <a16:creationId xmlns:a16="http://schemas.microsoft.com/office/drawing/2014/main" id="{05FFA7B0-BC78-40DF-87DA-87DE5D46A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6</a:t>
            </a:r>
          </a:p>
        </p:txBody>
      </p:sp>
      <p:sp>
        <p:nvSpPr>
          <p:cNvPr id="18466" name="Rectangle 34">
            <a:extLst>
              <a:ext uri="{FF2B5EF4-FFF2-40B4-BE49-F238E27FC236}">
                <a16:creationId xmlns:a16="http://schemas.microsoft.com/office/drawing/2014/main" id="{C2EB9F52-5F3C-485D-8367-827374A1B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5102225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18467" name="Line 35">
            <a:extLst>
              <a:ext uri="{FF2B5EF4-FFF2-40B4-BE49-F238E27FC236}">
                <a16:creationId xmlns:a16="http://schemas.microsoft.com/office/drawing/2014/main" id="{E0EF98C5-670F-487E-84CC-DCFBD3AEF6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5" y="48387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71" name="Rectangle 39">
            <a:extLst>
              <a:ext uri="{FF2B5EF4-FFF2-40B4-BE49-F238E27FC236}">
                <a16:creationId xmlns:a16="http://schemas.microsoft.com/office/drawing/2014/main" id="{A0CFF799-BE78-4AC5-B090-BBEBA85CF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18472" name="Line 40">
            <a:extLst>
              <a:ext uri="{FF2B5EF4-FFF2-40B4-BE49-F238E27FC236}">
                <a16:creationId xmlns:a16="http://schemas.microsoft.com/office/drawing/2014/main" id="{8223CF5D-32E8-490E-A570-7CAE80088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2152C52-BB8C-4F07-8895-3E00EDB4D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190F1DC-6005-4679-BF64-A5E1E966A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64183E79-AF02-4054-B9C3-DDB9EBBAA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9C8BBC6F-82DA-495F-9639-CCD39407A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725C7EEC-F45C-4D73-A2A6-4E84FC614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6F6E3ED7-67E2-4F42-8EB3-14C2DE454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19464" name="Rectangle 8">
            <a:extLst>
              <a:ext uri="{FF2B5EF4-FFF2-40B4-BE49-F238E27FC236}">
                <a16:creationId xmlns:a16="http://schemas.microsoft.com/office/drawing/2014/main" id="{2E2C9F8B-895C-4F0C-AE28-8CE09D10A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19465" name="Rectangle 9">
            <a:extLst>
              <a:ext uri="{FF2B5EF4-FFF2-40B4-BE49-F238E27FC236}">
                <a16:creationId xmlns:a16="http://schemas.microsoft.com/office/drawing/2014/main" id="{46F6DA9A-5619-4584-B5BB-2D481C8AE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6E2512D1-C147-4731-9EAF-D9AA82E14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89FB015B-91AA-4E8E-A3E6-3F66B6063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CE79CD1D-6618-4643-8C96-399F93CD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19469" name="Rectangle 13">
            <a:extLst>
              <a:ext uri="{FF2B5EF4-FFF2-40B4-BE49-F238E27FC236}">
                <a16:creationId xmlns:a16="http://schemas.microsoft.com/office/drawing/2014/main" id="{FC8AA14A-FC6A-415E-86E0-EAC0D9229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19470" name="Rectangle 14">
            <a:extLst>
              <a:ext uri="{FF2B5EF4-FFF2-40B4-BE49-F238E27FC236}">
                <a16:creationId xmlns:a16="http://schemas.microsoft.com/office/drawing/2014/main" id="{403B5C93-B973-4ABC-8F16-F8EA65B42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19471" name="Rectangle 15">
            <a:extLst>
              <a:ext uri="{FF2B5EF4-FFF2-40B4-BE49-F238E27FC236}">
                <a16:creationId xmlns:a16="http://schemas.microsoft.com/office/drawing/2014/main" id="{7C305F4A-C648-4719-BC04-9502785BA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0CE6948B-07C1-4314-BA91-95EB48C71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19473" name="Rectangle 17">
            <a:extLst>
              <a:ext uri="{FF2B5EF4-FFF2-40B4-BE49-F238E27FC236}">
                <a16:creationId xmlns:a16="http://schemas.microsoft.com/office/drawing/2014/main" id="{F4AC7E84-F063-4AD2-9104-3E83A481E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0674A835-A719-4C4F-A6A1-A12262D71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19475" name="Rectangle 19" descr="Outlined diamond">
            <a:extLst>
              <a:ext uri="{FF2B5EF4-FFF2-40B4-BE49-F238E27FC236}">
                <a16:creationId xmlns:a16="http://schemas.microsoft.com/office/drawing/2014/main" id="{5C9923FC-19C8-43E9-8BD6-47F4E2819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19476" name="Rectangle 20">
            <a:extLst>
              <a:ext uri="{FF2B5EF4-FFF2-40B4-BE49-F238E27FC236}">
                <a16:creationId xmlns:a16="http://schemas.microsoft.com/office/drawing/2014/main" id="{E3770119-45ED-41E2-AEA9-C40A008DF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sp>
        <p:nvSpPr>
          <p:cNvPr id="19477" name="Rectangle 21">
            <a:extLst>
              <a:ext uri="{FF2B5EF4-FFF2-40B4-BE49-F238E27FC236}">
                <a16:creationId xmlns:a16="http://schemas.microsoft.com/office/drawing/2014/main" id="{D450DC31-D0C0-43C6-86EB-FB35558FE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13</a:t>
            </a:r>
          </a:p>
        </p:txBody>
      </p:sp>
      <p:sp>
        <p:nvSpPr>
          <p:cNvPr id="19478" name="Rectangle 22">
            <a:extLst>
              <a:ext uri="{FF2B5EF4-FFF2-40B4-BE49-F238E27FC236}">
                <a16:creationId xmlns:a16="http://schemas.microsoft.com/office/drawing/2014/main" id="{7E270394-F23D-406D-A95D-27E665D5B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25</a:t>
            </a:r>
          </a:p>
        </p:txBody>
      </p:sp>
      <p:sp>
        <p:nvSpPr>
          <p:cNvPr id="19479" name="Rectangle 23">
            <a:extLst>
              <a:ext uri="{FF2B5EF4-FFF2-40B4-BE49-F238E27FC236}">
                <a16:creationId xmlns:a16="http://schemas.microsoft.com/office/drawing/2014/main" id="{61185FC2-0C1B-4468-88E6-28C20B268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19480" name="Rectangle 24">
            <a:extLst>
              <a:ext uri="{FF2B5EF4-FFF2-40B4-BE49-F238E27FC236}">
                <a16:creationId xmlns:a16="http://schemas.microsoft.com/office/drawing/2014/main" id="{CAD39D0C-FFC8-4F10-8439-F10591259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19481" name="Rectangle 25">
            <a:extLst>
              <a:ext uri="{FF2B5EF4-FFF2-40B4-BE49-F238E27FC236}">
                <a16:creationId xmlns:a16="http://schemas.microsoft.com/office/drawing/2014/main" id="{0B9B4EAE-D9EC-4022-A43F-C80E2255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43</a:t>
            </a:r>
          </a:p>
        </p:txBody>
      </p:sp>
      <p:sp>
        <p:nvSpPr>
          <p:cNvPr id="19482" name="Rectangle 26" descr="Outlined diamond">
            <a:extLst>
              <a:ext uri="{FF2B5EF4-FFF2-40B4-BE49-F238E27FC236}">
                <a16:creationId xmlns:a16="http://schemas.microsoft.com/office/drawing/2014/main" id="{1DA97FEC-7F82-41A8-AAE4-E0D68142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19483" name="Rectangle 27" descr="Outlined diamond">
            <a:extLst>
              <a:ext uri="{FF2B5EF4-FFF2-40B4-BE49-F238E27FC236}">
                <a16:creationId xmlns:a16="http://schemas.microsoft.com/office/drawing/2014/main" id="{F2414510-B529-4FDF-A7BE-3A5C9BE1A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19484" name="Rectangle 28" descr="Outlined diamond">
            <a:extLst>
              <a:ext uri="{FF2B5EF4-FFF2-40B4-BE49-F238E27FC236}">
                <a16:creationId xmlns:a16="http://schemas.microsoft.com/office/drawing/2014/main" id="{C5598A61-E4E7-4AEB-A3EF-84E0FA204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19485" name="Rectangle 29" descr="Outlined diamond">
            <a:extLst>
              <a:ext uri="{FF2B5EF4-FFF2-40B4-BE49-F238E27FC236}">
                <a16:creationId xmlns:a16="http://schemas.microsoft.com/office/drawing/2014/main" id="{E13E8A56-7E19-4CF9-A7A6-E08DBD715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19486" name="Rectangle 30" descr="Outlined diamond">
            <a:extLst>
              <a:ext uri="{FF2B5EF4-FFF2-40B4-BE49-F238E27FC236}">
                <a16:creationId xmlns:a16="http://schemas.microsoft.com/office/drawing/2014/main" id="{1F794AE2-2446-4733-84DD-66C5102AD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19487" name="Rectangle 31" descr="Outlined diamond">
            <a:extLst>
              <a:ext uri="{FF2B5EF4-FFF2-40B4-BE49-F238E27FC236}">
                <a16:creationId xmlns:a16="http://schemas.microsoft.com/office/drawing/2014/main" id="{DB5F79E7-29F0-4C18-B9D6-D37233E97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19488" name="Rectangle 32" descr="Outlined diamond">
            <a:extLst>
              <a:ext uri="{FF2B5EF4-FFF2-40B4-BE49-F238E27FC236}">
                <a16:creationId xmlns:a16="http://schemas.microsoft.com/office/drawing/2014/main" id="{5EC70F69-FAF0-4C4E-AA07-2BE64D53C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19489" name="Rectangle 33">
            <a:extLst>
              <a:ext uri="{FF2B5EF4-FFF2-40B4-BE49-F238E27FC236}">
                <a16:creationId xmlns:a16="http://schemas.microsoft.com/office/drawing/2014/main" id="{D06BF308-7118-40F4-9631-74D81535C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6</a:t>
            </a:r>
          </a:p>
        </p:txBody>
      </p:sp>
      <p:sp>
        <p:nvSpPr>
          <p:cNvPr id="19490" name="Rectangle 34">
            <a:extLst>
              <a:ext uri="{FF2B5EF4-FFF2-40B4-BE49-F238E27FC236}">
                <a16:creationId xmlns:a16="http://schemas.microsoft.com/office/drawing/2014/main" id="{B01F7FF6-4C68-4B39-B920-DEFEF0F9D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575" y="5102225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19491" name="Line 35">
            <a:extLst>
              <a:ext uri="{FF2B5EF4-FFF2-40B4-BE49-F238E27FC236}">
                <a16:creationId xmlns:a16="http://schemas.microsoft.com/office/drawing/2014/main" id="{7C856342-2A6B-430A-9DAA-C7D8CAD4FC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55725" y="48387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5" name="Rectangle 39">
            <a:extLst>
              <a:ext uri="{FF2B5EF4-FFF2-40B4-BE49-F238E27FC236}">
                <a16:creationId xmlns:a16="http://schemas.microsoft.com/office/drawing/2014/main" id="{0E5FB1F1-EBB0-4DAD-A350-C5AE50F59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6025" y="5103813"/>
            <a:ext cx="504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mid</a:t>
            </a:r>
          </a:p>
        </p:txBody>
      </p:sp>
      <p:sp>
        <p:nvSpPr>
          <p:cNvPr id="19496" name="Line 40">
            <a:extLst>
              <a:ext uri="{FF2B5EF4-FFF2-40B4-BE49-F238E27FC236}">
                <a16:creationId xmlns:a16="http://schemas.microsoft.com/office/drawing/2014/main" id="{3C960649-1AFD-4D7F-B820-BE3A7CF480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2563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7" name="Oval 41">
            <a:extLst>
              <a:ext uri="{FF2B5EF4-FFF2-40B4-BE49-F238E27FC236}">
                <a16:creationId xmlns:a16="http://schemas.microsoft.com/office/drawing/2014/main" id="{07C71359-8C0D-4E2B-90E3-AC42EF868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225" y="4137025"/>
            <a:ext cx="357188" cy="357188"/>
          </a:xfrm>
          <a:prstGeom prst="ellipse">
            <a:avLst/>
          </a:prstGeom>
          <a:solidFill>
            <a:schemeClr val="folHlink">
              <a:alpha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498" name="Rectangle 42">
            <a:extLst>
              <a:ext uri="{FF2B5EF4-FFF2-40B4-BE49-F238E27FC236}">
                <a16:creationId xmlns:a16="http://schemas.microsoft.com/office/drawing/2014/main" id="{A5ADF772-C455-4B59-8CC5-5828710A3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19499" name="Line 43">
            <a:extLst>
              <a:ext uri="{FF2B5EF4-FFF2-40B4-BE49-F238E27FC236}">
                <a16:creationId xmlns:a16="http://schemas.microsoft.com/office/drawing/2014/main" id="{4E2B2D46-B02C-4126-BD24-244509BC27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3F0F83B-BF69-44B6-AA49-A1ABD18CAC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779BF3C-EE1E-4F5E-9329-FB4457CAA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EA61D8AD-C115-438E-BAE4-D2B7BC591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9935B5C8-309C-47B7-B035-318845FB7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9EF4771-0357-4CF0-9896-31521D7A8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C2B660D0-7E88-4273-BBEC-098E8820F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1B552DC3-A976-4D2B-8BC1-82C551202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3283CC21-7F5C-44F8-8F0A-050C538FD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F71D000F-9C41-42FE-9493-ABB30052A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DF5EC1A4-E156-4BA7-89CF-1152AACCB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20492" name="Rectangle 12">
            <a:extLst>
              <a:ext uri="{FF2B5EF4-FFF2-40B4-BE49-F238E27FC236}">
                <a16:creationId xmlns:a16="http://schemas.microsoft.com/office/drawing/2014/main" id="{A7C49635-6155-4162-B4B7-72C0F31D4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43DAF230-4091-4058-B040-4037C7E75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20494" name="Rectangle 14">
            <a:extLst>
              <a:ext uri="{FF2B5EF4-FFF2-40B4-BE49-F238E27FC236}">
                <a16:creationId xmlns:a16="http://schemas.microsoft.com/office/drawing/2014/main" id="{8A1D7F65-6677-4B50-B291-ABE791172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20495" name="Rectangle 15">
            <a:extLst>
              <a:ext uri="{FF2B5EF4-FFF2-40B4-BE49-F238E27FC236}">
                <a16:creationId xmlns:a16="http://schemas.microsoft.com/office/drawing/2014/main" id="{AC407D4B-6A16-42E5-8D8E-E42843E0F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20496" name="Rectangle 16">
            <a:extLst>
              <a:ext uri="{FF2B5EF4-FFF2-40B4-BE49-F238E27FC236}">
                <a16:creationId xmlns:a16="http://schemas.microsoft.com/office/drawing/2014/main" id="{1B4F28F5-8A18-4496-B942-33B1D7075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5BE287AD-0760-4160-8A8D-6D648531F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0498" name="Rectangle 18">
            <a:extLst>
              <a:ext uri="{FF2B5EF4-FFF2-40B4-BE49-F238E27FC236}">
                <a16:creationId xmlns:a16="http://schemas.microsoft.com/office/drawing/2014/main" id="{4E1A217E-23AB-4E5B-9EB2-03213836C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0499" name="Rectangle 19" descr="Outlined diamond">
            <a:extLst>
              <a:ext uri="{FF2B5EF4-FFF2-40B4-BE49-F238E27FC236}">
                <a16:creationId xmlns:a16="http://schemas.microsoft.com/office/drawing/2014/main" id="{83F95CCE-B29A-4697-9582-D21E0D118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20500" name="Rectangle 20" descr="Outlined diamond">
            <a:extLst>
              <a:ext uri="{FF2B5EF4-FFF2-40B4-BE49-F238E27FC236}">
                <a16:creationId xmlns:a16="http://schemas.microsoft.com/office/drawing/2014/main" id="{D5F5F4D2-4CBF-47A9-9DD2-05AA7669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0501" name="Rectangle 21" descr="Outlined diamond">
            <a:extLst>
              <a:ext uri="{FF2B5EF4-FFF2-40B4-BE49-F238E27FC236}">
                <a16:creationId xmlns:a16="http://schemas.microsoft.com/office/drawing/2014/main" id="{47C114C3-320B-494B-B52D-62071F6A1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0502" name="Rectangle 22" descr="Outlined diamond">
            <a:extLst>
              <a:ext uri="{FF2B5EF4-FFF2-40B4-BE49-F238E27FC236}">
                <a16:creationId xmlns:a16="http://schemas.microsoft.com/office/drawing/2014/main" id="{B0CB95BE-B344-461A-83F8-B9DFC9F7D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20503" name="Rectangle 23">
            <a:extLst>
              <a:ext uri="{FF2B5EF4-FFF2-40B4-BE49-F238E27FC236}">
                <a16:creationId xmlns:a16="http://schemas.microsoft.com/office/drawing/2014/main" id="{CA327D5D-8E76-4491-9558-8CD16BC05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20504" name="Rectangle 24">
            <a:extLst>
              <a:ext uri="{FF2B5EF4-FFF2-40B4-BE49-F238E27FC236}">
                <a16:creationId xmlns:a16="http://schemas.microsoft.com/office/drawing/2014/main" id="{104E61E3-29F5-4F1C-8240-8259725E8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20505" name="Rectangle 25">
            <a:extLst>
              <a:ext uri="{FF2B5EF4-FFF2-40B4-BE49-F238E27FC236}">
                <a16:creationId xmlns:a16="http://schemas.microsoft.com/office/drawing/2014/main" id="{4AE0406C-475C-4B1D-BC7E-47B3570C9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43</a:t>
            </a:r>
          </a:p>
        </p:txBody>
      </p:sp>
      <p:sp>
        <p:nvSpPr>
          <p:cNvPr id="20506" name="Rectangle 26" descr="Outlined diamond">
            <a:extLst>
              <a:ext uri="{FF2B5EF4-FFF2-40B4-BE49-F238E27FC236}">
                <a16:creationId xmlns:a16="http://schemas.microsoft.com/office/drawing/2014/main" id="{30A8FBAE-939F-481F-85C8-1522EFB1E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20507" name="Rectangle 27" descr="Outlined diamond">
            <a:extLst>
              <a:ext uri="{FF2B5EF4-FFF2-40B4-BE49-F238E27FC236}">
                <a16:creationId xmlns:a16="http://schemas.microsoft.com/office/drawing/2014/main" id="{FCBF655E-4264-4676-BD82-3DA65BC3F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20508" name="Rectangle 28" descr="Outlined diamond">
            <a:extLst>
              <a:ext uri="{FF2B5EF4-FFF2-40B4-BE49-F238E27FC236}">
                <a16:creationId xmlns:a16="http://schemas.microsoft.com/office/drawing/2014/main" id="{0B7BB3D4-FDBB-4B2C-8E77-691DFC4DC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20509" name="Rectangle 29" descr="Outlined diamond">
            <a:extLst>
              <a:ext uri="{FF2B5EF4-FFF2-40B4-BE49-F238E27FC236}">
                <a16:creationId xmlns:a16="http://schemas.microsoft.com/office/drawing/2014/main" id="{5F5C2BDC-02A4-4921-853C-A380E94A7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20510" name="Rectangle 30" descr="Outlined diamond">
            <a:extLst>
              <a:ext uri="{FF2B5EF4-FFF2-40B4-BE49-F238E27FC236}">
                <a16:creationId xmlns:a16="http://schemas.microsoft.com/office/drawing/2014/main" id="{CEA0A099-BF7A-4545-82CC-E4CB7B4D1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20511" name="Rectangle 31" descr="Outlined diamond">
            <a:extLst>
              <a:ext uri="{FF2B5EF4-FFF2-40B4-BE49-F238E27FC236}">
                <a16:creationId xmlns:a16="http://schemas.microsoft.com/office/drawing/2014/main" id="{B32A3349-D641-41F9-A8D1-9ED62FFB0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20512" name="Rectangle 32" descr="Outlined diamond">
            <a:extLst>
              <a:ext uri="{FF2B5EF4-FFF2-40B4-BE49-F238E27FC236}">
                <a16:creationId xmlns:a16="http://schemas.microsoft.com/office/drawing/2014/main" id="{A78E8244-251D-4FC6-8032-77166E333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20513" name="Rectangle 33" descr="Outlined diamond">
            <a:extLst>
              <a:ext uri="{FF2B5EF4-FFF2-40B4-BE49-F238E27FC236}">
                <a16:creationId xmlns:a16="http://schemas.microsoft.com/office/drawing/2014/main" id="{964A6BC3-4879-4C7C-BD51-835F2435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0519" name="Rectangle 39">
            <a:extLst>
              <a:ext uri="{FF2B5EF4-FFF2-40B4-BE49-F238E27FC236}">
                <a16:creationId xmlns:a16="http://schemas.microsoft.com/office/drawing/2014/main" id="{E5EBD15C-FFB7-4653-981E-9F4C8B466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20520" name="Line 40">
            <a:extLst>
              <a:ext uri="{FF2B5EF4-FFF2-40B4-BE49-F238E27FC236}">
                <a16:creationId xmlns:a16="http://schemas.microsoft.com/office/drawing/2014/main" id="{8DF80A71-EA3E-4B7D-A23C-53B3D3941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2" name="Rectangle 42">
            <a:extLst>
              <a:ext uri="{FF2B5EF4-FFF2-40B4-BE49-F238E27FC236}">
                <a16:creationId xmlns:a16="http://schemas.microsoft.com/office/drawing/2014/main" id="{865E0331-291F-47CC-B5B1-54E5BB20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20523" name="Line 43">
            <a:extLst>
              <a:ext uri="{FF2B5EF4-FFF2-40B4-BE49-F238E27FC236}">
                <a16:creationId xmlns:a16="http://schemas.microsoft.com/office/drawing/2014/main" id="{AFA1EF13-AED3-4A67-857F-0313EF1BA0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EBE6A3D-37EF-419A-BA04-C802CF780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0A7F041-280D-482F-B7A2-65E3B175B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983A8C30-9C76-46D1-91AA-2FF7080FF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9DF874C6-EDFC-4E59-8B62-26C0EAB9B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5758C911-7583-49EC-90F3-CA3D990FE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19EDCAF9-41CE-435D-998D-AB08139F1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DB859016-BA6B-47A4-A7BA-A2921A2CC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C1AC820F-A32A-45DF-8908-4DDEBBC2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E13AF251-4C3B-4DA9-9114-9F7E5936F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86814988-90BB-49E1-A01F-20A648327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21EA07EB-B41F-4C49-A248-DB0719E0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F1D0C084-F7C8-411F-B1AF-B07192EF3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6B268B34-4B50-4C5F-84EE-E1B0EA7A2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376A7708-98AF-447F-BC93-54249981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31E04B89-87CC-42DF-8AFA-F962852C5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E0682891-7DEF-4344-96C3-EE63084E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C24100AF-8379-4CE0-BF4E-945BF28C4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1523" name="Rectangle 19" descr="Outlined diamond">
            <a:extLst>
              <a:ext uri="{FF2B5EF4-FFF2-40B4-BE49-F238E27FC236}">
                <a16:creationId xmlns:a16="http://schemas.microsoft.com/office/drawing/2014/main" id="{C92A6F9B-FF7C-4F62-8066-875CCBF39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21524" name="Rectangle 20" descr="Outlined diamond">
            <a:extLst>
              <a:ext uri="{FF2B5EF4-FFF2-40B4-BE49-F238E27FC236}">
                <a16:creationId xmlns:a16="http://schemas.microsoft.com/office/drawing/2014/main" id="{AE22E4A4-C84E-4788-B2FD-D565F5E96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1525" name="Rectangle 21" descr="Outlined diamond">
            <a:extLst>
              <a:ext uri="{FF2B5EF4-FFF2-40B4-BE49-F238E27FC236}">
                <a16:creationId xmlns:a16="http://schemas.microsoft.com/office/drawing/2014/main" id="{772B65EE-CC51-4129-AD79-E71FA7C96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1526" name="Rectangle 22" descr="Outlined diamond">
            <a:extLst>
              <a:ext uri="{FF2B5EF4-FFF2-40B4-BE49-F238E27FC236}">
                <a16:creationId xmlns:a16="http://schemas.microsoft.com/office/drawing/2014/main" id="{CD789182-D292-4124-827A-409A4561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54B6CF4D-355F-43D7-A8CC-B8D6177F4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BCC54A58-7F3A-4EC9-8B83-C29FA0CEF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51</a:t>
            </a:r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E438756A-8454-4842-927F-0488D8A44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43</a:t>
            </a:r>
          </a:p>
        </p:txBody>
      </p:sp>
      <p:sp>
        <p:nvSpPr>
          <p:cNvPr id="21530" name="Rectangle 26" descr="Outlined diamond">
            <a:extLst>
              <a:ext uri="{FF2B5EF4-FFF2-40B4-BE49-F238E27FC236}">
                <a16:creationId xmlns:a16="http://schemas.microsoft.com/office/drawing/2014/main" id="{9FE32A0A-2F9E-4F4F-9FEC-21A77F11F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21531" name="Rectangle 27" descr="Outlined diamond">
            <a:extLst>
              <a:ext uri="{FF2B5EF4-FFF2-40B4-BE49-F238E27FC236}">
                <a16:creationId xmlns:a16="http://schemas.microsoft.com/office/drawing/2014/main" id="{E85284C1-66F9-4D98-BB4D-06820F6F0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21532" name="Rectangle 28" descr="Outlined diamond">
            <a:extLst>
              <a:ext uri="{FF2B5EF4-FFF2-40B4-BE49-F238E27FC236}">
                <a16:creationId xmlns:a16="http://schemas.microsoft.com/office/drawing/2014/main" id="{2F5C3FAD-1701-4E8A-8A59-2E1C8B75E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21533" name="Rectangle 29" descr="Outlined diamond">
            <a:extLst>
              <a:ext uri="{FF2B5EF4-FFF2-40B4-BE49-F238E27FC236}">
                <a16:creationId xmlns:a16="http://schemas.microsoft.com/office/drawing/2014/main" id="{4F13BF01-E366-451B-8EA2-AA9A5301F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21534" name="Rectangle 30" descr="Outlined diamond">
            <a:extLst>
              <a:ext uri="{FF2B5EF4-FFF2-40B4-BE49-F238E27FC236}">
                <a16:creationId xmlns:a16="http://schemas.microsoft.com/office/drawing/2014/main" id="{758B949D-1714-4A12-A05B-F2651744A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21535" name="Rectangle 31" descr="Outlined diamond">
            <a:extLst>
              <a:ext uri="{FF2B5EF4-FFF2-40B4-BE49-F238E27FC236}">
                <a16:creationId xmlns:a16="http://schemas.microsoft.com/office/drawing/2014/main" id="{B00AB09F-53B5-4CE4-AEEC-387C9FC24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21536" name="Rectangle 32" descr="Outlined diamond">
            <a:extLst>
              <a:ext uri="{FF2B5EF4-FFF2-40B4-BE49-F238E27FC236}">
                <a16:creationId xmlns:a16="http://schemas.microsoft.com/office/drawing/2014/main" id="{57E2276A-73B3-42A3-BEB0-F2A999487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21537" name="Rectangle 33" descr="Outlined diamond">
            <a:extLst>
              <a:ext uri="{FF2B5EF4-FFF2-40B4-BE49-F238E27FC236}">
                <a16:creationId xmlns:a16="http://schemas.microsoft.com/office/drawing/2014/main" id="{7C64A13E-5108-4FA5-85CE-682F204AE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1538" name="Rectangle 34">
            <a:extLst>
              <a:ext uri="{FF2B5EF4-FFF2-40B4-BE49-F238E27FC236}">
                <a16:creationId xmlns:a16="http://schemas.microsoft.com/office/drawing/2014/main" id="{BFF7A9BC-3944-4B68-975B-865C4956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</a:p>
        </p:txBody>
      </p:sp>
      <p:sp>
        <p:nvSpPr>
          <p:cNvPr id="21539" name="Line 35">
            <a:extLst>
              <a:ext uri="{FF2B5EF4-FFF2-40B4-BE49-F238E27FC236}">
                <a16:creationId xmlns:a16="http://schemas.microsoft.com/office/drawing/2014/main" id="{4BB15874-E457-4573-A474-AAA2C29246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0" name="Rectangle 36">
            <a:extLst>
              <a:ext uri="{FF2B5EF4-FFF2-40B4-BE49-F238E27FC236}">
                <a16:creationId xmlns:a16="http://schemas.microsoft.com/office/drawing/2014/main" id="{51D93A76-F491-4DEA-8760-15C33E9EF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4775" y="5103813"/>
            <a:ext cx="3968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hi</a:t>
            </a:r>
          </a:p>
        </p:txBody>
      </p:sp>
      <p:sp>
        <p:nvSpPr>
          <p:cNvPr id="21541" name="Line 37">
            <a:extLst>
              <a:ext uri="{FF2B5EF4-FFF2-40B4-BE49-F238E27FC236}">
                <a16:creationId xmlns:a16="http://schemas.microsoft.com/office/drawing/2014/main" id="{5C13341D-705A-4C0F-9193-7C2B8BE8AF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0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Rectangle 38">
            <a:extLst>
              <a:ext uri="{FF2B5EF4-FFF2-40B4-BE49-F238E27FC236}">
                <a16:creationId xmlns:a16="http://schemas.microsoft.com/office/drawing/2014/main" id="{D1FCB91D-4029-40E6-9AC8-3546419FD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5103813"/>
            <a:ext cx="5048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mid</a:t>
            </a:r>
          </a:p>
        </p:txBody>
      </p:sp>
      <p:sp>
        <p:nvSpPr>
          <p:cNvPr id="21543" name="Line 39">
            <a:extLst>
              <a:ext uri="{FF2B5EF4-FFF2-40B4-BE49-F238E27FC236}">
                <a16:creationId xmlns:a16="http://schemas.microsoft.com/office/drawing/2014/main" id="{24590676-D809-480D-BCD7-4F4B1B8B08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3313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4" name="Oval 40">
            <a:extLst>
              <a:ext uri="{FF2B5EF4-FFF2-40B4-BE49-F238E27FC236}">
                <a16:creationId xmlns:a16="http://schemas.microsoft.com/office/drawing/2014/main" id="{C297BAC8-C2AC-4515-900C-A0AC240C1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2975" y="4137025"/>
            <a:ext cx="357188" cy="357188"/>
          </a:xfrm>
          <a:prstGeom prst="ellipse">
            <a:avLst/>
          </a:prstGeom>
          <a:solidFill>
            <a:schemeClr val="folHlink">
              <a:alpha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C08EF1D-2E87-4C4D-A85F-73DC37C523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0A2E6ED-B315-4F3A-A724-BC2CE9787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4A457182-0AB2-41D8-933C-6E739DF3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CB465678-45DB-444C-9ACD-C114FD54A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65C8488C-E2B8-4C85-B4D0-0E27BD757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5320702A-AA15-4E0B-9C67-E8A3646ED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237E73A7-73CB-4197-8D17-0FF1A2E0E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3561" name="Rectangle 9">
            <a:extLst>
              <a:ext uri="{FF2B5EF4-FFF2-40B4-BE49-F238E27FC236}">
                <a16:creationId xmlns:a16="http://schemas.microsoft.com/office/drawing/2014/main" id="{982A464B-303B-4D46-9D81-28B32C7E4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3562" name="Rectangle 10">
            <a:extLst>
              <a:ext uri="{FF2B5EF4-FFF2-40B4-BE49-F238E27FC236}">
                <a16:creationId xmlns:a16="http://schemas.microsoft.com/office/drawing/2014/main" id="{241128E5-9C4A-4675-BFE0-7EC6BCC6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3563" name="Rectangle 11">
            <a:extLst>
              <a:ext uri="{FF2B5EF4-FFF2-40B4-BE49-F238E27FC236}">
                <a16:creationId xmlns:a16="http://schemas.microsoft.com/office/drawing/2014/main" id="{4E13B8AD-7D3D-4F3B-B50A-FDD811400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23564" name="Rectangle 12">
            <a:extLst>
              <a:ext uri="{FF2B5EF4-FFF2-40B4-BE49-F238E27FC236}">
                <a16:creationId xmlns:a16="http://schemas.microsoft.com/office/drawing/2014/main" id="{7B908EC2-3ED2-4C0B-8098-82854E02F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3565" name="Rectangle 13">
            <a:extLst>
              <a:ext uri="{FF2B5EF4-FFF2-40B4-BE49-F238E27FC236}">
                <a16:creationId xmlns:a16="http://schemas.microsoft.com/office/drawing/2014/main" id="{0A626B3F-7999-4592-B953-7623C9947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23566" name="Rectangle 14">
            <a:extLst>
              <a:ext uri="{FF2B5EF4-FFF2-40B4-BE49-F238E27FC236}">
                <a16:creationId xmlns:a16="http://schemas.microsoft.com/office/drawing/2014/main" id="{55726FBA-5B6C-48F3-BA52-B5E3E0E85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23567" name="Rectangle 15">
            <a:extLst>
              <a:ext uri="{FF2B5EF4-FFF2-40B4-BE49-F238E27FC236}">
                <a16:creationId xmlns:a16="http://schemas.microsoft.com/office/drawing/2014/main" id="{BA314055-497A-42A0-97E2-C5DA4C948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23568" name="Rectangle 16">
            <a:extLst>
              <a:ext uri="{FF2B5EF4-FFF2-40B4-BE49-F238E27FC236}">
                <a16:creationId xmlns:a16="http://schemas.microsoft.com/office/drawing/2014/main" id="{7A1CD020-0270-45A4-89D9-8DF41119C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3569" name="Rectangle 17">
            <a:extLst>
              <a:ext uri="{FF2B5EF4-FFF2-40B4-BE49-F238E27FC236}">
                <a16:creationId xmlns:a16="http://schemas.microsoft.com/office/drawing/2014/main" id="{1CE33F61-6CE1-4F02-A7D9-815E4E0B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3570" name="Rectangle 18">
            <a:extLst>
              <a:ext uri="{FF2B5EF4-FFF2-40B4-BE49-F238E27FC236}">
                <a16:creationId xmlns:a16="http://schemas.microsoft.com/office/drawing/2014/main" id="{7839A099-6A61-4589-990A-2434A4CB4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3571" name="Rectangle 19" descr="Outlined diamond">
            <a:extLst>
              <a:ext uri="{FF2B5EF4-FFF2-40B4-BE49-F238E27FC236}">
                <a16:creationId xmlns:a16="http://schemas.microsoft.com/office/drawing/2014/main" id="{BBE9B7BB-4ABB-4899-B748-2C057E88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23572" name="Rectangle 20" descr="Outlined diamond">
            <a:extLst>
              <a:ext uri="{FF2B5EF4-FFF2-40B4-BE49-F238E27FC236}">
                <a16:creationId xmlns:a16="http://schemas.microsoft.com/office/drawing/2014/main" id="{90315184-EF69-4CDA-BF38-997651549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3573" name="Rectangle 21" descr="Outlined diamond">
            <a:extLst>
              <a:ext uri="{FF2B5EF4-FFF2-40B4-BE49-F238E27FC236}">
                <a16:creationId xmlns:a16="http://schemas.microsoft.com/office/drawing/2014/main" id="{173A5DB4-A60E-4994-8AA0-B94F095CC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3574" name="Rectangle 22" descr="Outlined diamond">
            <a:extLst>
              <a:ext uri="{FF2B5EF4-FFF2-40B4-BE49-F238E27FC236}">
                <a16:creationId xmlns:a16="http://schemas.microsoft.com/office/drawing/2014/main" id="{1067CDC7-00C5-48C3-8A88-D3478190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23575" name="Rectangle 23">
            <a:extLst>
              <a:ext uri="{FF2B5EF4-FFF2-40B4-BE49-F238E27FC236}">
                <a16:creationId xmlns:a16="http://schemas.microsoft.com/office/drawing/2014/main" id="{E2958E81-BA53-4705-907B-8D6214D89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>
                    <a:lumMod val="95000"/>
                  </a:schemeClr>
                </a:solidFill>
              </a:rPr>
              <a:t>33</a:t>
            </a:r>
          </a:p>
        </p:txBody>
      </p:sp>
      <p:sp>
        <p:nvSpPr>
          <p:cNvPr id="23576" name="Rectangle 24" descr="Outlined diamond">
            <a:extLst>
              <a:ext uri="{FF2B5EF4-FFF2-40B4-BE49-F238E27FC236}">
                <a16:creationId xmlns:a16="http://schemas.microsoft.com/office/drawing/2014/main" id="{9FAC97EA-4B23-48AF-80D0-76C83E8F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51</a:t>
            </a:r>
          </a:p>
        </p:txBody>
      </p:sp>
      <p:sp>
        <p:nvSpPr>
          <p:cNvPr id="23577" name="Rectangle 25" descr="Outlined diamond">
            <a:extLst>
              <a:ext uri="{FF2B5EF4-FFF2-40B4-BE49-F238E27FC236}">
                <a16:creationId xmlns:a16="http://schemas.microsoft.com/office/drawing/2014/main" id="{3106D9F2-EC28-4FA9-A0D8-835DF8F77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43</a:t>
            </a:r>
          </a:p>
        </p:txBody>
      </p:sp>
      <p:sp>
        <p:nvSpPr>
          <p:cNvPr id="23578" name="Rectangle 26" descr="Outlined diamond">
            <a:extLst>
              <a:ext uri="{FF2B5EF4-FFF2-40B4-BE49-F238E27FC236}">
                <a16:creationId xmlns:a16="http://schemas.microsoft.com/office/drawing/2014/main" id="{5ECEB3D9-043B-44F8-9C70-157BDCDE2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23579" name="Rectangle 27" descr="Outlined diamond">
            <a:extLst>
              <a:ext uri="{FF2B5EF4-FFF2-40B4-BE49-F238E27FC236}">
                <a16:creationId xmlns:a16="http://schemas.microsoft.com/office/drawing/2014/main" id="{5549B352-F7DC-4238-9E74-AF78A57ED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23580" name="Rectangle 28" descr="Outlined diamond">
            <a:extLst>
              <a:ext uri="{FF2B5EF4-FFF2-40B4-BE49-F238E27FC236}">
                <a16:creationId xmlns:a16="http://schemas.microsoft.com/office/drawing/2014/main" id="{81B9B51C-9EA2-44BD-A3B9-08C656950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23581" name="Rectangle 29" descr="Outlined diamond">
            <a:extLst>
              <a:ext uri="{FF2B5EF4-FFF2-40B4-BE49-F238E27FC236}">
                <a16:creationId xmlns:a16="http://schemas.microsoft.com/office/drawing/2014/main" id="{F60095DA-82CC-4379-A6C7-03F84DA0D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23582" name="Rectangle 30" descr="Outlined diamond">
            <a:extLst>
              <a:ext uri="{FF2B5EF4-FFF2-40B4-BE49-F238E27FC236}">
                <a16:creationId xmlns:a16="http://schemas.microsoft.com/office/drawing/2014/main" id="{DE568A77-AE1F-43AF-A26F-72BE9D33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23583" name="Rectangle 31" descr="Outlined diamond">
            <a:extLst>
              <a:ext uri="{FF2B5EF4-FFF2-40B4-BE49-F238E27FC236}">
                <a16:creationId xmlns:a16="http://schemas.microsoft.com/office/drawing/2014/main" id="{3BF3BFEA-98DB-441F-9ECD-162BDED58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23584" name="Rectangle 32" descr="Outlined diamond">
            <a:extLst>
              <a:ext uri="{FF2B5EF4-FFF2-40B4-BE49-F238E27FC236}">
                <a16:creationId xmlns:a16="http://schemas.microsoft.com/office/drawing/2014/main" id="{B83B5E4A-27D9-4CB6-A906-702D51910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23585" name="Rectangle 33" descr="Outlined diamond">
            <a:extLst>
              <a:ext uri="{FF2B5EF4-FFF2-40B4-BE49-F238E27FC236}">
                <a16:creationId xmlns:a16="http://schemas.microsoft.com/office/drawing/2014/main" id="{3341C1B6-7309-4502-8A24-09D3F5156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3586" name="Rectangle 34">
            <a:extLst>
              <a:ext uri="{FF2B5EF4-FFF2-40B4-BE49-F238E27FC236}">
                <a16:creationId xmlns:a16="http://schemas.microsoft.com/office/drawing/2014/main" id="{9D29B060-8F89-40D0-A58F-F1991B354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5103813"/>
            <a:ext cx="396875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  <a:br>
              <a:rPr kumimoji="1" lang="en-US" altLang="en-US" b="1"/>
            </a:br>
            <a:r>
              <a:rPr kumimoji="1" lang="en-US" altLang="en-US" b="1"/>
              <a:t>hi</a:t>
            </a:r>
          </a:p>
        </p:txBody>
      </p:sp>
      <p:sp>
        <p:nvSpPr>
          <p:cNvPr id="23587" name="Line 35">
            <a:extLst>
              <a:ext uri="{FF2B5EF4-FFF2-40B4-BE49-F238E27FC236}">
                <a16:creationId xmlns:a16="http://schemas.microsoft.com/office/drawing/2014/main" id="{308BA11D-E038-4D3E-83E2-CF25430E55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30811E7-26E8-4AA6-B42E-DF59D4CD9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49EE256-3357-44AE-AAB5-ED84A649D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D63080C3-8C34-40A1-ADB7-DB996803C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857090DC-A81C-4B5E-B76E-29B32B6DB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5EC1B28F-3E53-4E7F-9C6C-500BA536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7856E7DF-9B74-43B6-B258-908DB2443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DB3B5C08-A93B-4D83-90B5-DEFB675DE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4080322E-59CF-4370-B0BA-9FF747894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4586" name="Rectangle 10">
            <a:extLst>
              <a:ext uri="{FF2B5EF4-FFF2-40B4-BE49-F238E27FC236}">
                <a16:creationId xmlns:a16="http://schemas.microsoft.com/office/drawing/2014/main" id="{138301E1-D8FF-404A-B373-5C4EB72F6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4587" name="Rectangle 11">
            <a:extLst>
              <a:ext uri="{FF2B5EF4-FFF2-40B4-BE49-F238E27FC236}">
                <a16:creationId xmlns:a16="http://schemas.microsoft.com/office/drawing/2014/main" id="{7C1503B7-E5DF-4363-833F-62E450161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24588" name="Rectangle 12">
            <a:extLst>
              <a:ext uri="{FF2B5EF4-FFF2-40B4-BE49-F238E27FC236}">
                <a16:creationId xmlns:a16="http://schemas.microsoft.com/office/drawing/2014/main" id="{839924D2-12C8-4451-84AB-AD08D0101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4589" name="Rectangle 13">
            <a:extLst>
              <a:ext uri="{FF2B5EF4-FFF2-40B4-BE49-F238E27FC236}">
                <a16:creationId xmlns:a16="http://schemas.microsoft.com/office/drawing/2014/main" id="{C86FED28-3302-4635-AF61-405D2785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24590" name="Rectangle 14">
            <a:extLst>
              <a:ext uri="{FF2B5EF4-FFF2-40B4-BE49-F238E27FC236}">
                <a16:creationId xmlns:a16="http://schemas.microsoft.com/office/drawing/2014/main" id="{ED3832C3-AF8E-460D-8227-26FE054DC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24591" name="Rectangle 15">
            <a:extLst>
              <a:ext uri="{FF2B5EF4-FFF2-40B4-BE49-F238E27FC236}">
                <a16:creationId xmlns:a16="http://schemas.microsoft.com/office/drawing/2014/main" id="{0800EBE4-BFFD-45C0-8234-3293E6F07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24592" name="Rectangle 16">
            <a:extLst>
              <a:ext uri="{FF2B5EF4-FFF2-40B4-BE49-F238E27FC236}">
                <a16:creationId xmlns:a16="http://schemas.microsoft.com/office/drawing/2014/main" id="{D99F71A5-9248-493B-B834-99FE84BA0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4593" name="Rectangle 17">
            <a:extLst>
              <a:ext uri="{FF2B5EF4-FFF2-40B4-BE49-F238E27FC236}">
                <a16:creationId xmlns:a16="http://schemas.microsoft.com/office/drawing/2014/main" id="{ED2E6F00-9A6C-440C-827D-CEBB1171A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4594" name="Rectangle 18">
            <a:extLst>
              <a:ext uri="{FF2B5EF4-FFF2-40B4-BE49-F238E27FC236}">
                <a16:creationId xmlns:a16="http://schemas.microsoft.com/office/drawing/2014/main" id="{524E87D7-C68D-46D0-8D54-4E7DC8A43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4595" name="Rectangle 19" descr="Outlined diamond">
            <a:extLst>
              <a:ext uri="{FF2B5EF4-FFF2-40B4-BE49-F238E27FC236}">
                <a16:creationId xmlns:a16="http://schemas.microsoft.com/office/drawing/2014/main" id="{7611F281-A446-4D84-8804-28A843BE1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24596" name="Rectangle 20" descr="Outlined diamond">
            <a:extLst>
              <a:ext uri="{FF2B5EF4-FFF2-40B4-BE49-F238E27FC236}">
                <a16:creationId xmlns:a16="http://schemas.microsoft.com/office/drawing/2014/main" id="{AE6122AF-76DD-4756-B065-76EC36D3A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4597" name="Rectangle 21" descr="Outlined diamond">
            <a:extLst>
              <a:ext uri="{FF2B5EF4-FFF2-40B4-BE49-F238E27FC236}">
                <a16:creationId xmlns:a16="http://schemas.microsoft.com/office/drawing/2014/main" id="{54D250AF-091C-4AD6-BFBD-FEDB3BFD1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4598" name="Rectangle 22" descr="Outlined diamond">
            <a:extLst>
              <a:ext uri="{FF2B5EF4-FFF2-40B4-BE49-F238E27FC236}">
                <a16:creationId xmlns:a16="http://schemas.microsoft.com/office/drawing/2014/main" id="{4F7B7186-1497-4A5A-B2E4-66D9AF811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24599" name="Rectangle 23">
            <a:extLst>
              <a:ext uri="{FF2B5EF4-FFF2-40B4-BE49-F238E27FC236}">
                <a16:creationId xmlns:a16="http://schemas.microsoft.com/office/drawing/2014/main" id="{99CBA482-0980-4E12-B90C-C19B651C2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/>
              <a:t>33</a:t>
            </a:r>
          </a:p>
        </p:txBody>
      </p:sp>
      <p:sp>
        <p:nvSpPr>
          <p:cNvPr id="24600" name="Rectangle 24" descr="Outlined diamond">
            <a:extLst>
              <a:ext uri="{FF2B5EF4-FFF2-40B4-BE49-F238E27FC236}">
                <a16:creationId xmlns:a16="http://schemas.microsoft.com/office/drawing/2014/main" id="{D1109174-98ED-460D-B5B4-27E8A9F78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51</a:t>
            </a:r>
          </a:p>
        </p:txBody>
      </p:sp>
      <p:sp>
        <p:nvSpPr>
          <p:cNvPr id="24601" name="Rectangle 25" descr="Outlined diamond">
            <a:extLst>
              <a:ext uri="{FF2B5EF4-FFF2-40B4-BE49-F238E27FC236}">
                <a16:creationId xmlns:a16="http://schemas.microsoft.com/office/drawing/2014/main" id="{5C494B78-9F97-4365-A0BA-E8C638FBB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43</a:t>
            </a:r>
          </a:p>
        </p:txBody>
      </p:sp>
      <p:sp>
        <p:nvSpPr>
          <p:cNvPr id="24602" name="Rectangle 26" descr="Outlined diamond">
            <a:extLst>
              <a:ext uri="{FF2B5EF4-FFF2-40B4-BE49-F238E27FC236}">
                <a16:creationId xmlns:a16="http://schemas.microsoft.com/office/drawing/2014/main" id="{8FBF82C7-7423-497C-A87E-488B2C5D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24603" name="Rectangle 27" descr="Outlined diamond">
            <a:extLst>
              <a:ext uri="{FF2B5EF4-FFF2-40B4-BE49-F238E27FC236}">
                <a16:creationId xmlns:a16="http://schemas.microsoft.com/office/drawing/2014/main" id="{F83DD608-E396-4F3E-92CC-9028AFEE5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24604" name="Rectangle 28" descr="Outlined diamond">
            <a:extLst>
              <a:ext uri="{FF2B5EF4-FFF2-40B4-BE49-F238E27FC236}">
                <a16:creationId xmlns:a16="http://schemas.microsoft.com/office/drawing/2014/main" id="{5885FE36-851F-4F52-8D50-CA36414AD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24605" name="Rectangle 29" descr="Outlined diamond">
            <a:extLst>
              <a:ext uri="{FF2B5EF4-FFF2-40B4-BE49-F238E27FC236}">
                <a16:creationId xmlns:a16="http://schemas.microsoft.com/office/drawing/2014/main" id="{92E6589E-870B-4C1D-A94B-68B87951E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24606" name="Rectangle 30" descr="Outlined diamond">
            <a:extLst>
              <a:ext uri="{FF2B5EF4-FFF2-40B4-BE49-F238E27FC236}">
                <a16:creationId xmlns:a16="http://schemas.microsoft.com/office/drawing/2014/main" id="{02BC6515-9A4F-41BB-815A-C53789D9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24607" name="Rectangle 31" descr="Outlined diamond">
            <a:extLst>
              <a:ext uri="{FF2B5EF4-FFF2-40B4-BE49-F238E27FC236}">
                <a16:creationId xmlns:a16="http://schemas.microsoft.com/office/drawing/2014/main" id="{94DA52AF-ADC7-46A6-8333-1A8A8E0F6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24608" name="Rectangle 32" descr="Outlined diamond">
            <a:extLst>
              <a:ext uri="{FF2B5EF4-FFF2-40B4-BE49-F238E27FC236}">
                <a16:creationId xmlns:a16="http://schemas.microsoft.com/office/drawing/2014/main" id="{4BB7CAFC-A448-4681-8770-4D1A810C5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24609" name="Rectangle 33" descr="Outlined diamond">
            <a:extLst>
              <a:ext uri="{FF2B5EF4-FFF2-40B4-BE49-F238E27FC236}">
                <a16:creationId xmlns:a16="http://schemas.microsoft.com/office/drawing/2014/main" id="{8B72E544-88AE-4571-961D-6496D5698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4610" name="Rectangle 34">
            <a:extLst>
              <a:ext uri="{FF2B5EF4-FFF2-40B4-BE49-F238E27FC236}">
                <a16:creationId xmlns:a16="http://schemas.microsoft.com/office/drawing/2014/main" id="{FC3A3CD0-FCE8-49DE-BA2B-6E7D07377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103813"/>
            <a:ext cx="5048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  <a:br>
              <a:rPr kumimoji="1" lang="en-US" altLang="en-US" b="1"/>
            </a:br>
            <a:r>
              <a:rPr kumimoji="1" lang="en-US" altLang="en-US" b="1"/>
              <a:t>hi</a:t>
            </a:r>
            <a:br>
              <a:rPr kumimoji="1" lang="en-US" altLang="en-US" b="1"/>
            </a:br>
            <a:r>
              <a:rPr kumimoji="1" lang="en-US" altLang="en-US" b="1"/>
              <a:t>mid</a:t>
            </a:r>
          </a:p>
        </p:txBody>
      </p:sp>
      <p:sp>
        <p:nvSpPr>
          <p:cNvPr id="24611" name="Line 35">
            <a:extLst>
              <a:ext uri="{FF2B5EF4-FFF2-40B4-BE49-F238E27FC236}">
                <a16:creationId xmlns:a16="http://schemas.microsoft.com/office/drawing/2014/main" id="{CF85341A-0701-4C72-AF66-48C6FC52A3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Oval 36">
            <a:extLst>
              <a:ext uri="{FF2B5EF4-FFF2-40B4-BE49-F238E27FC236}">
                <a16:creationId xmlns:a16="http://schemas.microsoft.com/office/drawing/2014/main" id="{84CACB08-5CB3-4E0D-9175-A2E8F04D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2600" y="4137025"/>
            <a:ext cx="357188" cy="357188"/>
          </a:xfrm>
          <a:prstGeom prst="ellipse">
            <a:avLst/>
          </a:prstGeom>
          <a:solidFill>
            <a:schemeClr val="folHlink">
              <a:alpha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99E35A8-DA7D-4501-A7D7-C084DD9CD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/>
              <a:t>Binary Search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3455C3A-F2FA-42D4-A18D-64726BEA4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US" altLang="en-US"/>
              <a:t>Binary search.   </a:t>
            </a:r>
            <a:r>
              <a:rPr kumimoji="0" lang="en-US" altLang="en-US">
                <a:solidFill>
                  <a:schemeClr val="tx1"/>
                </a:solidFill>
              </a:rPr>
              <a:t>Given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 and sorted array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a[]</a:t>
            </a:r>
            <a:r>
              <a:rPr kumimoji="0" lang="en-US" altLang="en-US">
                <a:solidFill>
                  <a:schemeClr val="tx1"/>
                </a:solidFill>
              </a:rPr>
              <a:t>, find index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i</a:t>
            </a:r>
            <a:b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</a:br>
            <a:r>
              <a:rPr kumimoji="0" lang="en-US" altLang="en-US">
                <a:solidFill>
                  <a:schemeClr val="tx1"/>
                </a:solidFill>
              </a:rPr>
              <a:t>such that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a[i]</a:t>
            </a:r>
            <a:r>
              <a:rPr kumimoji="0" lang="en-US" altLang="en-US">
                <a:solidFill>
                  <a:schemeClr val="tx1"/>
                </a:solidFill>
              </a:rPr>
              <a:t> =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</a:t>
            </a:r>
            <a:r>
              <a:rPr kumimoji="0" lang="en-US" altLang="en-US">
                <a:solidFill>
                  <a:schemeClr val="tx1"/>
                </a:solidFill>
              </a:rPr>
              <a:t>, or report that no such index exists.</a:t>
            </a:r>
          </a:p>
          <a:p>
            <a:endParaRPr kumimoji="0" lang="en-US" altLang="en-US"/>
          </a:p>
          <a:p>
            <a:r>
              <a:rPr kumimoji="0" lang="en-US" altLang="en-US"/>
              <a:t>Invariant.  </a:t>
            </a:r>
            <a:r>
              <a:rPr kumimoji="0" lang="en-US" altLang="en-US">
                <a:solidFill>
                  <a:schemeClr val="tx1"/>
                </a:solidFill>
              </a:rPr>
              <a:t>Algorithm maintains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a[lo]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value </a:t>
            </a:r>
            <a:r>
              <a:rPr kumimoji="0" lang="en-US" altLang="en-US">
                <a:solidFill>
                  <a:schemeClr val="tx1"/>
                </a:solidFill>
                <a:sym typeface="Symbol" panose="05050102010706020507" pitchFamily="18" charset="2"/>
              </a:rPr>
              <a:t> </a:t>
            </a:r>
            <a:r>
              <a:rPr kumimoji="0" lang="en-US" altLang="en-US">
                <a:solidFill>
                  <a:schemeClr val="tx1"/>
                </a:solidFill>
              </a:rPr>
              <a:t> </a:t>
            </a:r>
            <a:r>
              <a:rPr kumimoji="0" lang="en-US" altLang="en-US" sz="1600">
                <a:solidFill>
                  <a:schemeClr val="tx1"/>
                </a:solidFill>
                <a:latin typeface="Courier New" panose="02070309020205020404" pitchFamily="49" charset="0"/>
              </a:rPr>
              <a:t>a[hi].</a:t>
            </a: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kumimoji="0" lang="en-US" altLang="en-US"/>
              <a:t>Ex.  </a:t>
            </a:r>
            <a:r>
              <a:rPr kumimoji="0" lang="en-US" altLang="en-US">
                <a:solidFill>
                  <a:schemeClr val="tx1"/>
                </a:solidFill>
              </a:rPr>
              <a:t>Binary search for 33.</a:t>
            </a:r>
            <a:endParaRPr kumimoji="0" lang="en-US" altLang="en-US" sz="160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79465EF1-36EC-49F4-AAF4-C4CAC60BE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8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81B6671F-D16C-42EA-82C4-30D5234C8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4EFE5C7B-B676-4A8F-A7C0-813DB4660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0F9F3019-9674-4428-88E5-C7922798E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3</a:t>
            </a:r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7D8EB66B-21B5-4AF8-9204-DDCD87AD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4</a:t>
            </a:r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C0217AEE-31E9-448E-80FD-EFF09F5B8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5610" name="Rectangle 10">
            <a:extLst>
              <a:ext uri="{FF2B5EF4-FFF2-40B4-BE49-F238E27FC236}">
                <a16:creationId xmlns:a16="http://schemas.microsoft.com/office/drawing/2014/main" id="{5DFE2B0E-64C6-40B7-B36F-E386E77C8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8B3E0C9A-BE96-4EF4-9D44-D533E6127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7</a:t>
            </a:r>
          </a:p>
        </p:txBody>
      </p:sp>
      <p:sp>
        <p:nvSpPr>
          <p:cNvPr id="25612" name="Rectangle 12">
            <a:extLst>
              <a:ext uri="{FF2B5EF4-FFF2-40B4-BE49-F238E27FC236}">
                <a16:creationId xmlns:a16="http://schemas.microsoft.com/office/drawing/2014/main" id="{CF53080B-BD02-4C61-80BA-AC87066A9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5613" name="Rectangle 13">
            <a:extLst>
              <a:ext uri="{FF2B5EF4-FFF2-40B4-BE49-F238E27FC236}">
                <a16:creationId xmlns:a16="http://schemas.microsoft.com/office/drawing/2014/main" id="{477336E5-06C2-46DF-93EE-A94E3051D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9</a:t>
            </a:r>
          </a:p>
        </p:txBody>
      </p:sp>
      <p:sp>
        <p:nvSpPr>
          <p:cNvPr id="25614" name="Rectangle 14">
            <a:extLst>
              <a:ext uri="{FF2B5EF4-FFF2-40B4-BE49-F238E27FC236}">
                <a16:creationId xmlns:a16="http://schemas.microsoft.com/office/drawing/2014/main" id="{45DE7B41-4213-413A-9D1C-7FFED6D9E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11</a:t>
            </a:r>
          </a:p>
        </p:txBody>
      </p:sp>
      <p:sp>
        <p:nvSpPr>
          <p:cNvPr id="25615" name="Rectangle 15">
            <a:extLst>
              <a:ext uri="{FF2B5EF4-FFF2-40B4-BE49-F238E27FC236}">
                <a16:creationId xmlns:a16="http://schemas.microsoft.com/office/drawing/2014/main" id="{4EAE0A30-11DF-4185-87FD-24F2D1E4C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12</a:t>
            </a:r>
          </a:p>
        </p:txBody>
      </p:sp>
      <p:sp>
        <p:nvSpPr>
          <p:cNvPr id="25616" name="Rectangle 16">
            <a:extLst>
              <a:ext uri="{FF2B5EF4-FFF2-40B4-BE49-F238E27FC236}">
                <a16:creationId xmlns:a16="http://schemas.microsoft.com/office/drawing/2014/main" id="{A5991946-591A-4A5A-A509-E28C888A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5617" name="Rectangle 17">
            <a:extLst>
              <a:ext uri="{FF2B5EF4-FFF2-40B4-BE49-F238E27FC236}">
                <a16:creationId xmlns:a16="http://schemas.microsoft.com/office/drawing/2014/main" id="{32C90A7F-7B05-4A58-9EFA-9979692F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5618" name="Rectangle 18">
            <a:extLst>
              <a:ext uri="{FF2B5EF4-FFF2-40B4-BE49-F238E27FC236}">
                <a16:creationId xmlns:a16="http://schemas.microsoft.com/office/drawing/2014/main" id="{F39A6D46-A13B-4594-BC27-C00CC437A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557713"/>
            <a:ext cx="457200" cy="192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900" b="1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5619" name="Rectangle 19" descr="Outlined diamond">
            <a:extLst>
              <a:ext uri="{FF2B5EF4-FFF2-40B4-BE49-F238E27FC236}">
                <a16:creationId xmlns:a16="http://schemas.microsoft.com/office/drawing/2014/main" id="{FCEAF886-45E9-4144-B36D-2FCE80818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64</a:t>
            </a:r>
          </a:p>
        </p:txBody>
      </p:sp>
      <p:sp>
        <p:nvSpPr>
          <p:cNvPr id="25620" name="Rectangle 20" descr="Outlined diamond">
            <a:extLst>
              <a:ext uri="{FF2B5EF4-FFF2-40B4-BE49-F238E27FC236}">
                <a16:creationId xmlns:a16="http://schemas.microsoft.com/office/drawing/2014/main" id="{B8047E88-A2FC-414C-9EB9-4A3A49947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14</a:t>
            </a:r>
          </a:p>
        </p:txBody>
      </p:sp>
      <p:sp>
        <p:nvSpPr>
          <p:cNvPr id="25621" name="Rectangle 21" descr="Outlined diamond">
            <a:extLst>
              <a:ext uri="{FF2B5EF4-FFF2-40B4-BE49-F238E27FC236}">
                <a16:creationId xmlns:a16="http://schemas.microsoft.com/office/drawing/2014/main" id="{BB4FB0BA-0CB5-4B1F-B4C3-FD00F6593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13</a:t>
            </a:r>
          </a:p>
        </p:txBody>
      </p:sp>
      <p:sp>
        <p:nvSpPr>
          <p:cNvPr id="25622" name="Rectangle 22" descr="Outlined diamond">
            <a:extLst>
              <a:ext uri="{FF2B5EF4-FFF2-40B4-BE49-F238E27FC236}">
                <a16:creationId xmlns:a16="http://schemas.microsoft.com/office/drawing/2014/main" id="{EFC50C64-A998-4215-A237-5DD85FEC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25</a:t>
            </a:r>
          </a:p>
        </p:txBody>
      </p:sp>
      <p:sp>
        <p:nvSpPr>
          <p:cNvPr id="25623" name="Rectangle 23">
            <a:extLst>
              <a:ext uri="{FF2B5EF4-FFF2-40B4-BE49-F238E27FC236}">
                <a16:creationId xmlns:a16="http://schemas.microsoft.com/office/drawing/2014/main" id="{40ACD432-F38B-4017-96C5-A76B950DB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08450"/>
            <a:ext cx="457200" cy="420688"/>
          </a:xfrm>
          <a:prstGeom prst="rect">
            <a:avLst/>
          </a:prstGeom>
          <a:solidFill>
            <a:srgbClr val="008000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bg1"/>
                </a:solidFill>
              </a:rPr>
              <a:t>33</a:t>
            </a:r>
          </a:p>
        </p:txBody>
      </p:sp>
      <p:sp>
        <p:nvSpPr>
          <p:cNvPr id="25624" name="Rectangle 24" descr="Outlined diamond">
            <a:extLst>
              <a:ext uri="{FF2B5EF4-FFF2-40B4-BE49-F238E27FC236}">
                <a16:creationId xmlns:a16="http://schemas.microsoft.com/office/drawing/2014/main" id="{233AEED1-5C7E-42DC-A8BA-7F9918E63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51</a:t>
            </a:r>
          </a:p>
        </p:txBody>
      </p:sp>
      <p:sp>
        <p:nvSpPr>
          <p:cNvPr id="25625" name="Rectangle 25" descr="Outlined diamond">
            <a:extLst>
              <a:ext uri="{FF2B5EF4-FFF2-40B4-BE49-F238E27FC236}">
                <a16:creationId xmlns:a16="http://schemas.microsoft.com/office/drawing/2014/main" id="{554E0D23-65D3-4A6D-87D3-4DB2AEAE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43</a:t>
            </a:r>
          </a:p>
        </p:txBody>
      </p:sp>
      <p:sp>
        <p:nvSpPr>
          <p:cNvPr id="25626" name="Rectangle 26" descr="Outlined diamond">
            <a:extLst>
              <a:ext uri="{FF2B5EF4-FFF2-40B4-BE49-F238E27FC236}">
                <a16:creationId xmlns:a16="http://schemas.microsoft.com/office/drawing/2014/main" id="{397A0CDB-CD53-45A2-BB90-4FC2F6A41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53</a:t>
            </a:r>
          </a:p>
        </p:txBody>
      </p:sp>
      <p:sp>
        <p:nvSpPr>
          <p:cNvPr id="25627" name="Rectangle 27" descr="Outlined diamond">
            <a:extLst>
              <a:ext uri="{FF2B5EF4-FFF2-40B4-BE49-F238E27FC236}">
                <a16:creationId xmlns:a16="http://schemas.microsoft.com/office/drawing/2014/main" id="{1B000F98-6A4C-4C55-B157-37643D00E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84</a:t>
            </a:r>
          </a:p>
        </p:txBody>
      </p:sp>
      <p:sp>
        <p:nvSpPr>
          <p:cNvPr id="25628" name="Rectangle 28" descr="Outlined diamond">
            <a:extLst>
              <a:ext uri="{FF2B5EF4-FFF2-40B4-BE49-F238E27FC236}">
                <a16:creationId xmlns:a16="http://schemas.microsoft.com/office/drawing/2014/main" id="{0D2C8924-2564-4DB0-9250-B07BCBBCD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72</a:t>
            </a:r>
          </a:p>
        </p:txBody>
      </p:sp>
      <p:sp>
        <p:nvSpPr>
          <p:cNvPr id="25629" name="Rectangle 29" descr="Outlined diamond">
            <a:extLst>
              <a:ext uri="{FF2B5EF4-FFF2-40B4-BE49-F238E27FC236}">
                <a16:creationId xmlns:a16="http://schemas.microsoft.com/office/drawing/2014/main" id="{16DACCF0-A285-4CC1-9115-014AC8C70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93</a:t>
            </a:r>
          </a:p>
        </p:txBody>
      </p:sp>
      <p:sp>
        <p:nvSpPr>
          <p:cNvPr id="25630" name="Rectangle 30" descr="Outlined diamond">
            <a:extLst>
              <a:ext uri="{FF2B5EF4-FFF2-40B4-BE49-F238E27FC236}">
                <a16:creationId xmlns:a16="http://schemas.microsoft.com/office/drawing/2014/main" id="{3C300028-3B54-40F2-B9A9-CD80ADD9F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95</a:t>
            </a:r>
          </a:p>
        </p:txBody>
      </p:sp>
      <p:sp>
        <p:nvSpPr>
          <p:cNvPr id="25631" name="Rectangle 31" descr="Outlined diamond">
            <a:extLst>
              <a:ext uri="{FF2B5EF4-FFF2-40B4-BE49-F238E27FC236}">
                <a16:creationId xmlns:a16="http://schemas.microsoft.com/office/drawing/2014/main" id="{A5FF1EF8-7B34-422C-B639-135F4C0AF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97</a:t>
            </a:r>
          </a:p>
        </p:txBody>
      </p:sp>
      <p:sp>
        <p:nvSpPr>
          <p:cNvPr id="25632" name="Rectangle 32" descr="Outlined diamond">
            <a:extLst>
              <a:ext uri="{FF2B5EF4-FFF2-40B4-BE49-F238E27FC236}">
                <a16:creationId xmlns:a16="http://schemas.microsoft.com/office/drawing/2014/main" id="{8E6BB8DE-7758-41DB-8F00-0AB6E9D95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96</a:t>
            </a:r>
          </a:p>
        </p:txBody>
      </p:sp>
      <p:sp>
        <p:nvSpPr>
          <p:cNvPr id="25633" name="Rectangle 33" descr="Outlined diamond">
            <a:extLst>
              <a:ext uri="{FF2B5EF4-FFF2-40B4-BE49-F238E27FC236}">
                <a16:creationId xmlns:a16="http://schemas.microsoft.com/office/drawing/2014/main" id="{C0A67F84-0974-4D60-8002-8AA297112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108450"/>
            <a:ext cx="457200" cy="42068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solidFill>
                  <a:schemeClr val="hlink"/>
                </a:solidFill>
              </a:rPr>
              <a:t>6</a:t>
            </a:r>
          </a:p>
        </p:txBody>
      </p:sp>
      <p:sp>
        <p:nvSpPr>
          <p:cNvPr id="25634" name="Rectangle 34">
            <a:extLst>
              <a:ext uri="{FF2B5EF4-FFF2-40B4-BE49-F238E27FC236}">
                <a16:creationId xmlns:a16="http://schemas.microsoft.com/office/drawing/2014/main" id="{87B4BA69-ECE8-4384-BD67-10F2F137F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5" y="5103813"/>
            <a:ext cx="504825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en-US" altLang="en-US" b="1"/>
              <a:t>lo</a:t>
            </a:r>
            <a:br>
              <a:rPr kumimoji="1" lang="en-US" altLang="en-US" b="1"/>
            </a:br>
            <a:r>
              <a:rPr kumimoji="1" lang="en-US" altLang="en-US" b="1"/>
              <a:t>hi</a:t>
            </a:r>
            <a:br>
              <a:rPr kumimoji="1" lang="en-US" altLang="en-US" b="1"/>
            </a:br>
            <a:r>
              <a:rPr kumimoji="1" lang="en-US" altLang="en-US" b="1"/>
              <a:t>mid</a:t>
            </a:r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AF33580A-9E4F-4C91-97FC-022DC220A9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90875" y="4840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BAE5-C231-4388-8E31-82A886AA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12C86-ADDA-4625-915F-4138F2B3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BD2A2-2C6E-480D-9A80-D7AF7BDF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595078-2F47-4B5C-A061-F03B4CBEC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Imagine that you have a database of customers and want to search for the customer "John Smith". Before performing a binary search, the database must be sorted alphabetically by surname. You can then search for the record "John Smith" using the surname.</a:t>
            </a:r>
          </a:p>
          <a:p>
            <a:endParaRPr lang="en-US" dirty="0"/>
          </a:p>
          <a:p>
            <a:r>
              <a:rPr lang="en-US" dirty="0"/>
              <a:t>The binary search starts at the midpoint of the list and compares the middle record with "John Smith". If the midpoint record surname matches "John Smith", the search ends.</a:t>
            </a:r>
          </a:p>
          <a:p>
            <a:endParaRPr lang="en-US" dirty="0"/>
          </a:p>
          <a:p>
            <a:r>
              <a:rPr lang="en-US" dirty="0"/>
              <a:t>If not, the search continues:</a:t>
            </a:r>
          </a:p>
          <a:p>
            <a:endParaRPr lang="en-US" dirty="0"/>
          </a:p>
          <a:p>
            <a:r>
              <a:rPr lang="en-US" dirty="0"/>
              <a:t>If the midpoint record comes alphabetically before "John Smith", the first half of the list is discarded, including the midpoint record.</a:t>
            </a:r>
          </a:p>
          <a:p>
            <a:r>
              <a:rPr lang="en-US" dirty="0"/>
              <a:t>If the midpoint record comes after "John Smith", the second half of the list is discarded, starting from the midpoint.</a:t>
            </a:r>
          </a:p>
          <a:p>
            <a:r>
              <a:rPr lang="en-US" dirty="0"/>
              <a:t>The search then repeats this process with the remaining records, finding the new midpoint each time. The search ends when either a match is found or there are no more records left to search through.</a:t>
            </a:r>
          </a:p>
        </p:txBody>
      </p:sp>
    </p:spTree>
    <p:extLst>
      <p:ext uri="{BB962C8B-B14F-4D97-AF65-F5344CB8AC3E}">
        <p14:creationId xmlns:p14="http://schemas.microsoft.com/office/powerpoint/2010/main" val="1949814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2666-4DE5-4A78-A588-164ED43E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3891F-1A44-4CE7-93AD-D5EDD11B2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460B3-EF5C-448A-BC3A-4F2C52B5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042ED-8CF5-4E82-AB7A-5EE95F6DD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7412" name="Picture 4" descr="A flowchart searching for a specific customer using binary search will find the midpoint of a list and discard the half of the list it doesn't need until it returns the correct customer's address.">
            <a:extLst>
              <a:ext uri="{FF2B5EF4-FFF2-40B4-BE49-F238E27FC236}">
                <a16:creationId xmlns:a16="http://schemas.microsoft.com/office/drawing/2014/main" id="{7C2026E9-32F8-4F58-A88B-18FC12B9E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847725"/>
            <a:ext cx="2895600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389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5FEF-EB88-4E1A-B790-835D6A7A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and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1952-DA21-4A08-9762-8525049E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893AF-8C05-48E6-8C5D-7758581F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47A57-B0E6-4AB3-9C58-94C258DA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28" name="Picture 4" descr="https://miro.medium.com/v2/resize:fit:1050/1*EwBObl9VZdmuJ4S6W99GWA.png">
            <a:extLst>
              <a:ext uri="{FF2B5EF4-FFF2-40B4-BE49-F238E27FC236}">
                <a16:creationId xmlns:a16="http://schemas.microsoft.com/office/drawing/2014/main" id="{8BCB71D7-F01E-4A39-8844-5CC530781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9725"/>
            <a:ext cx="9144000" cy="514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33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5FEF-EB88-4E1A-B790-835D6A7A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and 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1952-DA21-4A08-9762-8525049EA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893AF-8C05-48E6-8C5D-7758581F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47A57-B0E6-4AB3-9C58-94C258DA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6" name="Picture 2" descr="https://afteracademy.com/images/search-for-a-range-in-sorted-array-comparison-4a7c51f631704204.png">
            <a:extLst>
              <a:ext uri="{FF2B5EF4-FFF2-40B4-BE49-F238E27FC236}">
                <a16:creationId xmlns:a16="http://schemas.microsoft.com/office/drawing/2014/main" id="{CB90395B-2AC9-40A2-AAAA-7EC1CE2B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0" y="2376488"/>
            <a:ext cx="65913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13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8BF1-20D2-4532-A9C6-DEDE2C47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AA8B6-03A3-405C-AD1C-74FC84B4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CEF8C-2C57-418B-9FE3-A1F44AA3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08E218D-EFB7-4B32-B09E-6098A940D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19" y="685800"/>
            <a:ext cx="7871603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9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207D34-F50E-4D4D-9D47-2ECFF116F129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e41a7a39-cefe-44f5-a3a8-0050e37c33e9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1247</Words>
  <Application>Microsoft Office PowerPoint</Application>
  <PresentationFormat>On-screen Show (4:3)</PresentationFormat>
  <Paragraphs>489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ＭＳ Ｐゴシック</vt:lpstr>
      <vt:lpstr>Arial</vt:lpstr>
      <vt:lpstr>Arial Narrow</vt:lpstr>
      <vt:lpstr>Calibri</vt:lpstr>
      <vt:lpstr>Courier New</vt:lpstr>
      <vt:lpstr>MoolBoran</vt:lpstr>
      <vt:lpstr>Symbol</vt:lpstr>
      <vt:lpstr>Tahoma</vt:lpstr>
      <vt:lpstr>Office Theme</vt:lpstr>
      <vt:lpstr>Data Structures &amp; Algorithms</vt:lpstr>
      <vt:lpstr>Week-11 Agenda </vt:lpstr>
      <vt:lpstr>Linear Search</vt:lpstr>
      <vt:lpstr>Linear Search</vt:lpstr>
      <vt:lpstr>Linear Search</vt:lpstr>
      <vt:lpstr>Example</vt:lpstr>
      <vt:lpstr>Example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Binary Search</vt:lpstr>
      <vt:lpstr>Example</vt:lpstr>
      <vt:lpstr>Example</vt:lpstr>
      <vt:lpstr>Time and Space Complexity</vt:lpstr>
      <vt:lpstr>Time and Space Complexity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421</cp:revision>
  <dcterms:created xsi:type="dcterms:W3CDTF">2016-10-27T12:58:45Z</dcterms:created>
  <dcterms:modified xsi:type="dcterms:W3CDTF">2025-09-17T05:36:51Z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