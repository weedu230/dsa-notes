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4"/>
  </p:sldMasterIdLst>
  <p:notesMasterIdLst>
    <p:notesMasterId r:id="rId33"/>
  </p:notesMasterIdLst>
  <p:sldIdLst>
    <p:sldId id="256" r:id="rId5"/>
    <p:sldId id="257" r:id="rId6"/>
    <p:sldId id="289" r:id="rId7"/>
    <p:sldId id="294" r:id="rId8"/>
    <p:sldId id="296" r:id="rId9"/>
    <p:sldId id="295" r:id="rId10"/>
    <p:sldId id="290" r:id="rId11"/>
    <p:sldId id="274" r:id="rId12"/>
    <p:sldId id="275" r:id="rId13"/>
    <p:sldId id="276" r:id="rId14"/>
    <p:sldId id="277" r:id="rId15"/>
    <p:sldId id="278" r:id="rId16"/>
    <p:sldId id="279" r:id="rId17"/>
    <p:sldId id="280" r:id="rId18"/>
    <p:sldId id="281" r:id="rId19"/>
    <p:sldId id="282" r:id="rId20"/>
    <p:sldId id="283" r:id="rId21"/>
    <p:sldId id="284" r:id="rId22"/>
    <p:sldId id="288" r:id="rId23"/>
    <p:sldId id="300" r:id="rId24"/>
    <p:sldId id="298" r:id="rId25"/>
    <p:sldId id="291" r:id="rId26"/>
    <p:sldId id="293" r:id="rId27"/>
    <p:sldId id="285" r:id="rId28"/>
    <p:sldId id="287" r:id="rId29"/>
    <p:sldId id="299" r:id="rId30"/>
    <p:sldId id="297" r:id="rId31"/>
    <p:sldId id="273" r:id="rId32"/>
  </p:sldIdLst>
  <p:sldSz cx="9144000" cy="6858000" type="screen4x3"/>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5940675A-B579-460E-94D1-54222C63F5DA}" styleName="No Style, Table Grid">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p:cViewPr varScale="1">
        <p:scale>
          <a:sx n="79" d="100"/>
          <a:sy n="79" d="100"/>
        </p:scale>
        <p:origin x="1085" y="67"/>
      </p:cViewPr>
      <p:guideLst>
        <p:guide orient="horz" pos="2160"/>
        <p:guide pos="2880"/>
      </p:guideLst>
    </p:cSldViewPr>
  </p:slideViewPr>
  <p:notesTextViewPr>
    <p:cViewPr>
      <p:scale>
        <a:sx n="100" d="100"/>
        <a:sy n="100" d="100"/>
      </p:scale>
      <p:origin x="0" y="0"/>
    </p:cViewPr>
  </p:notesTextViewPr>
  <p:sorterViewPr>
    <p:cViewPr>
      <p:scale>
        <a:sx n="66" d="100"/>
        <a:sy n="66" d="100"/>
      </p:scale>
      <p:origin x="0" y="1602"/>
    </p:cViewPr>
  </p:sorter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9.xml"/><Relationship Id="rId18" Type="http://schemas.openxmlformats.org/officeDocument/2006/relationships/slide" Target="slides/slide14.xml"/><Relationship Id="rId26" Type="http://schemas.openxmlformats.org/officeDocument/2006/relationships/slide" Target="slides/slide22.xml"/><Relationship Id="rId21" Type="http://schemas.openxmlformats.org/officeDocument/2006/relationships/slide" Target="slides/slide17.xml"/><Relationship Id="rId34" Type="http://schemas.openxmlformats.org/officeDocument/2006/relationships/presProps" Target="presProps.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slide" Target="slides/slide21.xml"/><Relationship Id="rId33" Type="http://schemas.openxmlformats.org/officeDocument/2006/relationships/notesMaster" Target="notesMasters/notesMaster1.xml"/><Relationship Id="rId2" Type="http://schemas.openxmlformats.org/officeDocument/2006/relationships/customXml" Target="../customXml/item2.xml"/><Relationship Id="rId16" Type="http://schemas.openxmlformats.org/officeDocument/2006/relationships/slide" Target="slides/slide12.xml"/><Relationship Id="rId20" Type="http://schemas.openxmlformats.org/officeDocument/2006/relationships/slide" Target="slides/slide16.xml"/><Relationship Id="rId29" Type="http://schemas.openxmlformats.org/officeDocument/2006/relationships/slide" Target="slides/slide25.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24" Type="http://schemas.openxmlformats.org/officeDocument/2006/relationships/slide" Target="slides/slide20.xml"/><Relationship Id="rId32" Type="http://schemas.openxmlformats.org/officeDocument/2006/relationships/slide" Target="slides/slide28.xml"/><Relationship Id="rId37" Type="http://schemas.openxmlformats.org/officeDocument/2006/relationships/tableStyles" Target="tableStyles.xml"/><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slide" Target="slides/slide19.xml"/><Relationship Id="rId28" Type="http://schemas.openxmlformats.org/officeDocument/2006/relationships/slide" Target="slides/slide24.xml"/><Relationship Id="rId36" Type="http://schemas.openxmlformats.org/officeDocument/2006/relationships/theme" Target="theme/theme1.xml"/><Relationship Id="rId10" Type="http://schemas.openxmlformats.org/officeDocument/2006/relationships/slide" Target="slides/slide6.xml"/><Relationship Id="rId19" Type="http://schemas.openxmlformats.org/officeDocument/2006/relationships/slide" Target="slides/slide15.xml"/><Relationship Id="rId31" Type="http://schemas.openxmlformats.org/officeDocument/2006/relationships/slide" Target="slides/slide27.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slide" Target="slides/slide18.xml"/><Relationship Id="rId27" Type="http://schemas.openxmlformats.org/officeDocument/2006/relationships/slide" Target="slides/slide23.xml"/><Relationship Id="rId30" Type="http://schemas.openxmlformats.org/officeDocument/2006/relationships/slide" Target="slides/slide26.xml"/><Relationship Id="rId35" Type="http://schemas.openxmlformats.org/officeDocument/2006/relationships/viewProps" Target="viewProps.xml"/><Relationship Id="rId8" Type="http://schemas.openxmlformats.org/officeDocument/2006/relationships/slide" Target="slides/slide4.xml"/><Relationship Id="rId3" Type="http://schemas.openxmlformats.org/officeDocument/2006/relationships/customXml" Target="../customXml/item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B06ABBB9-D43F-4F6B-B6A1-E0CDD613A533}" type="datetimeFigureOut">
              <a:rPr lang="en-US" smtClean="0"/>
              <a:pPr/>
              <a:t>16-Sep-2025</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37D8513B-4632-4E89-ACB7-7E7F9046F249}" type="slidenum">
              <a:rPr lang="en-US" smtClean="0"/>
              <a:pPr/>
              <a:t>‹#›</a:t>
            </a:fld>
            <a:endParaRPr lang="en-US"/>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AFFF71D2-D6BA-4174-87E1-0F5D0E08BB86}" type="datetime1">
              <a:rPr lang="en-US" smtClean="0"/>
              <a:t>16-Sep-2025</a:t>
            </a:fld>
            <a:endParaRPr lang="en-US"/>
          </a:p>
        </p:txBody>
      </p:sp>
      <p:sp>
        <p:nvSpPr>
          <p:cNvPr id="5" name="Footer Placeholder 4"/>
          <p:cNvSpPr>
            <a:spLocks noGrp="1"/>
          </p:cNvSpPr>
          <p:nvPr>
            <p:ph type="ftr" sz="quarter" idx="11"/>
          </p:nvPr>
        </p:nvSpPr>
        <p:spPr/>
        <p:txBody>
          <a:bodyPr/>
          <a:lstStyle/>
          <a:p>
            <a:r>
              <a:rPr lang="en-US"/>
              <a:t>Prepared by: Engr. Majid Kaleem</a:t>
            </a:r>
          </a:p>
        </p:txBody>
      </p:sp>
      <p:sp>
        <p:nvSpPr>
          <p:cNvPr id="6" name="Slide Number Placeholder 5"/>
          <p:cNvSpPr>
            <a:spLocks noGrp="1"/>
          </p:cNvSpPr>
          <p:nvPr>
            <p:ph type="sldNum" sz="quarter" idx="12"/>
          </p:nvPr>
        </p:nvSpPr>
        <p:spPr/>
        <p:txBody>
          <a:bodyPr/>
          <a:lstStyle/>
          <a:p>
            <a:fld id="{67D2A209-9856-462B-A010-2A2374E3EB4A}"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0" y="10884"/>
            <a:ext cx="9144000" cy="530352"/>
          </a:xfrm>
          <a:solidFill>
            <a:schemeClr val="accent1"/>
          </a:solidFill>
        </p:spPr>
        <p:txBody>
          <a:bodyPr>
            <a:normAutofit/>
          </a:bodyPr>
          <a:lstStyle>
            <a:lvl1pPr>
              <a:defRPr sz="3600" b="1">
                <a:solidFill>
                  <a:schemeClr val="bg1"/>
                </a:solidFill>
                <a:effectLst>
                  <a:outerShdw blurRad="38100" dist="38100" dir="2700000" algn="tl">
                    <a:srgbClr val="000000">
                      <a:alpha val="43137"/>
                    </a:srgbClr>
                  </a:outerShdw>
                </a:effectLst>
                <a:latin typeface="+mj-lt"/>
              </a:defRPr>
            </a:lvl1pPr>
          </a:lstStyle>
          <a:p>
            <a:r>
              <a:rPr lang="en-US" dirty="0"/>
              <a:t>Click to edit Master title style</a:t>
            </a:r>
          </a:p>
        </p:txBody>
      </p:sp>
      <p:sp>
        <p:nvSpPr>
          <p:cNvPr id="3" name="Content Placeholder 2"/>
          <p:cNvSpPr>
            <a:spLocks noGrp="1"/>
          </p:cNvSpPr>
          <p:nvPr>
            <p:ph idx="1"/>
          </p:nvPr>
        </p:nvSpPr>
        <p:spPr>
          <a:xfrm>
            <a:off x="0" y="685800"/>
            <a:ext cx="9144000" cy="5440363"/>
          </a:xfrm>
        </p:spPr>
        <p:txBody>
          <a:bodyPr/>
          <a:lstStyle>
            <a:lvl1pPr>
              <a:defRPr sz="2800"/>
            </a:lvl1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p:cNvSpPr>
            <a:spLocks noGrp="1"/>
          </p:cNvSpPr>
          <p:nvPr>
            <p:ph type="dt" sz="half" idx="10"/>
          </p:nvPr>
        </p:nvSpPr>
        <p:spPr/>
        <p:txBody>
          <a:bodyPr/>
          <a:lstStyle/>
          <a:p>
            <a:fld id="{1F43648F-C10C-476D-BA4E-5D96890A4ABC}" type="datetime1">
              <a:rPr lang="en-US" smtClean="0"/>
              <a:t>16-Sep-2025</a:t>
            </a:fld>
            <a:endParaRPr lang="en-US"/>
          </a:p>
        </p:txBody>
      </p:sp>
      <p:sp>
        <p:nvSpPr>
          <p:cNvPr id="5" name="Footer Placeholder 4"/>
          <p:cNvSpPr>
            <a:spLocks noGrp="1"/>
          </p:cNvSpPr>
          <p:nvPr>
            <p:ph type="ftr" sz="quarter" idx="11"/>
          </p:nvPr>
        </p:nvSpPr>
        <p:spPr>
          <a:xfrm>
            <a:off x="5774871" y="6324600"/>
            <a:ext cx="2209800" cy="396875"/>
          </a:xfrm>
        </p:spPr>
        <p:txBody>
          <a:bodyPr/>
          <a:lstStyle>
            <a:lvl1pPr algn="r">
              <a:defRPr sz="1000">
                <a:latin typeface="Arial" pitchFamily="34" charset="0"/>
                <a:cs typeface="Arial" pitchFamily="34" charset="0"/>
              </a:defRPr>
            </a:lvl1pPr>
          </a:lstStyle>
          <a:p>
            <a:r>
              <a:rPr lang="en-GB"/>
              <a:t>Prepared by: Engr. Majid Kaleem</a:t>
            </a:r>
            <a:endParaRPr lang="en-US" dirty="0"/>
          </a:p>
        </p:txBody>
      </p:sp>
      <p:sp>
        <p:nvSpPr>
          <p:cNvPr id="6" name="Slide Number Placeholder 5"/>
          <p:cNvSpPr>
            <a:spLocks noGrp="1"/>
          </p:cNvSpPr>
          <p:nvPr>
            <p:ph type="sldNum" sz="quarter" idx="12"/>
          </p:nvPr>
        </p:nvSpPr>
        <p:spPr>
          <a:xfrm>
            <a:off x="8001000" y="6324600"/>
            <a:ext cx="685800" cy="396875"/>
          </a:xfrm>
        </p:spPr>
        <p:txBody>
          <a:bodyPr/>
          <a:lstStyle/>
          <a:p>
            <a:fld id="{67D2A209-9856-462B-A010-2A2374E3EB4A}"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dirty="0"/>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D6053AB-C917-44B5-94A4-E19F9582D8A1}" type="datetime1">
              <a:rPr lang="en-US" smtClean="0"/>
              <a:t>16-Sep-2025</a:t>
            </a:fld>
            <a:endParaRPr lang="en-US"/>
          </a:p>
        </p:txBody>
      </p:sp>
      <p:sp>
        <p:nvSpPr>
          <p:cNvPr id="6" name="Slide Number Placeholder 5"/>
          <p:cNvSpPr>
            <a:spLocks noGrp="1"/>
          </p:cNvSpPr>
          <p:nvPr>
            <p:ph type="sldNum" sz="quarter" idx="12"/>
          </p:nvPr>
        </p:nvSpPr>
        <p:spPr/>
        <p:txBody>
          <a:bodyPr/>
          <a:lstStyle/>
          <a:p>
            <a:fld id="{67D2A209-9856-462B-A010-2A2374E3EB4A}" type="slidenum">
              <a:rPr lang="en-US" smtClean="0"/>
              <a:pPr/>
              <a:t>‹#›</a:t>
            </a:fld>
            <a:endParaRPr lang="en-US"/>
          </a:p>
        </p:txBody>
      </p:sp>
      <p:sp>
        <p:nvSpPr>
          <p:cNvPr id="7" name="Footer Placeholder 3"/>
          <p:cNvSpPr>
            <a:spLocks noGrp="1"/>
          </p:cNvSpPr>
          <p:nvPr userDrawn="1">
            <p:ph type="ftr" sz="quarter" idx="11"/>
          </p:nvPr>
        </p:nvSpPr>
        <p:spPr>
          <a:xfrm>
            <a:off x="5774871" y="6324600"/>
            <a:ext cx="2209800" cy="396875"/>
          </a:xfrm>
        </p:spPr>
        <p:txBody>
          <a:bodyPr/>
          <a:lstStyle/>
          <a:p>
            <a:r>
              <a:rPr lang="en-GB" dirty="0"/>
              <a:t>Prepared by: Engr. </a:t>
            </a:r>
            <a:r>
              <a:rPr lang="en-GB" dirty="0" err="1"/>
              <a:t>Majid</a:t>
            </a:r>
            <a:r>
              <a:rPr lang="en-GB" dirty="0"/>
              <a:t> </a:t>
            </a:r>
            <a:r>
              <a:rPr lang="en-GB" dirty="0" err="1"/>
              <a:t>Kaleem</a:t>
            </a:r>
            <a:endParaRPr lang="en-US" dirty="0"/>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C047A969-A3A4-4905-BB3B-A1F99714489D}" type="datetime1">
              <a:rPr lang="en-US" smtClean="0"/>
              <a:t>16-Sep-2025</a:t>
            </a:fld>
            <a:endParaRPr lang="en-US"/>
          </a:p>
        </p:txBody>
      </p:sp>
      <p:sp>
        <p:nvSpPr>
          <p:cNvPr id="6" name="Footer Placeholder 5"/>
          <p:cNvSpPr>
            <a:spLocks noGrp="1"/>
          </p:cNvSpPr>
          <p:nvPr>
            <p:ph type="ftr" sz="quarter" idx="11"/>
          </p:nvPr>
        </p:nvSpPr>
        <p:spPr/>
        <p:txBody>
          <a:bodyPr/>
          <a:lstStyle/>
          <a:p>
            <a:r>
              <a:rPr lang="en-US"/>
              <a:t>Prepared by: Engr. Majid Kaleem</a:t>
            </a:r>
          </a:p>
        </p:txBody>
      </p:sp>
      <p:sp>
        <p:nvSpPr>
          <p:cNvPr id="7" name="Slide Number Placeholder 6"/>
          <p:cNvSpPr>
            <a:spLocks noGrp="1"/>
          </p:cNvSpPr>
          <p:nvPr>
            <p:ph type="sldNum" sz="quarter" idx="12"/>
          </p:nvPr>
        </p:nvSpPr>
        <p:spPr/>
        <p:txBody>
          <a:bodyPr/>
          <a:lstStyle/>
          <a:p>
            <a:fld id="{67D2A209-9856-462B-A010-2A2374E3EB4A}"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AE81122F-34FE-4A32-AF1E-06D01F4AB465}" type="datetime1">
              <a:rPr lang="en-US" smtClean="0"/>
              <a:t>16-Sep-2025</a:t>
            </a:fld>
            <a:endParaRPr lang="en-US"/>
          </a:p>
        </p:txBody>
      </p:sp>
      <p:sp>
        <p:nvSpPr>
          <p:cNvPr id="8" name="Footer Placeholder 7"/>
          <p:cNvSpPr>
            <a:spLocks noGrp="1"/>
          </p:cNvSpPr>
          <p:nvPr>
            <p:ph type="ftr" sz="quarter" idx="11"/>
          </p:nvPr>
        </p:nvSpPr>
        <p:spPr/>
        <p:txBody>
          <a:bodyPr/>
          <a:lstStyle/>
          <a:p>
            <a:r>
              <a:rPr lang="en-US"/>
              <a:t>Prepared by: Engr. Majid Kaleem</a:t>
            </a:r>
          </a:p>
        </p:txBody>
      </p:sp>
      <p:sp>
        <p:nvSpPr>
          <p:cNvPr id="9" name="Slide Number Placeholder 8"/>
          <p:cNvSpPr>
            <a:spLocks noGrp="1"/>
          </p:cNvSpPr>
          <p:nvPr>
            <p:ph type="sldNum" sz="quarter" idx="12"/>
          </p:nvPr>
        </p:nvSpPr>
        <p:spPr/>
        <p:txBody>
          <a:bodyPr/>
          <a:lstStyle/>
          <a:p>
            <a:fld id="{67D2A209-9856-462B-A010-2A2374E3EB4A}"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FE09BF83-D408-43EE-8C8E-881EB30FED63}" type="datetime1">
              <a:rPr lang="en-US" smtClean="0"/>
              <a:t>16-Sep-2025</a:t>
            </a:fld>
            <a:endParaRPr lang="en-US"/>
          </a:p>
        </p:txBody>
      </p:sp>
      <p:sp>
        <p:nvSpPr>
          <p:cNvPr id="6" name="Footer Placeholder 4"/>
          <p:cNvSpPr>
            <a:spLocks noGrp="1"/>
          </p:cNvSpPr>
          <p:nvPr>
            <p:ph type="ftr" sz="quarter" idx="11"/>
          </p:nvPr>
        </p:nvSpPr>
        <p:spPr>
          <a:xfrm>
            <a:off x="5774871" y="6324600"/>
            <a:ext cx="2209800" cy="396875"/>
          </a:xfrm>
        </p:spPr>
        <p:txBody>
          <a:bodyPr/>
          <a:lstStyle/>
          <a:p>
            <a:r>
              <a:rPr lang="en-GB" dirty="0"/>
              <a:t>Prepared by: Engr. </a:t>
            </a:r>
            <a:r>
              <a:rPr lang="en-GB" dirty="0" err="1"/>
              <a:t>Majid</a:t>
            </a:r>
            <a:r>
              <a:rPr lang="en-GB" dirty="0"/>
              <a:t> </a:t>
            </a:r>
            <a:r>
              <a:rPr lang="en-GB" dirty="0" err="1"/>
              <a:t>Kaleem</a:t>
            </a:r>
            <a:endParaRPr lang="en-US" dirty="0"/>
          </a:p>
        </p:txBody>
      </p:sp>
      <p:sp>
        <p:nvSpPr>
          <p:cNvPr id="7" name="Slide Number Placeholder 5"/>
          <p:cNvSpPr>
            <a:spLocks noGrp="1"/>
          </p:cNvSpPr>
          <p:nvPr>
            <p:ph type="sldNum" sz="quarter" idx="12"/>
          </p:nvPr>
        </p:nvSpPr>
        <p:spPr>
          <a:xfrm>
            <a:off x="8001000" y="6324600"/>
            <a:ext cx="685800" cy="396875"/>
          </a:xfrm>
        </p:spPr>
        <p:txBody>
          <a:bodyPr/>
          <a:lstStyle/>
          <a:p>
            <a:fld id="{67D2A209-9856-462B-A010-2A2374E3EB4A}"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AE7E6E94-763D-4669-B6E9-51CBF0DE98F8}" type="datetime1">
              <a:rPr lang="en-US" smtClean="0"/>
              <a:t>16-Sep-2025</a:t>
            </a:fld>
            <a:endParaRPr lang="en-US"/>
          </a:p>
        </p:txBody>
      </p:sp>
      <p:sp>
        <p:nvSpPr>
          <p:cNvPr id="5" name="Footer Placeholder 4"/>
          <p:cNvSpPr>
            <a:spLocks noGrp="1"/>
          </p:cNvSpPr>
          <p:nvPr>
            <p:ph type="ftr" sz="quarter" idx="11"/>
          </p:nvPr>
        </p:nvSpPr>
        <p:spPr>
          <a:xfrm>
            <a:off x="5774871" y="6324600"/>
            <a:ext cx="2209800" cy="396875"/>
          </a:xfrm>
        </p:spPr>
        <p:txBody>
          <a:bodyPr/>
          <a:lstStyle>
            <a:lvl1pPr algn="r">
              <a:defRPr sz="1000">
                <a:latin typeface="Arial" pitchFamily="34" charset="0"/>
                <a:cs typeface="Arial" pitchFamily="34" charset="0"/>
              </a:defRPr>
            </a:lvl1pPr>
          </a:lstStyle>
          <a:p>
            <a:r>
              <a:rPr lang="en-GB"/>
              <a:t>Prepared by: Engr. Majid Kaleem</a:t>
            </a:r>
            <a:endParaRPr lang="en-US" dirty="0"/>
          </a:p>
        </p:txBody>
      </p:sp>
      <p:sp>
        <p:nvSpPr>
          <p:cNvPr id="6" name="Slide Number Placeholder 5"/>
          <p:cNvSpPr>
            <a:spLocks noGrp="1"/>
          </p:cNvSpPr>
          <p:nvPr>
            <p:ph type="sldNum" sz="quarter" idx="12"/>
          </p:nvPr>
        </p:nvSpPr>
        <p:spPr>
          <a:xfrm>
            <a:off x="8001000" y="6324600"/>
            <a:ext cx="685800" cy="396875"/>
          </a:xfrm>
        </p:spPr>
        <p:txBody>
          <a:bodyPr/>
          <a:lstStyle/>
          <a:p>
            <a:fld id="{67D2A209-9856-462B-A010-2A2374E3EB4A}"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C6B90AE6-6DBC-4573-A883-C8B56C3BA319}" type="datetime1">
              <a:rPr lang="en-US" smtClean="0"/>
              <a:t>16-Sep-2025</a:t>
            </a:fld>
            <a:endParaRPr lang="en-US"/>
          </a:p>
        </p:txBody>
      </p:sp>
      <p:sp>
        <p:nvSpPr>
          <p:cNvPr id="6" name="Footer Placeholder 5"/>
          <p:cNvSpPr>
            <a:spLocks noGrp="1"/>
          </p:cNvSpPr>
          <p:nvPr>
            <p:ph type="ftr" sz="quarter" idx="11"/>
          </p:nvPr>
        </p:nvSpPr>
        <p:spPr/>
        <p:txBody>
          <a:bodyPr/>
          <a:lstStyle/>
          <a:p>
            <a:r>
              <a:rPr lang="en-US"/>
              <a:t>Prepared by: Engr. Majid Kaleem</a:t>
            </a:r>
          </a:p>
        </p:txBody>
      </p:sp>
      <p:sp>
        <p:nvSpPr>
          <p:cNvPr id="7" name="Slide Number Placeholder 6"/>
          <p:cNvSpPr>
            <a:spLocks noGrp="1"/>
          </p:cNvSpPr>
          <p:nvPr>
            <p:ph type="sldNum" sz="quarter" idx="12"/>
          </p:nvPr>
        </p:nvSpPr>
        <p:spPr/>
        <p:txBody>
          <a:bodyPr/>
          <a:lstStyle/>
          <a:p>
            <a:fld id="{67D2A209-9856-462B-A010-2A2374E3EB4A}"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A754DD4B-BA74-4081-9C98-F75546208E81}" type="datetime1">
              <a:rPr lang="en-US" smtClean="0"/>
              <a:t>16-Sep-2025</a:t>
            </a:fld>
            <a:endParaRPr lang="en-US"/>
          </a:p>
        </p:txBody>
      </p:sp>
      <p:sp>
        <p:nvSpPr>
          <p:cNvPr id="6" name="Footer Placeholder 5"/>
          <p:cNvSpPr>
            <a:spLocks noGrp="1"/>
          </p:cNvSpPr>
          <p:nvPr>
            <p:ph type="ftr" sz="quarter" idx="11"/>
          </p:nvPr>
        </p:nvSpPr>
        <p:spPr/>
        <p:txBody>
          <a:bodyPr/>
          <a:lstStyle/>
          <a:p>
            <a:r>
              <a:rPr lang="en-US"/>
              <a:t>Prepared by: Engr. Majid Kaleem</a:t>
            </a:r>
          </a:p>
        </p:txBody>
      </p:sp>
      <p:sp>
        <p:nvSpPr>
          <p:cNvPr id="7" name="Slide Number Placeholder 6"/>
          <p:cNvSpPr>
            <a:spLocks noGrp="1"/>
          </p:cNvSpPr>
          <p:nvPr>
            <p:ph type="sldNum" sz="quarter" idx="12"/>
          </p:nvPr>
        </p:nvSpPr>
        <p:spPr/>
        <p:txBody>
          <a:bodyPr/>
          <a:lstStyle/>
          <a:p>
            <a:fld id="{67D2A209-9856-462B-A010-2A2374E3EB4A}"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7456D023-EB81-4F7E-BAFB-BBC0F73C5589}" type="datetime1">
              <a:rPr lang="en-US" smtClean="0"/>
              <a:t>16-Sep-2025</a:t>
            </a:fld>
            <a:endParaRPr lang="en-US"/>
          </a:p>
        </p:txBody>
      </p:sp>
      <p:sp>
        <p:nvSpPr>
          <p:cNvPr id="5" name="Footer Placeholder 4"/>
          <p:cNvSpPr>
            <a:spLocks noGrp="1"/>
          </p:cNvSpPr>
          <p:nvPr>
            <p:ph type="ftr" sz="quarter" idx="11"/>
          </p:nvPr>
        </p:nvSpPr>
        <p:spPr/>
        <p:txBody>
          <a:bodyPr/>
          <a:lstStyle/>
          <a:p>
            <a:r>
              <a:rPr lang="en-US"/>
              <a:t>Prepared by: Engr. Majid Kaleem</a:t>
            </a:r>
          </a:p>
        </p:txBody>
      </p:sp>
      <p:sp>
        <p:nvSpPr>
          <p:cNvPr id="6" name="Slide Number Placeholder 5"/>
          <p:cNvSpPr>
            <a:spLocks noGrp="1"/>
          </p:cNvSpPr>
          <p:nvPr>
            <p:ph type="sldNum" sz="quarter" idx="12"/>
          </p:nvPr>
        </p:nvSpPr>
        <p:spPr/>
        <p:txBody>
          <a:bodyPr/>
          <a:lstStyle/>
          <a:p>
            <a:fld id="{67D2A209-9856-462B-A010-2A2374E3EB4A}"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C563CAF7-3317-49F4-8BCD-6F3AFB74B952}" type="datetime1">
              <a:rPr lang="en-US" smtClean="0"/>
              <a:t>16-Sep-2025</a:t>
            </a:fld>
            <a:endParaRPr lang="en-US"/>
          </a:p>
        </p:txBody>
      </p:sp>
      <p:sp>
        <p:nvSpPr>
          <p:cNvPr id="5" name="Footer Placeholder 4"/>
          <p:cNvSpPr>
            <a:spLocks noGrp="1"/>
          </p:cNvSpPr>
          <p:nvPr>
            <p:ph type="ftr" sz="quarter" idx="11"/>
          </p:nvPr>
        </p:nvSpPr>
        <p:spPr/>
        <p:txBody>
          <a:bodyPr/>
          <a:lstStyle/>
          <a:p>
            <a:r>
              <a:rPr lang="en-US"/>
              <a:t>Prepared by: Engr. Majid Kaleem</a:t>
            </a:r>
          </a:p>
        </p:txBody>
      </p:sp>
      <p:sp>
        <p:nvSpPr>
          <p:cNvPr id="6" name="Slide Number Placeholder 5"/>
          <p:cNvSpPr>
            <a:spLocks noGrp="1"/>
          </p:cNvSpPr>
          <p:nvPr>
            <p:ph type="sldNum" sz="quarter" idx="12"/>
          </p:nvPr>
        </p:nvSpPr>
        <p:spPr/>
        <p:txBody>
          <a:bodyPr/>
          <a:lstStyle/>
          <a:p>
            <a:fld id="{67D2A209-9856-462B-A010-2A2374E3EB4A}" type="slidenum">
              <a:rPr lang="en-US" smtClean="0"/>
              <a:pPr/>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C494185C-045E-4B07-B360-1E4D0D4807A8}" type="datetime1">
              <a:rPr lang="en-US" smtClean="0"/>
              <a:t>16-Sep-2025</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r>
              <a:rPr lang="en-US"/>
              <a:t>Prepared by: Engr. Majid Kaleem</a:t>
            </a:r>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67D2A209-9856-462B-A010-2A2374E3EB4A}"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hdr="0" ftr="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image" Target="../media/image12.pn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image" Target="../media/image14.png"/><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image" Target="../media/image16.png"/><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image" Target="../media/image18.png"/><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2" Type="http://schemas.openxmlformats.org/officeDocument/2006/relationships/image" Target="../media/image20.png"/><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image" Target="../media/image21.png"/><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2" Type="http://schemas.openxmlformats.org/officeDocument/2006/relationships/image" Target="../media/image23.pn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noAutofit/>
          </a:bodyPr>
          <a:lstStyle/>
          <a:p>
            <a:r>
              <a:rPr lang="en-GB" sz="9600" dirty="0">
                <a:latin typeface="MoolBoran" pitchFamily="34" charset="0"/>
                <a:cs typeface="MoolBoran" pitchFamily="34" charset="0"/>
              </a:rPr>
              <a:t>Data Structures &amp; Algorithms</a:t>
            </a:r>
            <a:endParaRPr lang="en-US" sz="9600" dirty="0">
              <a:latin typeface="MoolBoran" pitchFamily="34" charset="0"/>
              <a:cs typeface="MoolBoran" pitchFamily="34" charset="0"/>
            </a:endParaRPr>
          </a:p>
        </p:txBody>
      </p:sp>
      <p:sp>
        <p:nvSpPr>
          <p:cNvPr id="3" name="Subtitle 2"/>
          <p:cNvSpPr>
            <a:spLocks noGrp="1"/>
          </p:cNvSpPr>
          <p:nvPr>
            <p:ph type="subTitle" idx="1"/>
          </p:nvPr>
        </p:nvSpPr>
        <p:spPr>
          <a:xfrm>
            <a:off x="1371600" y="4267200"/>
            <a:ext cx="6400800" cy="762000"/>
          </a:xfrm>
        </p:spPr>
        <p:txBody>
          <a:bodyPr/>
          <a:lstStyle/>
          <a:p>
            <a:r>
              <a:rPr lang="en-GB" dirty="0">
                <a:solidFill>
                  <a:schemeClr val="tx2"/>
                </a:solidFill>
                <a:latin typeface="MoolBoran" pitchFamily="34" charset="0"/>
                <a:cs typeface="MoolBoran" pitchFamily="34" charset="0"/>
              </a:rPr>
              <a:t>Week-10</a:t>
            </a:r>
            <a:endParaRPr lang="en-US" dirty="0">
              <a:solidFill>
                <a:schemeClr val="tx2"/>
              </a:solidFill>
              <a:latin typeface="MoolBoran" pitchFamily="34" charset="0"/>
              <a:cs typeface="MoolBoran" pitchFamily="34" charset="0"/>
            </a:endParaRPr>
          </a:p>
        </p:txBody>
      </p:sp>
      <p:pic>
        <p:nvPicPr>
          <p:cNvPr id="6" name="Picture 5" descr="logo5.png"/>
          <p:cNvPicPr/>
          <p:nvPr/>
        </p:nvPicPr>
        <p:blipFill>
          <a:blip r:embed="rId2" cstate="print"/>
          <a:stretch>
            <a:fillRect/>
          </a:stretch>
        </p:blipFill>
        <p:spPr>
          <a:xfrm>
            <a:off x="14186" y="0"/>
            <a:ext cx="2729014" cy="778213"/>
          </a:xfrm>
          <a:prstGeom prst="rect">
            <a:avLst/>
          </a:prstGeom>
        </p:spPr>
      </p:pic>
      <p:sp>
        <p:nvSpPr>
          <p:cNvPr id="8" name="Date Placeholder 7">
            <a:extLst>
              <a:ext uri="{FF2B5EF4-FFF2-40B4-BE49-F238E27FC236}">
                <a16:creationId xmlns:a16="http://schemas.microsoft.com/office/drawing/2014/main" id="{1A0F576E-2ADB-4177-AB0E-A05B1562F475}"/>
              </a:ext>
            </a:extLst>
          </p:cNvPr>
          <p:cNvSpPr>
            <a:spLocks noGrp="1"/>
          </p:cNvSpPr>
          <p:nvPr>
            <p:ph type="dt" sz="half" idx="10"/>
          </p:nvPr>
        </p:nvSpPr>
        <p:spPr/>
        <p:txBody>
          <a:bodyPr/>
          <a:lstStyle/>
          <a:p>
            <a:fld id="{E556753D-90AF-4F2E-8EC7-13C4E2C1D86D}" type="datetime1">
              <a:rPr lang="en-US" smtClean="0"/>
              <a:t>16-Sep-2025</a:t>
            </a:fld>
            <a:endParaRPr lang="en-US"/>
          </a:p>
        </p:txBody>
      </p:sp>
      <p:sp>
        <p:nvSpPr>
          <p:cNvPr id="9" name="Slide Number Placeholder 8">
            <a:extLst>
              <a:ext uri="{FF2B5EF4-FFF2-40B4-BE49-F238E27FC236}">
                <a16:creationId xmlns:a16="http://schemas.microsoft.com/office/drawing/2014/main" id="{2F763651-B497-4529-9AFF-59636D160AFF}"/>
              </a:ext>
            </a:extLst>
          </p:cNvPr>
          <p:cNvSpPr>
            <a:spLocks noGrp="1"/>
          </p:cNvSpPr>
          <p:nvPr>
            <p:ph type="sldNum" sz="quarter" idx="12"/>
          </p:nvPr>
        </p:nvSpPr>
        <p:spPr/>
        <p:txBody>
          <a:bodyPr/>
          <a:lstStyle/>
          <a:p>
            <a:fld id="{67D2A209-9856-462B-A010-2A2374E3EB4A}" type="slidenum">
              <a:rPr lang="en-US" smtClean="0"/>
              <a:pPr/>
              <a:t>1</a:t>
            </a:fld>
            <a:endParaRPr lang="en-US"/>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E325880-FFD1-48AE-9982-FCB0F658DFAA}"/>
              </a:ext>
            </a:extLst>
          </p:cNvPr>
          <p:cNvSpPr>
            <a:spLocks noGrp="1"/>
          </p:cNvSpPr>
          <p:nvPr>
            <p:ph type="title"/>
          </p:nvPr>
        </p:nvSpPr>
        <p:spPr/>
        <p:txBody>
          <a:bodyPr>
            <a:normAutofit fontScale="90000"/>
          </a:bodyPr>
          <a:lstStyle/>
          <a:p>
            <a:r>
              <a:rPr lang="en-US"/>
              <a:t>Week-10 </a:t>
            </a:r>
            <a:r>
              <a:rPr lang="en-US" dirty="0"/>
              <a:t>Agenda </a:t>
            </a:r>
          </a:p>
        </p:txBody>
      </p:sp>
      <p:sp>
        <p:nvSpPr>
          <p:cNvPr id="3" name="Content Placeholder 2">
            <a:extLst>
              <a:ext uri="{FF2B5EF4-FFF2-40B4-BE49-F238E27FC236}">
                <a16:creationId xmlns:a16="http://schemas.microsoft.com/office/drawing/2014/main" id="{2581AD53-70E4-4DB2-B00E-814D78E4EBC7}"/>
              </a:ext>
            </a:extLst>
          </p:cNvPr>
          <p:cNvSpPr>
            <a:spLocks noGrp="1"/>
          </p:cNvSpPr>
          <p:nvPr>
            <p:ph idx="1"/>
          </p:nvPr>
        </p:nvSpPr>
        <p:spPr/>
        <p:txBody>
          <a:bodyPr>
            <a:normAutofit/>
          </a:bodyPr>
          <a:lstStyle/>
          <a:p>
            <a:pPr marL="857250" lvl="1" indent="-457200">
              <a:buFont typeface="+mj-lt"/>
              <a:buAutoNum type="arabicPeriod"/>
            </a:pPr>
            <a:r>
              <a:rPr lang="en-US" sz="2400" dirty="0">
                <a:latin typeface="Arial Narrow" panose="020B0606020202030204" pitchFamily="34" charset="0"/>
              </a:rPr>
              <a:t>Bubble Sort</a:t>
            </a:r>
          </a:p>
          <a:p>
            <a:pPr marL="857250" lvl="1" indent="-457200">
              <a:buFont typeface="+mj-lt"/>
              <a:buAutoNum type="arabicPeriod"/>
            </a:pPr>
            <a:r>
              <a:rPr lang="en-US" sz="2400" dirty="0">
                <a:latin typeface="Arial Narrow" panose="020B0606020202030204" pitchFamily="34" charset="0"/>
              </a:rPr>
              <a:t>Quick Sort</a:t>
            </a:r>
          </a:p>
          <a:p>
            <a:pPr marL="857250" lvl="1" indent="-457200">
              <a:buFont typeface="+mj-lt"/>
              <a:buAutoNum type="arabicPeriod"/>
            </a:pPr>
            <a:r>
              <a:rPr lang="en-US" sz="2400" dirty="0">
                <a:latin typeface="Arial Narrow" panose="020B0606020202030204" pitchFamily="34" charset="0"/>
              </a:rPr>
              <a:t>Merge Sort</a:t>
            </a:r>
          </a:p>
          <a:p>
            <a:pPr marL="857250" lvl="1" indent="-457200">
              <a:buFont typeface="+mj-lt"/>
              <a:buAutoNum type="arabicPeriod"/>
            </a:pPr>
            <a:endParaRPr lang="en-US" sz="2400" dirty="0">
              <a:latin typeface="Arial Narrow" panose="020B0606020202030204" pitchFamily="34" charset="0"/>
            </a:endParaRPr>
          </a:p>
        </p:txBody>
      </p:sp>
      <p:sp>
        <p:nvSpPr>
          <p:cNvPr id="6" name="Date Placeholder 5">
            <a:extLst>
              <a:ext uri="{FF2B5EF4-FFF2-40B4-BE49-F238E27FC236}">
                <a16:creationId xmlns:a16="http://schemas.microsoft.com/office/drawing/2014/main" id="{9305886E-6EB7-4207-A593-4BEE2572D03F}"/>
              </a:ext>
            </a:extLst>
          </p:cNvPr>
          <p:cNvSpPr>
            <a:spLocks noGrp="1"/>
          </p:cNvSpPr>
          <p:nvPr>
            <p:ph type="dt" sz="half" idx="10"/>
          </p:nvPr>
        </p:nvSpPr>
        <p:spPr/>
        <p:txBody>
          <a:bodyPr/>
          <a:lstStyle/>
          <a:p>
            <a:fld id="{97D4183C-BF88-40F9-A1FD-0C096233229E}" type="datetime1">
              <a:rPr lang="en-US" smtClean="0"/>
              <a:t>16-Sep-2025</a:t>
            </a:fld>
            <a:endParaRPr lang="en-US" dirty="0"/>
          </a:p>
        </p:txBody>
      </p:sp>
      <p:sp>
        <p:nvSpPr>
          <p:cNvPr id="7" name="Slide Number Placeholder 6">
            <a:extLst>
              <a:ext uri="{FF2B5EF4-FFF2-40B4-BE49-F238E27FC236}">
                <a16:creationId xmlns:a16="http://schemas.microsoft.com/office/drawing/2014/main" id="{AD503029-7C99-49DA-875E-D7B85E2B9871}"/>
              </a:ext>
            </a:extLst>
          </p:cNvPr>
          <p:cNvSpPr>
            <a:spLocks noGrp="1"/>
          </p:cNvSpPr>
          <p:nvPr>
            <p:ph type="sldNum" sz="quarter" idx="12"/>
          </p:nvPr>
        </p:nvSpPr>
        <p:spPr/>
        <p:txBody>
          <a:bodyPr/>
          <a:lstStyle/>
          <a:p>
            <a:fld id="{67D2A209-9856-462B-A010-2A2374E3EB4A}" type="slidenum">
              <a:rPr lang="en-US" smtClean="0"/>
              <a:pPr/>
              <a:t>2</a:t>
            </a:fld>
            <a:endParaRPr lang="en-US"/>
          </a:p>
        </p:txBody>
      </p:sp>
    </p:spTree>
    <p:extLst>
      <p:ext uri="{BB962C8B-B14F-4D97-AF65-F5344CB8AC3E}">
        <p14:creationId xmlns:p14="http://schemas.microsoft.com/office/powerpoint/2010/main" val="3508301846"/>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83FD765-3DAC-41AC-BD34-46D549CE726F}"/>
              </a:ext>
            </a:extLst>
          </p:cNvPr>
          <p:cNvSpPr>
            <a:spLocks noGrp="1"/>
          </p:cNvSpPr>
          <p:nvPr>
            <p:ph type="title"/>
          </p:nvPr>
        </p:nvSpPr>
        <p:spPr/>
        <p:txBody>
          <a:bodyPr>
            <a:normAutofit fontScale="90000"/>
          </a:bodyPr>
          <a:lstStyle/>
          <a:p>
            <a:r>
              <a:rPr lang="en-US" dirty="0"/>
              <a:t>Bubble Sort</a:t>
            </a:r>
          </a:p>
        </p:txBody>
      </p:sp>
      <p:sp>
        <p:nvSpPr>
          <p:cNvPr id="3" name="Content Placeholder 2">
            <a:extLst>
              <a:ext uri="{FF2B5EF4-FFF2-40B4-BE49-F238E27FC236}">
                <a16:creationId xmlns:a16="http://schemas.microsoft.com/office/drawing/2014/main" id="{F8ABD65E-F3A1-45FF-A39E-41DE24CAC158}"/>
              </a:ext>
            </a:extLst>
          </p:cNvPr>
          <p:cNvSpPr>
            <a:spLocks noGrp="1"/>
          </p:cNvSpPr>
          <p:nvPr>
            <p:ph idx="1"/>
          </p:nvPr>
        </p:nvSpPr>
        <p:spPr/>
        <p:txBody>
          <a:bodyPr/>
          <a:lstStyle/>
          <a:p>
            <a:r>
              <a:rPr lang="en-US" dirty="0"/>
              <a:t>Bubble sort works on the repeatedly swapping of adjacent elements until they are not in the intended order. </a:t>
            </a:r>
          </a:p>
          <a:p>
            <a:endParaRPr lang="en-US" dirty="0"/>
          </a:p>
          <a:p>
            <a:r>
              <a:rPr lang="en-US" dirty="0"/>
              <a:t>It is called bubble sort because the movement of array elements is just like the movement of air bubbles in the water. </a:t>
            </a:r>
          </a:p>
          <a:p>
            <a:endParaRPr lang="en-US" dirty="0"/>
          </a:p>
          <a:p>
            <a:r>
              <a:rPr lang="en-US" dirty="0"/>
              <a:t>Bubbles in water rise up to the surface; similarly, the array elements in bubble sort move to the end in each iteration.</a:t>
            </a:r>
          </a:p>
        </p:txBody>
      </p:sp>
      <p:sp>
        <p:nvSpPr>
          <p:cNvPr id="4" name="Date Placeholder 3">
            <a:extLst>
              <a:ext uri="{FF2B5EF4-FFF2-40B4-BE49-F238E27FC236}">
                <a16:creationId xmlns:a16="http://schemas.microsoft.com/office/drawing/2014/main" id="{7946A869-E79E-4326-B6B9-3D30B54889CE}"/>
              </a:ext>
            </a:extLst>
          </p:cNvPr>
          <p:cNvSpPr>
            <a:spLocks noGrp="1"/>
          </p:cNvSpPr>
          <p:nvPr>
            <p:ph type="dt" sz="half" idx="10"/>
          </p:nvPr>
        </p:nvSpPr>
        <p:spPr/>
        <p:txBody>
          <a:bodyPr/>
          <a:lstStyle/>
          <a:p>
            <a:fld id="{1F43648F-C10C-476D-BA4E-5D96890A4ABC}" type="datetime1">
              <a:rPr lang="en-US" smtClean="0"/>
              <a:t>16-Sep-2025</a:t>
            </a:fld>
            <a:endParaRPr lang="en-US"/>
          </a:p>
        </p:txBody>
      </p:sp>
      <p:sp>
        <p:nvSpPr>
          <p:cNvPr id="5" name="Slide Number Placeholder 4">
            <a:extLst>
              <a:ext uri="{FF2B5EF4-FFF2-40B4-BE49-F238E27FC236}">
                <a16:creationId xmlns:a16="http://schemas.microsoft.com/office/drawing/2014/main" id="{3A68AD4B-A1A1-4D97-801F-9E7C8EB3C318}"/>
              </a:ext>
            </a:extLst>
          </p:cNvPr>
          <p:cNvSpPr>
            <a:spLocks noGrp="1"/>
          </p:cNvSpPr>
          <p:nvPr>
            <p:ph type="sldNum" sz="quarter" idx="12"/>
          </p:nvPr>
        </p:nvSpPr>
        <p:spPr/>
        <p:txBody>
          <a:bodyPr/>
          <a:lstStyle/>
          <a:p>
            <a:fld id="{67D2A209-9856-462B-A010-2A2374E3EB4A}" type="slidenum">
              <a:rPr lang="en-US" smtClean="0"/>
              <a:pPr/>
              <a:t>3</a:t>
            </a:fld>
            <a:endParaRPr lang="en-US"/>
          </a:p>
        </p:txBody>
      </p:sp>
    </p:spTree>
    <p:extLst>
      <p:ext uri="{BB962C8B-B14F-4D97-AF65-F5344CB8AC3E}">
        <p14:creationId xmlns:p14="http://schemas.microsoft.com/office/powerpoint/2010/main" val="2197175186"/>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83FD765-3DAC-41AC-BD34-46D549CE726F}"/>
              </a:ext>
            </a:extLst>
          </p:cNvPr>
          <p:cNvSpPr>
            <a:spLocks noGrp="1"/>
          </p:cNvSpPr>
          <p:nvPr>
            <p:ph type="title"/>
          </p:nvPr>
        </p:nvSpPr>
        <p:spPr/>
        <p:txBody>
          <a:bodyPr>
            <a:normAutofit fontScale="90000"/>
          </a:bodyPr>
          <a:lstStyle/>
          <a:p>
            <a:r>
              <a:rPr lang="en-US" dirty="0"/>
              <a:t>Bubble Sort</a:t>
            </a:r>
          </a:p>
        </p:txBody>
      </p:sp>
      <p:sp>
        <p:nvSpPr>
          <p:cNvPr id="3" name="Content Placeholder 2">
            <a:extLst>
              <a:ext uri="{FF2B5EF4-FFF2-40B4-BE49-F238E27FC236}">
                <a16:creationId xmlns:a16="http://schemas.microsoft.com/office/drawing/2014/main" id="{F8ABD65E-F3A1-45FF-A39E-41DE24CAC158}"/>
              </a:ext>
            </a:extLst>
          </p:cNvPr>
          <p:cNvSpPr>
            <a:spLocks noGrp="1"/>
          </p:cNvSpPr>
          <p:nvPr>
            <p:ph idx="1"/>
          </p:nvPr>
        </p:nvSpPr>
        <p:spPr/>
        <p:txBody>
          <a:bodyPr>
            <a:normAutofit/>
          </a:bodyPr>
          <a:lstStyle/>
          <a:p>
            <a:r>
              <a:rPr lang="en-US" sz="2400" b="1" dirty="0"/>
              <a:t>Best Case Complexity -</a:t>
            </a:r>
            <a:r>
              <a:rPr lang="en-US" sz="2400" dirty="0"/>
              <a:t> It occurs when there is no sorting required, i.e. the array is already sorted. The best-case time complexity of bubble sort is </a:t>
            </a:r>
            <a:r>
              <a:rPr lang="en-US" sz="2400" b="1" dirty="0"/>
              <a:t>O(n).</a:t>
            </a:r>
            <a:endParaRPr lang="en-US" sz="2400" dirty="0"/>
          </a:p>
          <a:p>
            <a:endParaRPr lang="en-US" sz="2400" b="1" dirty="0"/>
          </a:p>
          <a:p>
            <a:r>
              <a:rPr lang="en-US" sz="2400" b="1" dirty="0"/>
              <a:t>Average Case Complexity -</a:t>
            </a:r>
            <a:r>
              <a:rPr lang="en-US" sz="2400" dirty="0"/>
              <a:t> It occurs when the array elements are in jumbled order that is not properly ascending and not properly descending. The average case time complexity of bubble sort is </a:t>
            </a:r>
            <a:r>
              <a:rPr lang="en-US" sz="2400" b="1" dirty="0"/>
              <a:t>O(n</a:t>
            </a:r>
            <a:r>
              <a:rPr lang="en-US" sz="2400" b="1" baseline="30000" dirty="0"/>
              <a:t>2</a:t>
            </a:r>
            <a:r>
              <a:rPr lang="en-US" sz="2400" b="1" dirty="0"/>
              <a:t>).</a:t>
            </a:r>
            <a:endParaRPr lang="en-US" sz="2400" dirty="0"/>
          </a:p>
          <a:p>
            <a:endParaRPr lang="en-US" sz="2400" b="1" dirty="0"/>
          </a:p>
          <a:p>
            <a:r>
              <a:rPr lang="en-US" sz="2400" b="1" dirty="0"/>
              <a:t>Worst Case Complexity -</a:t>
            </a:r>
            <a:r>
              <a:rPr lang="en-US" sz="2400" dirty="0"/>
              <a:t> It occurs when the array elements are required to be sorted in reverse order. That means suppose you have to sort the array elements in ascending order, but its elements are in descending order. The worst-case time complexity of bubble sort is </a:t>
            </a:r>
            <a:r>
              <a:rPr lang="en-US" sz="2400" b="1" dirty="0"/>
              <a:t>O(n</a:t>
            </a:r>
            <a:r>
              <a:rPr lang="en-US" sz="2400" b="1" baseline="30000" dirty="0"/>
              <a:t>2</a:t>
            </a:r>
            <a:r>
              <a:rPr lang="en-US" sz="2400" b="1" dirty="0"/>
              <a:t>).</a:t>
            </a:r>
            <a:endParaRPr lang="en-US" sz="2400" dirty="0"/>
          </a:p>
        </p:txBody>
      </p:sp>
      <p:sp>
        <p:nvSpPr>
          <p:cNvPr id="4" name="Date Placeholder 3">
            <a:extLst>
              <a:ext uri="{FF2B5EF4-FFF2-40B4-BE49-F238E27FC236}">
                <a16:creationId xmlns:a16="http://schemas.microsoft.com/office/drawing/2014/main" id="{7946A869-E79E-4326-B6B9-3D30B54889CE}"/>
              </a:ext>
            </a:extLst>
          </p:cNvPr>
          <p:cNvSpPr>
            <a:spLocks noGrp="1"/>
          </p:cNvSpPr>
          <p:nvPr>
            <p:ph type="dt" sz="half" idx="10"/>
          </p:nvPr>
        </p:nvSpPr>
        <p:spPr/>
        <p:txBody>
          <a:bodyPr/>
          <a:lstStyle/>
          <a:p>
            <a:fld id="{1F43648F-C10C-476D-BA4E-5D96890A4ABC}" type="datetime1">
              <a:rPr lang="en-US" smtClean="0"/>
              <a:t>16-Sep-2025</a:t>
            </a:fld>
            <a:endParaRPr lang="en-US"/>
          </a:p>
        </p:txBody>
      </p:sp>
      <p:sp>
        <p:nvSpPr>
          <p:cNvPr id="5" name="Slide Number Placeholder 4">
            <a:extLst>
              <a:ext uri="{FF2B5EF4-FFF2-40B4-BE49-F238E27FC236}">
                <a16:creationId xmlns:a16="http://schemas.microsoft.com/office/drawing/2014/main" id="{3A68AD4B-A1A1-4D97-801F-9E7C8EB3C318}"/>
              </a:ext>
            </a:extLst>
          </p:cNvPr>
          <p:cNvSpPr>
            <a:spLocks noGrp="1"/>
          </p:cNvSpPr>
          <p:nvPr>
            <p:ph type="sldNum" sz="quarter" idx="12"/>
          </p:nvPr>
        </p:nvSpPr>
        <p:spPr/>
        <p:txBody>
          <a:bodyPr/>
          <a:lstStyle/>
          <a:p>
            <a:fld id="{67D2A209-9856-462B-A010-2A2374E3EB4A}" type="slidenum">
              <a:rPr lang="en-US" smtClean="0"/>
              <a:pPr/>
              <a:t>4</a:t>
            </a:fld>
            <a:endParaRPr lang="en-US"/>
          </a:p>
        </p:txBody>
      </p:sp>
    </p:spTree>
    <p:extLst>
      <p:ext uri="{BB962C8B-B14F-4D97-AF65-F5344CB8AC3E}">
        <p14:creationId xmlns:p14="http://schemas.microsoft.com/office/powerpoint/2010/main" val="195088920"/>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83FD765-3DAC-41AC-BD34-46D549CE726F}"/>
              </a:ext>
            </a:extLst>
          </p:cNvPr>
          <p:cNvSpPr>
            <a:spLocks noGrp="1"/>
          </p:cNvSpPr>
          <p:nvPr>
            <p:ph type="title"/>
          </p:nvPr>
        </p:nvSpPr>
        <p:spPr/>
        <p:txBody>
          <a:bodyPr>
            <a:normAutofit fontScale="90000"/>
          </a:bodyPr>
          <a:lstStyle/>
          <a:p>
            <a:r>
              <a:rPr lang="en-US" dirty="0"/>
              <a:t>Bubble Sort</a:t>
            </a:r>
          </a:p>
        </p:txBody>
      </p:sp>
      <p:sp>
        <p:nvSpPr>
          <p:cNvPr id="3" name="Content Placeholder 2">
            <a:extLst>
              <a:ext uri="{FF2B5EF4-FFF2-40B4-BE49-F238E27FC236}">
                <a16:creationId xmlns:a16="http://schemas.microsoft.com/office/drawing/2014/main" id="{F8ABD65E-F3A1-45FF-A39E-41DE24CAC158}"/>
              </a:ext>
            </a:extLst>
          </p:cNvPr>
          <p:cNvSpPr>
            <a:spLocks noGrp="1"/>
          </p:cNvSpPr>
          <p:nvPr>
            <p:ph idx="1"/>
          </p:nvPr>
        </p:nvSpPr>
        <p:spPr/>
        <p:txBody>
          <a:bodyPr/>
          <a:lstStyle/>
          <a:p>
            <a:endParaRPr lang="en-US" dirty="0"/>
          </a:p>
        </p:txBody>
      </p:sp>
      <p:sp>
        <p:nvSpPr>
          <p:cNvPr id="4" name="Date Placeholder 3">
            <a:extLst>
              <a:ext uri="{FF2B5EF4-FFF2-40B4-BE49-F238E27FC236}">
                <a16:creationId xmlns:a16="http://schemas.microsoft.com/office/drawing/2014/main" id="{7946A869-E79E-4326-B6B9-3D30B54889CE}"/>
              </a:ext>
            </a:extLst>
          </p:cNvPr>
          <p:cNvSpPr>
            <a:spLocks noGrp="1"/>
          </p:cNvSpPr>
          <p:nvPr>
            <p:ph type="dt" sz="half" idx="10"/>
          </p:nvPr>
        </p:nvSpPr>
        <p:spPr/>
        <p:txBody>
          <a:bodyPr/>
          <a:lstStyle/>
          <a:p>
            <a:fld id="{1F43648F-C10C-476D-BA4E-5D96890A4ABC}" type="datetime1">
              <a:rPr lang="en-US" smtClean="0"/>
              <a:t>16-Sep-2025</a:t>
            </a:fld>
            <a:endParaRPr lang="en-US"/>
          </a:p>
        </p:txBody>
      </p:sp>
      <p:sp>
        <p:nvSpPr>
          <p:cNvPr id="5" name="Slide Number Placeholder 4">
            <a:extLst>
              <a:ext uri="{FF2B5EF4-FFF2-40B4-BE49-F238E27FC236}">
                <a16:creationId xmlns:a16="http://schemas.microsoft.com/office/drawing/2014/main" id="{3A68AD4B-A1A1-4D97-801F-9E7C8EB3C318}"/>
              </a:ext>
            </a:extLst>
          </p:cNvPr>
          <p:cNvSpPr>
            <a:spLocks noGrp="1"/>
          </p:cNvSpPr>
          <p:nvPr>
            <p:ph type="sldNum" sz="quarter" idx="12"/>
          </p:nvPr>
        </p:nvSpPr>
        <p:spPr/>
        <p:txBody>
          <a:bodyPr/>
          <a:lstStyle/>
          <a:p>
            <a:fld id="{67D2A209-9856-462B-A010-2A2374E3EB4A}" type="slidenum">
              <a:rPr lang="en-US" smtClean="0"/>
              <a:pPr/>
              <a:t>5</a:t>
            </a:fld>
            <a:endParaRPr lang="en-US"/>
          </a:p>
        </p:txBody>
      </p:sp>
      <p:pic>
        <p:nvPicPr>
          <p:cNvPr id="6" name="Picture 5">
            <a:extLst>
              <a:ext uri="{FF2B5EF4-FFF2-40B4-BE49-F238E27FC236}">
                <a16:creationId xmlns:a16="http://schemas.microsoft.com/office/drawing/2014/main" id="{F8287F1E-7F56-49B3-9815-E410064DA99F}"/>
              </a:ext>
            </a:extLst>
          </p:cNvPr>
          <p:cNvPicPr>
            <a:picLocks noChangeAspect="1"/>
          </p:cNvPicPr>
          <p:nvPr/>
        </p:nvPicPr>
        <p:blipFill>
          <a:blip r:embed="rId2"/>
          <a:stretch>
            <a:fillRect/>
          </a:stretch>
        </p:blipFill>
        <p:spPr>
          <a:xfrm>
            <a:off x="781050" y="2371725"/>
            <a:ext cx="7581900" cy="2114550"/>
          </a:xfrm>
          <a:prstGeom prst="rect">
            <a:avLst/>
          </a:prstGeom>
        </p:spPr>
      </p:pic>
    </p:spTree>
    <p:extLst>
      <p:ext uri="{BB962C8B-B14F-4D97-AF65-F5344CB8AC3E}">
        <p14:creationId xmlns:p14="http://schemas.microsoft.com/office/powerpoint/2010/main" val="1423619580"/>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83FD765-3DAC-41AC-BD34-46D549CE726F}"/>
              </a:ext>
            </a:extLst>
          </p:cNvPr>
          <p:cNvSpPr>
            <a:spLocks noGrp="1"/>
          </p:cNvSpPr>
          <p:nvPr>
            <p:ph type="title"/>
          </p:nvPr>
        </p:nvSpPr>
        <p:spPr/>
        <p:txBody>
          <a:bodyPr>
            <a:normAutofit fontScale="90000"/>
          </a:bodyPr>
          <a:lstStyle/>
          <a:p>
            <a:r>
              <a:rPr lang="en-US" dirty="0"/>
              <a:t>Bubble Sort</a:t>
            </a:r>
          </a:p>
        </p:txBody>
      </p:sp>
      <p:sp>
        <p:nvSpPr>
          <p:cNvPr id="3" name="Content Placeholder 2">
            <a:extLst>
              <a:ext uri="{FF2B5EF4-FFF2-40B4-BE49-F238E27FC236}">
                <a16:creationId xmlns:a16="http://schemas.microsoft.com/office/drawing/2014/main" id="{F8ABD65E-F3A1-45FF-A39E-41DE24CAC158}"/>
              </a:ext>
            </a:extLst>
          </p:cNvPr>
          <p:cNvSpPr>
            <a:spLocks noGrp="1"/>
          </p:cNvSpPr>
          <p:nvPr>
            <p:ph idx="1"/>
          </p:nvPr>
        </p:nvSpPr>
        <p:spPr/>
        <p:txBody>
          <a:bodyPr/>
          <a:lstStyle/>
          <a:p>
            <a:r>
              <a:rPr lang="en-US" dirty="0"/>
              <a:t>The space complexity of bubble sort is O(1). It is because, in bubble sort, an extra variable is required for swapping.</a:t>
            </a:r>
          </a:p>
          <a:p>
            <a:endParaRPr lang="en-US" dirty="0"/>
          </a:p>
          <a:p>
            <a:r>
              <a:rPr lang="en-US" dirty="0"/>
              <a:t>The space complexity of optimized bubble sort is O(2). It is because two extra variables are required in optimized bubble sort.</a:t>
            </a:r>
          </a:p>
        </p:txBody>
      </p:sp>
      <p:sp>
        <p:nvSpPr>
          <p:cNvPr id="4" name="Date Placeholder 3">
            <a:extLst>
              <a:ext uri="{FF2B5EF4-FFF2-40B4-BE49-F238E27FC236}">
                <a16:creationId xmlns:a16="http://schemas.microsoft.com/office/drawing/2014/main" id="{7946A869-E79E-4326-B6B9-3D30B54889CE}"/>
              </a:ext>
            </a:extLst>
          </p:cNvPr>
          <p:cNvSpPr>
            <a:spLocks noGrp="1"/>
          </p:cNvSpPr>
          <p:nvPr>
            <p:ph type="dt" sz="half" idx="10"/>
          </p:nvPr>
        </p:nvSpPr>
        <p:spPr/>
        <p:txBody>
          <a:bodyPr/>
          <a:lstStyle/>
          <a:p>
            <a:fld id="{1F43648F-C10C-476D-BA4E-5D96890A4ABC}" type="datetime1">
              <a:rPr lang="en-US" smtClean="0"/>
              <a:t>16-Sep-2025</a:t>
            </a:fld>
            <a:endParaRPr lang="en-US"/>
          </a:p>
        </p:txBody>
      </p:sp>
      <p:sp>
        <p:nvSpPr>
          <p:cNvPr id="5" name="Slide Number Placeholder 4">
            <a:extLst>
              <a:ext uri="{FF2B5EF4-FFF2-40B4-BE49-F238E27FC236}">
                <a16:creationId xmlns:a16="http://schemas.microsoft.com/office/drawing/2014/main" id="{3A68AD4B-A1A1-4D97-801F-9E7C8EB3C318}"/>
              </a:ext>
            </a:extLst>
          </p:cNvPr>
          <p:cNvSpPr>
            <a:spLocks noGrp="1"/>
          </p:cNvSpPr>
          <p:nvPr>
            <p:ph type="sldNum" sz="quarter" idx="12"/>
          </p:nvPr>
        </p:nvSpPr>
        <p:spPr/>
        <p:txBody>
          <a:bodyPr/>
          <a:lstStyle/>
          <a:p>
            <a:fld id="{67D2A209-9856-462B-A010-2A2374E3EB4A}" type="slidenum">
              <a:rPr lang="en-US" smtClean="0"/>
              <a:pPr/>
              <a:t>6</a:t>
            </a:fld>
            <a:endParaRPr lang="en-US"/>
          </a:p>
        </p:txBody>
      </p:sp>
      <p:pic>
        <p:nvPicPr>
          <p:cNvPr id="6" name="Picture 5">
            <a:extLst>
              <a:ext uri="{FF2B5EF4-FFF2-40B4-BE49-F238E27FC236}">
                <a16:creationId xmlns:a16="http://schemas.microsoft.com/office/drawing/2014/main" id="{45567502-2F9B-488B-B10E-9D9AC1E67595}"/>
              </a:ext>
            </a:extLst>
          </p:cNvPr>
          <p:cNvPicPr>
            <a:picLocks noChangeAspect="1"/>
          </p:cNvPicPr>
          <p:nvPr/>
        </p:nvPicPr>
        <p:blipFill>
          <a:blip r:embed="rId2"/>
          <a:stretch>
            <a:fillRect/>
          </a:stretch>
        </p:blipFill>
        <p:spPr>
          <a:xfrm>
            <a:off x="776287" y="3516489"/>
            <a:ext cx="7591425" cy="1314450"/>
          </a:xfrm>
          <a:prstGeom prst="rect">
            <a:avLst/>
          </a:prstGeom>
        </p:spPr>
      </p:pic>
    </p:spTree>
    <p:extLst>
      <p:ext uri="{BB962C8B-B14F-4D97-AF65-F5344CB8AC3E}">
        <p14:creationId xmlns:p14="http://schemas.microsoft.com/office/powerpoint/2010/main" val="1247022891"/>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83FD765-3DAC-41AC-BD34-46D549CE726F}"/>
              </a:ext>
            </a:extLst>
          </p:cNvPr>
          <p:cNvSpPr>
            <a:spLocks noGrp="1"/>
          </p:cNvSpPr>
          <p:nvPr>
            <p:ph type="title"/>
          </p:nvPr>
        </p:nvSpPr>
        <p:spPr/>
        <p:txBody>
          <a:bodyPr>
            <a:normAutofit fontScale="90000"/>
          </a:bodyPr>
          <a:lstStyle/>
          <a:p>
            <a:r>
              <a:rPr lang="en-US" dirty="0"/>
              <a:t>Bubble Sort - Working</a:t>
            </a:r>
          </a:p>
        </p:txBody>
      </p:sp>
      <p:pic>
        <p:nvPicPr>
          <p:cNvPr id="7" name="Content Placeholder 6">
            <a:extLst>
              <a:ext uri="{FF2B5EF4-FFF2-40B4-BE49-F238E27FC236}">
                <a16:creationId xmlns:a16="http://schemas.microsoft.com/office/drawing/2014/main" id="{4C7F2671-8AAC-41E3-B00C-202131D7D51A}"/>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281524" y="858362"/>
            <a:ext cx="8580952" cy="5095238"/>
          </a:xfrm>
        </p:spPr>
      </p:pic>
      <p:sp>
        <p:nvSpPr>
          <p:cNvPr id="4" name="Date Placeholder 3">
            <a:extLst>
              <a:ext uri="{FF2B5EF4-FFF2-40B4-BE49-F238E27FC236}">
                <a16:creationId xmlns:a16="http://schemas.microsoft.com/office/drawing/2014/main" id="{7946A869-E79E-4326-B6B9-3D30B54889CE}"/>
              </a:ext>
            </a:extLst>
          </p:cNvPr>
          <p:cNvSpPr>
            <a:spLocks noGrp="1"/>
          </p:cNvSpPr>
          <p:nvPr>
            <p:ph type="dt" sz="half" idx="10"/>
          </p:nvPr>
        </p:nvSpPr>
        <p:spPr/>
        <p:txBody>
          <a:bodyPr/>
          <a:lstStyle/>
          <a:p>
            <a:fld id="{1F43648F-C10C-476D-BA4E-5D96890A4ABC}" type="datetime1">
              <a:rPr lang="en-US" smtClean="0"/>
              <a:t>16-Sep-2025</a:t>
            </a:fld>
            <a:endParaRPr lang="en-US"/>
          </a:p>
        </p:txBody>
      </p:sp>
      <p:sp>
        <p:nvSpPr>
          <p:cNvPr id="5" name="Slide Number Placeholder 4">
            <a:extLst>
              <a:ext uri="{FF2B5EF4-FFF2-40B4-BE49-F238E27FC236}">
                <a16:creationId xmlns:a16="http://schemas.microsoft.com/office/drawing/2014/main" id="{3A68AD4B-A1A1-4D97-801F-9E7C8EB3C318}"/>
              </a:ext>
            </a:extLst>
          </p:cNvPr>
          <p:cNvSpPr>
            <a:spLocks noGrp="1"/>
          </p:cNvSpPr>
          <p:nvPr>
            <p:ph type="sldNum" sz="quarter" idx="12"/>
          </p:nvPr>
        </p:nvSpPr>
        <p:spPr/>
        <p:txBody>
          <a:bodyPr/>
          <a:lstStyle/>
          <a:p>
            <a:fld id="{67D2A209-9856-462B-A010-2A2374E3EB4A}" type="slidenum">
              <a:rPr lang="en-US" smtClean="0"/>
              <a:pPr/>
              <a:t>7</a:t>
            </a:fld>
            <a:endParaRPr lang="en-US"/>
          </a:p>
        </p:txBody>
      </p:sp>
    </p:spTree>
    <p:extLst>
      <p:ext uri="{BB962C8B-B14F-4D97-AF65-F5344CB8AC3E}">
        <p14:creationId xmlns:p14="http://schemas.microsoft.com/office/powerpoint/2010/main" val="2245296001"/>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A62C394-933F-4552-8506-C1735FC537BA}"/>
              </a:ext>
            </a:extLst>
          </p:cNvPr>
          <p:cNvSpPr>
            <a:spLocks noGrp="1"/>
          </p:cNvSpPr>
          <p:nvPr>
            <p:ph type="title"/>
          </p:nvPr>
        </p:nvSpPr>
        <p:spPr/>
        <p:txBody>
          <a:bodyPr>
            <a:normAutofit fontScale="90000"/>
          </a:bodyPr>
          <a:lstStyle/>
          <a:p>
            <a:r>
              <a:rPr lang="en-US" dirty="0"/>
              <a:t>Quick Sort</a:t>
            </a:r>
          </a:p>
        </p:txBody>
      </p:sp>
      <p:sp>
        <p:nvSpPr>
          <p:cNvPr id="3" name="Content Placeholder 2">
            <a:extLst>
              <a:ext uri="{FF2B5EF4-FFF2-40B4-BE49-F238E27FC236}">
                <a16:creationId xmlns:a16="http://schemas.microsoft.com/office/drawing/2014/main" id="{E2626B6A-2DAE-48D1-9806-D5A2D2DB5AA8}"/>
              </a:ext>
            </a:extLst>
          </p:cNvPr>
          <p:cNvSpPr>
            <a:spLocks noGrp="1"/>
          </p:cNvSpPr>
          <p:nvPr>
            <p:ph idx="1"/>
          </p:nvPr>
        </p:nvSpPr>
        <p:spPr/>
        <p:txBody>
          <a:bodyPr/>
          <a:lstStyle/>
          <a:p>
            <a:pPr lvl="1" algn="just"/>
            <a:r>
              <a:rPr lang="en-US" dirty="0"/>
              <a:t>Quicksort is the widely used sorting algorithm that makes </a:t>
            </a:r>
            <a:r>
              <a:rPr lang="en-US" b="1" dirty="0"/>
              <a:t>n log n</a:t>
            </a:r>
            <a:r>
              <a:rPr lang="en-US" dirty="0"/>
              <a:t> comparisons in average case for sorting an array of n elements. </a:t>
            </a:r>
          </a:p>
          <a:p>
            <a:pPr lvl="1" algn="just"/>
            <a:endParaRPr lang="en-US" dirty="0"/>
          </a:p>
          <a:p>
            <a:pPr lvl="1" algn="just"/>
            <a:r>
              <a:rPr lang="en-US" dirty="0"/>
              <a:t>It is a faster and highly efficient sorting algorithm. This algorithm follows the divide and conquer approach.</a:t>
            </a:r>
          </a:p>
          <a:p>
            <a:pPr lvl="1" algn="just"/>
            <a:endParaRPr lang="en-US" dirty="0"/>
          </a:p>
          <a:p>
            <a:pPr lvl="1" algn="just"/>
            <a:r>
              <a:rPr lang="en-US" dirty="0"/>
              <a:t>Divide and conquer is a technique of breaking down the algorithms into subproblems, then solving the subproblems, and combining the results back together to solve the original problem.</a:t>
            </a:r>
          </a:p>
        </p:txBody>
      </p:sp>
      <p:sp>
        <p:nvSpPr>
          <p:cNvPr id="4" name="Date Placeholder 3">
            <a:extLst>
              <a:ext uri="{FF2B5EF4-FFF2-40B4-BE49-F238E27FC236}">
                <a16:creationId xmlns:a16="http://schemas.microsoft.com/office/drawing/2014/main" id="{CC100FE1-2AFE-43BA-9598-237FD95637F8}"/>
              </a:ext>
            </a:extLst>
          </p:cNvPr>
          <p:cNvSpPr>
            <a:spLocks noGrp="1"/>
          </p:cNvSpPr>
          <p:nvPr>
            <p:ph type="dt" sz="half" idx="10"/>
          </p:nvPr>
        </p:nvSpPr>
        <p:spPr/>
        <p:txBody>
          <a:bodyPr/>
          <a:lstStyle/>
          <a:p>
            <a:fld id="{1F43648F-C10C-476D-BA4E-5D96890A4ABC}" type="datetime1">
              <a:rPr lang="en-US" smtClean="0"/>
              <a:t>16-Sep-2025</a:t>
            </a:fld>
            <a:endParaRPr lang="en-US"/>
          </a:p>
        </p:txBody>
      </p:sp>
      <p:sp>
        <p:nvSpPr>
          <p:cNvPr id="5" name="Slide Number Placeholder 4">
            <a:extLst>
              <a:ext uri="{FF2B5EF4-FFF2-40B4-BE49-F238E27FC236}">
                <a16:creationId xmlns:a16="http://schemas.microsoft.com/office/drawing/2014/main" id="{9B257726-8625-4901-9F68-E7A4A0AE02D0}"/>
              </a:ext>
            </a:extLst>
          </p:cNvPr>
          <p:cNvSpPr>
            <a:spLocks noGrp="1"/>
          </p:cNvSpPr>
          <p:nvPr>
            <p:ph type="sldNum" sz="quarter" idx="12"/>
          </p:nvPr>
        </p:nvSpPr>
        <p:spPr/>
        <p:txBody>
          <a:bodyPr/>
          <a:lstStyle/>
          <a:p>
            <a:fld id="{67D2A209-9856-462B-A010-2A2374E3EB4A}" type="slidenum">
              <a:rPr lang="en-US" smtClean="0"/>
              <a:pPr/>
              <a:t>8</a:t>
            </a:fld>
            <a:endParaRPr lang="en-US"/>
          </a:p>
        </p:txBody>
      </p:sp>
    </p:spTree>
    <p:extLst>
      <p:ext uri="{BB962C8B-B14F-4D97-AF65-F5344CB8AC3E}">
        <p14:creationId xmlns:p14="http://schemas.microsoft.com/office/powerpoint/2010/main" val="3908024947"/>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A62C394-933F-4552-8506-C1735FC537BA}"/>
              </a:ext>
            </a:extLst>
          </p:cNvPr>
          <p:cNvSpPr>
            <a:spLocks noGrp="1"/>
          </p:cNvSpPr>
          <p:nvPr>
            <p:ph type="title"/>
          </p:nvPr>
        </p:nvSpPr>
        <p:spPr/>
        <p:txBody>
          <a:bodyPr>
            <a:normAutofit fontScale="90000"/>
          </a:bodyPr>
          <a:lstStyle/>
          <a:p>
            <a:r>
              <a:rPr lang="en-US" dirty="0"/>
              <a:t>Quick Sort</a:t>
            </a:r>
          </a:p>
        </p:txBody>
      </p:sp>
      <p:sp>
        <p:nvSpPr>
          <p:cNvPr id="3" name="Content Placeholder 2">
            <a:extLst>
              <a:ext uri="{FF2B5EF4-FFF2-40B4-BE49-F238E27FC236}">
                <a16:creationId xmlns:a16="http://schemas.microsoft.com/office/drawing/2014/main" id="{E2626B6A-2DAE-48D1-9806-D5A2D2DB5AA8}"/>
              </a:ext>
            </a:extLst>
          </p:cNvPr>
          <p:cNvSpPr>
            <a:spLocks noGrp="1"/>
          </p:cNvSpPr>
          <p:nvPr>
            <p:ph idx="1"/>
          </p:nvPr>
        </p:nvSpPr>
        <p:spPr/>
        <p:txBody>
          <a:bodyPr/>
          <a:lstStyle/>
          <a:p>
            <a:r>
              <a:rPr lang="en-US" b="1" dirty="0"/>
              <a:t>Divide:</a:t>
            </a:r>
            <a:r>
              <a:rPr lang="en-US" dirty="0"/>
              <a:t> In Divide, first pick a pivot element. </a:t>
            </a:r>
          </a:p>
          <a:p>
            <a:r>
              <a:rPr lang="en-US" dirty="0"/>
              <a:t>After that, partition or rearrange the array into two sub-arrays such that each element in the left sub-array is less than or equal to the pivot element and each element in the right sub-array is larger than the pivot element.</a:t>
            </a:r>
          </a:p>
          <a:p>
            <a:endParaRPr lang="en-US" dirty="0"/>
          </a:p>
          <a:p>
            <a:r>
              <a:rPr lang="en-US" b="1" dirty="0"/>
              <a:t>Conquer:</a:t>
            </a:r>
            <a:r>
              <a:rPr lang="en-US" dirty="0"/>
              <a:t> Recursively, sort two subarrays with Quicksort.</a:t>
            </a:r>
          </a:p>
          <a:p>
            <a:endParaRPr lang="en-US" dirty="0"/>
          </a:p>
          <a:p>
            <a:r>
              <a:rPr lang="en-US" b="1" dirty="0"/>
              <a:t>Combine:</a:t>
            </a:r>
            <a:r>
              <a:rPr lang="en-US" dirty="0"/>
              <a:t> Combine the already sorted array.</a:t>
            </a:r>
          </a:p>
        </p:txBody>
      </p:sp>
      <p:sp>
        <p:nvSpPr>
          <p:cNvPr id="4" name="Date Placeholder 3">
            <a:extLst>
              <a:ext uri="{FF2B5EF4-FFF2-40B4-BE49-F238E27FC236}">
                <a16:creationId xmlns:a16="http://schemas.microsoft.com/office/drawing/2014/main" id="{CC100FE1-2AFE-43BA-9598-237FD95637F8}"/>
              </a:ext>
            </a:extLst>
          </p:cNvPr>
          <p:cNvSpPr>
            <a:spLocks noGrp="1"/>
          </p:cNvSpPr>
          <p:nvPr>
            <p:ph type="dt" sz="half" idx="10"/>
          </p:nvPr>
        </p:nvSpPr>
        <p:spPr/>
        <p:txBody>
          <a:bodyPr/>
          <a:lstStyle/>
          <a:p>
            <a:fld id="{1F43648F-C10C-476D-BA4E-5D96890A4ABC}" type="datetime1">
              <a:rPr lang="en-US" smtClean="0"/>
              <a:t>16-Sep-2025</a:t>
            </a:fld>
            <a:endParaRPr lang="en-US"/>
          </a:p>
        </p:txBody>
      </p:sp>
      <p:sp>
        <p:nvSpPr>
          <p:cNvPr id="5" name="Slide Number Placeholder 4">
            <a:extLst>
              <a:ext uri="{FF2B5EF4-FFF2-40B4-BE49-F238E27FC236}">
                <a16:creationId xmlns:a16="http://schemas.microsoft.com/office/drawing/2014/main" id="{9B257726-8625-4901-9F68-E7A4A0AE02D0}"/>
              </a:ext>
            </a:extLst>
          </p:cNvPr>
          <p:cNvSpPr>
            <a:spLocks noGrp="1"/>
          </p:cNvSpPr>
          <p:nvPr>
            <p:ph type="sldNum" sz="quarter" idx="12"/>
          </p:nvPr>
        </p:nvSpPr>
        <p:spPr/>
        <p:txBody>
          <a:bodyPr/>
          <a:lstStyle/>
          <a:p>
            <a:fld id="{67D2A209-9856-462B-A010-2A2374E3EB4A}" type="slidenum">
              <a:rPr lang="en-US" smtClean="0"/>
              <a:pPr/>
              <a:t>9</a:t>
            </a:fld>
            <a:endParaRPr lang="en-US"/>
          </a:p>
        </p:txBody>
      </p:sp>
    </p:spTree>
    <p:extLst>
      <p:ext uri="{BB962C8B-B14F-4D97-AF65-F5344CB8AC3E}">
        <p14:creationId xmlns:p14="http://schemas.microsoft.com/office/powerpoint/2010/main" val="2493101585"/>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A62C394-933F-4552-8506-C1735FC537BA}"/>
              </a:ext>
            </a:extLst>
          </p:cNvPr>
          <p:cNvSpPr>
            <a:spLocks noGrp="1"/>
          </p:cNvSpPr>
          <p:nvPr>
            <p:ph type="title"/>
          </p:nvPr>
        </p:nvSpPr>
        <p:spPr/>
        <p:txBody>
          <a:bodyPr>
            <a:normAutofit fontScale="90000"/>
          </a:bodyPr>
          <a:lstStyle/>
          <a:p>
            <a:r>
              <a:rPr lang="en-US" dirty="0"/>
              <a:t>Quick Sort - Working</a:t>
            </a:r>
          </a:p>
        </p:txBody>
      </p:sp>
      <p:sp>
        <p:nvSpPr>
          <p:cNvPr id="3" name="Content Placeholder 2">
            <a:extLst>
              <a:ext uri="{FF2B5EF4-FFF2-40B4-BE49-F238E27FC236}">
                <a16:creationId xmlns:a16="http://schemas.microsoft.com/office/drawing/2014/main" id="{E2626B6A-2DAE-48D1-9806-D5A2D2DB5AA8}"/>
              </a:ext>
            </a:extLst>
          </p:cNvPr>
          <p:cNvSpPr>
            <a:spLocks noGrp="1"/>
          </p:cNvSpPr>
          <p:nvPr>
            <p:ph idx="1"/>
          </p:nvPr>
        </p:nvSpPr>
        <p:spPr/>
        <p:txBody>
          <a:bodyPr/>
          <a:lstStyle/>
          <a:p>
            <a:r>
              <a:rPr lang="en-US" dirty="0"/>
              <a:t>Quicksort picks an element as pivot, and then it partitions the given array around the picked pivot element. </a:t>
            </a:r>
          </a:p>
          <a:p>
            <a:r>
              <a:rPr lang="en-US" dirty="0"/>
              <a:t>In quick sort, a large array is divided into two arrays in which one holds values that are smaller than the specified value (Pivot), and another array holds the values that are greater than the pivot.</a:t>
            </a:r>
          </a:p>
          <a:p>
            <a:r>
              <a:rPr lang="en-US" dirty="0"/>
              <a:t>After that, left and right sub-arrays are also partitioned using the same approach. </a:t>
            </a:r>
          </a:p>
          <a:p>
            <a:r>
              <a:rPr lang="en-US" dirty="0"/>
              <a:t>It will continue until the single element remains in the sub-array.</a:t>
            </a:r>
          </a:p>
        </p:txBody>
      </p:sp>
      <p:sp>
        <p:nvSpPr>
          <p:cNvPr id="4" name="Date Placeholder 3">
            <a:extLst>
              <a:ext uri="{FF2B5EF4-FFF2-40B4-BE49-F238E27FC236}">
                <a16:creationId xmlns:a16="http://schemas.microsoft.com/office/drawing/2014/main" id="{CC100FE1-2AFE-43BA-9598-237FD95637F8}"/>
              </a:ext>
            </a:extLst>
          </p:cNvPr>
          <p:cNvSpPr>
            <a:spLocks noGrp="1"/>
          </p:cNvSpPr>
          <p:nvPr>
            <p:ph type="dt" sz="half" idx="10"/>
          </p:nvPr>
        </p:nvSpPr>
        <p:spPr/>
        <p:txBody>
          <a:bodyPr/>
          <a:lstStyle/>
          <a:p>
            <a:fld id="{1F43648F-C10C-476D-BA4E-5D96890A4ABC}" type="datetime1">
              <a:rPr lang="en-US" smtClean="0"/>
              <a:t>16-Sep-2025</a:t>
            </a:fld>
            <a:endParaRPr lang="en-US"/>
          </a:p>
        </p:txBody>
      </p:sp>
      <p:sp>
        <p:nvSpPr>
          <p:cNvPr id="5" name="Slide Number Placeholder 4">
            <a:extLst>
              <a:ext uri="{FF2B5EF4-FFF2-40B4-BE49-F238E27FC236}">
                <a16:creationId xmlns:a16="http://schemas.microsoft.com/office/drawing/2014/main" id="{9B257726-8625-4901-9F68-E7A4A0AE02D0}"/>
              </a:ext>
            </a:extLst>
          </p:cNvPr>
          <p:cNvSpPr>
            <a:spLocks noGrp="1"/>
          </p:cNvSpPr>
          <p:nvPr>
            <p:ph type="sldNum" sz="quarter" idx="12"/>
          </p:nvPr>
        </p:nvSpPr>
        <p:spPr/>
        <p:txBody>
          <a:bodyPr/>
          <a:lstStyle/>
          <a:p>
            <a:fld id="{67D2A209-9856-462B-A010-2A2374E3EB4A}" type="slidenum">
              <a:rPr lang="en-US" smtClean="0"/>
              <a:pPr/>
              <a:t>10</a:t>
            </a:fld>
            <a:endParaRPr lang="en-US"/>
          </a:p>
        </p:txBody>
      </p:sp>
    </p:spTree>
    <p:extLst>
      <p:ext uri="{BB962C8B-B14F-4D97-AF65-F5344CB8AC3E}">
        <p14:creationId xmlns:p14="http://schemas.microsoft.com/office/powerpoint/2010/main" val="1580633936"/>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A62C394-933F-4552-8506-C1735FC537BA}"/>
              </a:ext>
            </a:extLst>
          </p:cNvPr>
          <p:cNvSpPr>
            <a:spLocks noGrp="1"/>
          </p:cNvSpPr>
          <p:nvPr>
            <p:ph type="title"/>
          </p:nvPr>
        </p:nvSpPr>
        <p:spPr/>
        <p:txBody>
          <a:bodyPr>
            <a:normAutofit fontScale="90000"/>
          </a:bodyPr>
          <a:lstStyle/>
          <a:p>
            <a:r>
              <a:rPr lang="en-US" dirty="0"/>
              <a:t>Quick Sort - Working</a:t>
            </a:r>
          </a:p>
        </p:txBody>
      </p:sp>
      <p:sp>
        <p:nvSpPr>
          <p:cNvPr id="3" name="Content Placeholder 2">
            <a:extLst>
              <a:ext uri="{FF2B5EF4-FFF2-40B4-BE49-F238E27FC236}">
                <a16:creationId xmlns:a16="http://schemas.microsoft.com/office/drawing/2014/main" id="{E2626B6A-2DAE-48D1-9806-D5A2D2DB5AA8}"/>
              </a:ext>
            </a:extLst>
          </p:cNvPr>
          <p:cNvSpPr>
            <a:spLocks noGrp="1"/>
          </p:cNvSpPr>
          <p:nvPr>
            <p:ph idx="1"/>
          </p:nvPr>
        </p:nvSpPr>
        <p:spPr/>
        <p:txBody>
          <a:bodyPr/>
          <a:lstStyle/>
          <a:p>
            <a:endParaRPr lang="en-US" dirty="0"/>
          </a:p>
        </p:txBody>
      </p:sp>
      <p:sp>
        <p:nvSpPr>
          <p:cNvPr id="4" name="Date Placeholder 3">
            <a:extLst>
              <a:ext uri="{FF2B5EF4-FFF2-40B4-BE49-F238E27FC236}">
                <a16:creationId xmlns:a16="http://schemas.microsoft.com/office/drawing/2014/main" id="{CC100FE1-2AFE-43BA-9598-237FD95637F8}"/>
              </a:ext>
            </a:extLst>
          </p:cNvPr>
          <p:cNvSpPr>
            <a:spLocks noGrp="1"/>
          </p:cNvSpPr>
          <p:nvPr>
            <p:ph type="dt" sz="half" idx="10"/>
          </p:nvPr>
        </p:nvSpPr>
        <p:spPr/>
        <p:txBody>
          <a:bodyPr/>
          <a:lstStyle/>
          <a:p>
            <a:fld id="{1F43648F-C10C-476D-BA4E-5D96890A4ABC}" type="datetime1">
              <a:rPr lang="en-US" smtClean="0"/>
              <a:t>16-Sep-2025</a:t>
            </a:fld>
            <a:endParaRPr lang="en-US"/>
          </a:p>
        </p:txBody>
      </p:sp>
      <p:sp>
        <p:nvSpPr>
          <p:cNvPr id="5" name="Slide Number Placeholder 4">
            <a:extLst>
              <a:ext uri="{FF2B5EF4-FFF2-40B4-BE49-F238E27FC236}">
                <a16:creationId xmlns:a16="http://schemas.microsoft.com/office/drawing/2014/main" id="{9B257726-8625-4901-9F68-E7A4A0AE02D0}"/>
              </a:ext>
            </a:extLst>
          </p:cNvPr>
          <p:cNvSpPr>
            <a:spLocks noGrp="1"/>
          </p:cNvSpPr>
          <p:nvPr>
            <p:ph type="sldNum" sz="quarter" idx="12"/>
          </p:nvPr>
        </p:nvSpPr>
        <p:spPr/>
        <p:txBody>
          <a:bodyPr/>
          <a:lstStyle/>
          <a:p>
            <a:fld id="{67D2A209-9856-462B-A010-2A2374E3EB4A}" type="slidenum">
              <a:rPr lang="en-US" smtClean="0"/>
              <a:pPr/>
              <a:t>11</a:t>
            </a:fld>
            <a:endParaRPr lang="en-US"/>
          </a:p>
        </p:txBody>
      </p:sp>
      <p:pic>
        <p:nvPicPr>
          <p:cNvPr id="1026" name="Picture 2" descr="Quick Sort Algorithm">
            <a:extLst>
              <a:ext uri="{FF2B5EF4-FFF2-40B4-BE49-F238E27FC236}">
                <a16:creationId xmlns:a16="http://schemas.microsoft.com/office/drawing/2014/main" id="{7F142179-1FAD-4B56-8214-697BC64623D2}"/>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952625" y="2276475"/>
            <a:ext cx="5238750" cy="230505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939819124"/>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A62C394-933F-4552-8506-C1735FC537BA}"/>
              </a:ext>
            </a:extLst>
          </p:cNvPr>
          <p:cNvSpPr>
            <a:spLocks noGrp="1"/>
          </p:cNvSpPr>
          <p:nvPr>
            <p:ph type="title"/>
          </p:nvPr>
        </p:nvSpPr>
        <p:spPr/>
        <p:txBody>
          <a:bodyPr>
            <a:normAutofit fontScale="90000"/>
          </a:bodyPr>
          <a:lstStyle/>
          <a:p>
            <a:r>
              <a:rPr lang="en-US" dirty="0"/>
              <a:t>Quick Sort - Working</a:t>
            </a:r>
          </a:p>
        </p:txBody>
      </p:sp>
      <p:sp>
        <p:nvSpPr>
          <p:cNvPr id="3" name="Content Placeholder 2">
            <a:extLst>
              <a:ext uri="{FF2B5EF4-FFF2-40B4-BE49-F238E27FC236}">
                <a16:creationId xmlns:a16="http://schemas.microsoft.com/office/drawing/2014/main" id="{E2626B6A-2DAE-48D1-9806-D5A2D2DB5AA8}"/>
              </a:ext>
            </a:extLst>
          </p:cNvPr>
          <p:cNvSpPr>
            <a:spLocks noGrp="1"/>
          </p:cNvSpPr>
          <p:nvPr>
            <p:ph idx="1"/>
          </p:nvPr>
        </p:nvSpPr>
        <p:spPr/>
        <p:txBody>
          <a:bodyPr>
            <a:normAutofit/>
          </a:bodyPr>
          <a:lstStyle/>
          <a:p>
            <a:r>
              <a:rPr lang="en-US" sz="2400" dirty="0"/>
              <a:t>Choosing the pivot</a:t>
            </a:r>
          </a:p>
          <a:p>
            <a:r>
              <a:rPr lang="en-US" sz="2400" dirty="0"/>
              <a:t>Picking a good pivot is necessary for the fast implementation of quicksort. </a:t>
            </a:r>
          </a:p>
          <a:p>
            <a:r>
              <a:rPr lang="en-US" sz="2400" dirty="0"/>
              <a:t>However, it is typical to determine a good pivot. </a:t>
            </a:r>
          </a:p>
          <a:p>
            <a:r>
              <a:rPr lang="en-US" sz="2400" dirty="0"/>
              <a:t>Some of the ways of choosing a pivot are as follows:</a:t>
            </a:r>
          </a:p>
          <a:p>
            <a:pPr lvl="1"/>
            <a:r>
              <a:rPr lang="en-US" sz="2400" dirty="0"/>
              <a:t>Pivot can be random, i.e. select the random pivot from the given array.</a:t>
            </a:r>
          </a:p>
          <a:p>
            <a:pPr lvl="1"/>
            <a:r>
              <a:rPr lang="en-US" sz="2400" dirty="0"/>
              <a:t>Pivot can either be the rightmost element of the leftmost element of the given array.</a:t>
            </a:r>
          </a:p>
          <a:p>
            <a:pPr lvl="1"/>
            <a:r>
              <a:rPr lang="en-US" sz="2400" dirty="0"/>
              <a:t>Select median as the pivot element.</a:t>
            </a:r>
          </a:p>
          <a:p>
            <a:endParaRPr lang="en-US" sz="2400" dirty="0"/>
          </a:p>
        </p:txBody>
      </p:sp>
      <p:sp>
        <p:nvSpPr>
          <p:cNvPr id="4" name="Date Placeholder 3">
            <a:extLst>
              <a:ext uri="{FF2B5EF4-FFF2-40B4-BE49-F238E27FC236}">
                <a16:creationId xmlns:a16="http://schemas.microsoft.com/office/drawing/2014/main" id="{CC100FE1-2AFE-43BA-9598-237FD95637F8}"/>
              </a:ext>
            </a:extLst>
          </p:cNvPr>
          <p:cNvSpPr>
            <a:spLocks noGrp="1"/>
          </p:cNvSpPr>
          <p:nvPr>
            <p:ph type="dt" sz="half" idx="10"/>
          </p:nvPr>
        </p:nvSpPr>
        <p:spPr/>
        <p:txBody>
          <a:bodyPr/>
          <a:lstStyle/>
          <a:p>
            <a:fld id="{1F43648F-C10C-476D-BA4E-5D96890A4ABC}" type="datetime1">
              <a:rPr lang="en-US" smtClean="0"/>
              <a:t>16-Sep-2025</a:t>
            </a:fld>
            <a:endParaRPr lang="en-US"/>
          </a:p>
        </p:txBody>
      </p:sp>
      <p:sp>
        <p:nvSpPr>
          <p:cNvPr id="5" name="Slide Number Placeholder 4">
            <a:extLst>
              <a:ext uri="{FF2B5EF4-FFF2-40B4-BE49-F238E27FC236}">
                <a16:creationId xmlns:a16="http://schemas.microsoft.com/office/drawing/2014/main" id="{9B257726-8625-4901-9F68-E7A4A0AE02D0}"/>
              </a:ext>
            </a:extLst>
          </p:cNvPr>
          <p:cNvSpPr>
            <a:spLocks noGrp="1"/>
          </p:cNvSpPr>
          <p:nvPr>
            <p:ph type="sldNum" sz="quarter" idx="12"/>
          </p:nvPr>
        </p:nvSpPr>
        <p:spPr/>
        <p:txBody>
          <a:bodyPr/>
          <a:lstStyle/>
          <a:p>
            <a:fld id="{67D2A209-9856-462B-A010-2A2374E3EB4A}" type="slidenum">
              <a:rPr lang="en-US" smtClean="0"/>
              <a:pPr/>
              <a:t>12</a:t>
            </a:fld>
            <a:endParaRPr lang="en-US"/>
          </a:p>
        </p:txBody>
      </p:sp>
    </p:spTree>
    <p:extLst>
      <p:ext uri="{BB962C8B-B14F-4D97-AF65-F5344CB8AC3E}">
        <p14:creationId xmlns:p14="http://schemas.microsoft.com/office/powerpoint/2010/main" val="1088528463"/>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A62C394-933F-4552-8506-C1735FC537BA}"/>
              </a:ext>
            </a:extLst>
          </p:cNvPr>
          <p:cNvSpPr>
            <a:spLocks noGrp="1"/>
          </p:cNvSpPr>
          <p:nvPr>
            <p:ph type="title"/>
          </p:nvPr>
        </p:nvSpPr>
        <p:spPr/>
        <p:txBody>
          <a:bodyPr>
            <a:normAutofit fontScale="90000"/>
          </a:bodyPr>
          <a:lstStyle/>
          <a:p>
            <a:r>
              <a:rPr lang="en-US" dirty="0"/>
              <a:t>Quick Sort - Working</a:t>
            </a:r>
          </a:p>
        </p:txBody>
      </p:sp>
      <p:sp>
        <p:nvSpPr>
          <p:cNvPr id="3" name="Content Placeholder 2">
            <a:extLst>
              <a:ext uri="{FF2B5EF4-FFF2-40B4-BE49-F238E27FC236}">
                <a16:creationId xmlns:a16="http://schemas.microsoft.com/office/drawing/2014/main" id="{E2626B6A-2DAE-48D1-9806-D5A2D2DB5AA8}"/>
              </a:ext>
            </a:extLst>
          </p:cNvPr>
          <p:cNvSpPr>
            <a:spLocks noGrp="1"/>
          </p:cNvSpPr>
          <p:nvPr>
            <p:ph idx="1"/>
          </p:nvPr>
        </p:nvSpPr>
        <p:spPr>
          <a:xfrm>
            <a:off x="0" y="685800"/>
            <a:ext cx="9144000" cy="5440363"/>
          </a:xfrm>
        </p:spPr>
        <p:txBody>
          <a:bodyPr/>
          <a:lstStyle/>
          <a:p>
            <a:r>
              <a:rPr lang="en-US" sz="2400" dirty="0"/>
              <a:t>Let the elements of array are:</a:t>
            </a:r>
          </a:p>
          <a:p>
            <a:endParaRPr lang="en-US" dirty="0"/>
          </a:p>
          <a:p>
            <a:endParaRPr lang="en-US" dirty="0"/>
          </a:p>
          <a:p>
            <a:r>
              <a:rPr lang="en-US" sz="2400" dirty="0"/>
              <a:t>In the given array, we consider the leftmost element as pivot. So, in this case, a[left] = 24, a[right] = 27 and a[pivot] = 24.</a:t>
            </a:r>
          </a:p>
          <a:p>
            <a:endParaRPr lang="en-US" sz="2400" dirty="0"/>
          </a:p>
          <a:p>
            <a:r>
              <a:rPr lang="en-US" sz="2400" dirty="0"/>
              <a:t>Since, pivot is at left, so algorithm starts from right and move towards left.</a:t>
            </a:r>
          </a:p>
          <a:p>
            <a:endParaRPr lang="en-US" dirty="0"/>
          </a:p>
        </p:txBody>
      </p:sp>
      <p:sp>
        <p:nvSpPr>
          <p:cNvPr id="4" name="Date Placeholder 3">
            <a:extLst>
              <a:ext uri="{FF2B5EF4-FFF2-40B4-BE49-F238E27FC236}">
                <a16:creationId xmlns:a16="http://schemas.microsoft.com/office/drawing/2014/main" id="{CC100FE1-2AFE-43BA-9598-237FD95637F8}"/>
              </a:ext>
            </a:extLst>
          </p:cNvPr>
          <p:cNvSpPr>
            <a:spLocks noGrp="1"/>
          </p:cNvSpPr>
          <p:nvPr>
            <p:ph type="dt" sz="half" idx="10"/>
          </p:nvPr>
        </p:nvSpPr>
        <p:spPr/>
        <p:txBody>
          <a:bodyPr/>
          <a:lstStyle/>
          <a:p>
            <a:fld id="{1F43648F-C10C-476D-BA4E-5D96890A4ABC}" type="datetime1">
              <a:rPr lang="en-US" smtClean="0"/>
              <a:t>16-Sep-2025</a:t>
            </a:fld>
            <a:endParaRPr lang="en-US"/>
          </a:p>
        </p:txBody>
      </p:sp>
      <p:sp>
        <p:nvSpPr>
          <p:cNvPr id="5" name="Slide Number Placeholder 4">
            <a:extLst>
              <a:ext uri="{FF2B5EF4-FFF2-40B4-BE49-F238E27FC236}">
                <a16:creationId xmlns:a16="http://schemas.microsoft.com/office/drawing/2014/main" id="{9B257726-8625-4901-9F68-E7A4A0AE02D0}"/>
              </a:ext>
            </a:extLst>
          </p:cNvPr>
          <p:cNvSpPr>
            <a:spLocks noGrp="1"/>
          </p:cNvSpPr>
          <p:nvPr>
            <p:ph type="sldNum" sz="quarter" idx="12"/>
          </p:nvPr>
        </p:nvSpPr>
        <p:spPr/>
        <p:txBody>
          <a:bodyPr/>
          <a:lstStyle/>
          <a:p>
            <a:fld id="{67D2A209-9856-462B-A010-2A2374E3EB4A}" type="slidenum">
              <a:rPr lang="en-US" smtClean="0"/>
              <a:pPr/>
              <a:t>13</a:t>
            </a:fld>
            <a:endParaRPr lang="en-US"/>
          </a:p>
        </p:txBody>
      </p:sp>
      <p:pic>
        <p:nvPicPr>
          <p:cNvPr id="2052" name="Picture 4" descr="Quick Sort Algorithm">
            <a:extLst>
              <a:ext uri="{FF2B5EF4-FFF2-40B4-BE49-F238E27FC236}">
                <a16:creationId xmlns:a16="http://schemas.microsoft.com/office/drawing/2014/main" id="{435B07A6-B3D5-4475-9CD3-86A052852BF9}"/>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428875" y="1381125"/>
            <a:ext cx="4286250" cy="790575"/>
          </a:xfrm>
          <a:prstGeom prst="rect">
            <a:avLst/>
          </a:prstGeom>
          <a:noFill/>
          <a:extLst>
            <a:ext uri="{909E8E84-426E-40DD-AFC4-6F175D3DCCD1}">
              <a14:hiddenFill xmlns:a14="http://schemas.microsoft.com/office/drawing/2010/main">
                <a:solidFill>
                  <a:srgbClr val="FFFFFF"/>
                </a:solidFill>
              </a14:hiddenFill>
            </a:ext>
          </a:extLst>
        </p:spPr>
      </p:pic>
      <p:pic>
        <p:nvPicPr>
          <p:cNvPr id="2056" name="Picture 8" descr="Quick Sort Algorithm">
            <a:extLst>
              <a:ext uri="{FF2B5EF4-FFF2-40B4-BE49-F238E27FC236}">
                <a16:creationId xmlns:a16="http://schemas.microsoft.com/office/drawing/2014/main" id="{EAAB2703-FB92-4CB3-8541-274D15D6DCFC}"/>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667000" y="4495800"/>
            <a:ext cx="3810000" cy="1990725"/>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869510667"/>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F198E7B-E60E-498C-9E9F-5687AF78D181}"/>
              </a:ext>
            </a:extLst>
          </p:cNvPr>
          <p:cNvSpPr>
            <a:spLocks noGrp="1"/>
          </p:cNvSpPr>
          <p:nvPr>
            <p:ph type="title"/>
          </p:nvPr>
        </p:nvSpPr>
        <p:spPr>
          <a:xfrm>
            <a:off x="0" y="10884"/>
            <a:ext cx="9144000" cy="530352"/>
          </a:xfrm>
        </p:spPr>
        <p:txBody>
          <a:bodyPr>
            <a:normAutofit fontScale="90000"/>
          </a:bodyPr>
          <a:lstStyle/>
          <a:p>
            <a:r>
              <a:rPr lang="en-US" dirty="0"/>
              <a:t>Quick Sort - Working</a:t>
            </a:r>
          </a:p>
        </p:txBody>
      </p:sp>
      <p:sp>
        <p:nvSpPr>
          <p:cNvPr id="3" name="Content Placeholder 2">
            <a:extLst>
              <a:ext uri="{FF2B5EF4-FFF2-40B4-BE49-F238E27FC236}">
                <a16:creationId xmlns:a16="http://schemas.microsoft.com/office/drawing/2014/main" id="{861A66BF-EE40-4172-96B9-5F808ABBAD5F}"/>
              </a:ext>
            </a:extLst>
          </p:cNvPr>
          <p:cNvSpPr>
            <a:spLocks noGrp="1"/>
          </p:cNvSpPr>
          <p:nvPr>
            <p:ph idx="1"/>
          </p:nvPr>
        </p:nvSpPr>
        <p:spPr>
          <a:xfrm>
            <a:off x="0" y="685800"/>
            <a:ext cx="9144000" cy="6035675"/>
          </a:xfrm>
        </p:spPr>
        <p:txBody>
          <a:bodyPr/>
          <a:lstStyle/>
          <a:p>
            <a:r>
              <a:rPr lang="en-US" sz="2400" dirty="0"/>
              <a:t>Now, a[pivot] &lt; a[right], so the algorithm moves forward one position towards left, i.e.</a:t>
            </a:r>
          </a:p>
          <a:p>
            <a:endParaRPr lang="en-US" dirty="0"/>
          </a:p>
          <a:p>
            <a:endParaRPr lang="en-US" dirty="0"/>
          </a:p>
          <a:p>
            <a:endParaRPr lang="en-US" dirty="0"/>
          </a:p>
          <a:p>
            <a:endParaRPr lang="en-US" dirty="0"/>
          </a:p>
          <a:p>
            <a:r>
              <a:rPr lang="en-US" sz="2400" dirty="0"/>
              <a:t>Now, a[left] = 24, a[right] = 19, and a[pivot] = 24.</a:t>
            </a:r>
          </a:p>
          <a:p>
            <a:r>
              <a:rPr lang="en-US" sz="2400" dirty="0"/>
              <a:t>Because, a[pivot] &gt; a[right], so, algorithm will swap a[pivot] with a[right], and pivot moves to right, as:</a:t>
            </a:r>
          </a:p>
          <a:p>
            <a:endParaRPr lang="en-US" dirty="0"/>
          </a:p>
          <a:p>
            <a:endParaRPr lang="en-US" dirty="0"/>
          </a:p>
          <a:p>
            <a:endParaRPr lang="en-US" dirty="0"/>
          </a:p>
          <a:p>
            <a:endParaRPr lang="en-US" dirty="0"/>
          </a:p>
        </p:txBody>
      </p:sp>
      <p:sp>
        <p:nvSpPr>
          <p:cNvPr id="4" name="Date Placeholder 3">
            <a:extLst>
              <a:ext uri="{FF2B5EF4-FFF2-40B4-BE49-F238E27FC236}">
                <a16:creationId xmlns:a16="http://schemas.microsoft.com/office/drawing/2014/main" id="{EAC4E2EB-5DC9-4A85-A707-F09E0162DD85}"/>
              </a:ext>
            </a:extLst>
          </p:cNvPr>
          <p:cNvSpPr>
            <a:spLocks noGrp="1"/>
          </p:cNvSpPr>
          <p:nvPr>
            <p:ph type="dt" sz="half" idx="10"/>
          </p:nvPr>
        </p:nvSpPr>
        <p:spPr>
          <a:xfrm>
            <a:off x="457200" y="6356350"/>
            <a:ext cx="2133600" cy="365125"/>
          </a:xfrm>
        </p:spPr>
        <p:txBody>
          <a:bodyPr/>
          <a:lstStyle/>
          <a:p>
            <a:fld id="{1F43648F-C10C-476D-BA4E-5D96890A4ABC}" type="datetime1">
              <a:rPr lang="en-US" smtClean="0"/>
              <a:t>16-Sep-2025</a:t>
            </a:fld>
            <a:endParaRPr lang="en-US"/>
          </a:p>
        </p:txBody>
      </p:sp>
      <p:sp>
        <p:nvSpPr>
          <p:cNvPr id="5" name="Slide Number Placeholder 4">
            <a:extLst>
              <a:ext uri="{FF2B5EF4-FFF2-40B4-BE49-F238E27FC236}">
                <a16:creationId xmlns:a16="http://schemas.microsoft.com/office/drawing/2014/main" id="{08005B08-ACCF-40FF-AFF5-1EADB401F63E}"/>
              </a:ext>
            </a:extLst>
          </p:cNvPr>
          <p:cNvSpPr>
            <a:spLocks noGrp="1"/>
          </p:cNvSpPr>
          <p:nvPr>
            <p:ph type="sldNum" sz="quarter" idx="12"/>
          </p:nvPr>
        </p:nvSpPr>
        <p:spPr>
          <a:xfrm>
            <a:off x="8001000" y="6324600"/>
            <a:ext cx="685800" cy="396875"/>
          </a:xfrm>
        </p:spPr>
        <p:txBody>
          <a:bodyPr/>
          <a:lstStyle/>
          <a:p>
            <a:fld id="{67D2A209-9856-462B-A010-2A2374E3EB4A}" type="slidenum">
              <a:rPr lang="en-US" smtClean="0"/>
              <a:pPr/>
              <a:t>14</a:t>
            </a:fld>
            <a:endParaRPr lang="en-US"/>
          </a:p>
        </p:txBody>
      </p:sp>
      <p:pic>
        <p:nvPicPr>
          <p:cNvPr id="3074" name="Picture 2" descr="Quick Sort Algorithm">
            <a:extLst>
              <a:ext uri="{FF2B5EF4-FFF2-40B4-BE49-F238E27FC236}">
                <a16:creationId xmlns:a16="http://schemas.microsoft.com/office/drawing/2014/main" id="{3F624399-7FCF-4E91-B185-843359DC1D04}"/>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667000" y="1609725"/>
            <a:ext cx="3810000" cy="1990725"/>
          </a:xfrm>
          <a:prstGeom prst="rect">
            <a:avLst/>
          </a:prstGeom>
          <a:noFill/>
          <a:extLst>
            <a:ext uri="{909E8E84-426E-40DD-AFC4-6F175D3DCCD1}">
              <a14:hiddenFill xmlns:a14="http://schemas.microsoft.com/office/drawing/2010/main">
                <a:solidFill>
                  <a:srgbClr val="FFFFFF"/>
                </a:solidFill>
              </a14:hiddenFill>
            </a:ext>
          </a:extLst>
        </p:spPr>
      </p:pic>
      <p:pic>
        <p:nvPicPr>
          <p:cNvPr id="3076" name="Picture 4" descr="Quick Sort Algorithm">
            <a:extLst>
              <a:ext uri="{FF2B5EF4-FFF2-40B4-BE49-F238E27FC236}">
                <a16:creationId xmlns:a16="http://schemas.microsoft.com/office/drawing/2014/main" id="{41DC92D7-E5FC-4A9F-B90D-A662E523DB73}"/>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571750" y="4762500"/>
            <a:ext cx="4000500" cy="209550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846590210"/>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83E0669-910E-4856-9570-A9C648B759D8}"/>
              </a:ext>
            </a:extLst>
          </p:cNvPr>
          <p:cNvSpPr>
            <a:spLocks noGrp="1"/>
          </p:cNvSpPr>
          <p:nvPr>
            <p:ph type="title"/>
          </p:nvPr>
        </p:nvSpPr>
        <p:spPr/>
        <p:txBody>
          <a:bodyPr>
            <a:normAutofit fontScale="90000"/>
          </a:bodyPr>
          <a:lstStyle/>
          <a:p>
            <a:r>
              <a:rPr lang="en-US" dirty="0"/>
              <a:t>Quick Sort - Working</a:t>
            </a:r>
          </a:p>
        </p:txBody>
      </p:sp>
      <p:sp>
        <p:nvSpPr>
          <p:cNvPr id="3" name="Content Placeholder 2">
            <a:extLst>
              <a:ext uri="{FF2B5EF4-FFF2-40B4-BE49-F238E27FC236}">
                <a16:creationId xmlns:a16="http://schemas.microsoft.com/office/drawing/2014/main" id="{64B55495-395C-45F9-A7AC-1AAB83A82EC2}"/>
              </a:ext>
            </a:extLst>
          </p:cNvPr>
          <p:cNvSpPr>
            <a:spLocks noGrp="1"/>
          </p:cNvSpPr>
          <p:nvPr>
            <p:ph idx="1"/>
          </p:nvPr>
        </p:nvSpPr>
        <p:spPr/>
        <p:txBody>
          <a:bodyPr>
            <a:normAutofit/>
          </a:bodyPr>
          <a:lstStyle/>
          <a:p>
            <a:r>
              <a:rPr lang="en-US" sz="2400" dirty="0"/>
              <a:t>Now, a[left] = 19, a[right] = 24, and a[pivot] = 24. Since, pivot is at right, so algorithm starts from left and moves to right.</a:t>
            </a:r>
          </a:p>
          <a:p>
            <a:r>
              <a:rPr lang="en-US" sz="2400" dirty="0"/>
              <a:t>As a[pivot] &gt; a[left], so algorithm moves one position to right as:</a:t>
            </a:r>
          </a:p>
          <a:p>
            <a:endParaRPr lang="en-US" sz="2400" dirty="0"/>
          </a:p>
          <a:p>
            <a:endParaRPr lang="en-US" sz="2400" dirty="0"/>
          </a:p>
          <a:p>
            <a:endParaRPr lang="en-US" sz="2400" dirty="0"/>
          </a:p>
          <a:p>
            <a:endParaRPr lang="en-US" sz="2400" dirty="0"/>
          </a:p>
          <a:p>
            <a:endParaRPr lang="en-US" sz="800" dirty="0"/>
          </a:p>
          <a:p>
            <a:r>
              <a:rPr lang="en-US" sz="2400" dirty="0"/>
              <a:t>Now, a[left] = 9, a[right] = 24, and a[pivot] = 24. As a[pivot] &gt; a[left], so algorithm moves one position to right as:</a:t>
            </a:r>
          </a:p>
        </p:txBody>
      </p:sp>
      <p:sp>
        <p:nvSpPr>
          <p:cNvPr id="4" name="Date Placeholder 3">
            <a:extLst>
              <a:ext uri="{FF2B5EF4-FFF2-40B4-BE49-F238E27FC236}">
                <a16:creationId xmlns:a16="http://schemas.microsoft.com/office/drawing/2014/main" id="{2B83592A-C3CD-40DB-8589-6CAAFE5DA1FB}"/>
              </a:ext>
            </a:extLst>
          </p:cNvPr>
          <p:cNvSpPr>
            <a:spLocks noGrp="1"/>
          </p:cNvSpPr>
          <p:nvPr>
            <p:ph type="dt" sz="half" idx="10"/>
          </p:nvPr>
        </p:nvSpPr>
        <p:spPr>
          <a:xfrm>
            <a:off x="457200" y="8728075"/>
            <a:ext cx="2133600" cy="365125"/>
          </a:xfrm>
        </p:spPr>
        <p:txBody>
          <a:bodyPr/>
          <a:lstStyle/>
          <a:p>
            <a:fld id="{1F43648F-C10C-476D-BA4E-5D96890A4ABC}" type="datetime1">
              <a:rPr lang="en-US" smtClean="0"/>
              <a:t>16-Sep-2025</a:t>
            </a:fld>
            <a:endParaRPr lang="en-US"/>
          </a:p>
        </p:txBody>
      </p:sp>
      <p:sp>
        <p:nvSpPr>
          <p:cNvPr id="5" name="Slide Number Placeholder 4">
            <a:extLst>
              <a:ext uri="{FF2B5EF4-FFF2-40B4-BE49-F238E27FC236}">
                <a16:creationId xmlns:a16="http://schemas.microsoft.com/office/drawing/2014/main" id="{E8ABAF92-D982-45B0-BD75-006453085A18}"/>
              </a:ext>
            </a:extLst>
          </p:cNvPr>
          <p:cNvSpPr>
            <a:spLocks noGrp="1"/>
          </p:cNvSpPr>
          <p:nvPr>
            <p:ph type="sldNum" sz="quarter" idx="12"/>
          </p:nvPr>
        </p:nvSpPr>
        <p:spPr/>
        <p:txBody>
          <a:bodyPr/>
          <a:lstStyle/>
          <a:p>
            <a:fld id="{67D2A209-9856-462B-A010-2A2374E3EB4A}" type="slidenum">
              <a:rPr lang="en-US" smtClean="0"/>
              <a:pPr/>
              <a:t>15</a:t>
            </a:fld>
            <a:endParaRPr lang="en-US"/>
          </a:p>
        </p:txBody>
      </p:sp>
      <p:pic>
        <p:nvPicPr>
          <p:cNvPr id="1026" name="Picture 2" descr="Quick Sort Algorithm">
            <a:extLst>
              <a:ext uri="{FF2B5EF4-FFF2-40B4-BE49-F238E27FC236}">
                <a16:creationId xmlns:a16="http://schemas.microsoft.com/office/drawing/2014/main" id="{F325EA42-087C-4E46-B212-09B2A2C25BEB}"/>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571750" y="1828800"/>
            <a:ext cx="4000500" cy="2095500"/>
          </a:xfrm>
          <a:prstGeom prst="rect">
            <a:avLst/>
          </a:prstGeom>
          <a:noFill/>
          <a:extLst>
            <a:ext uri="{909E8E84-426E-40DD-AFC4-6F175D3DCCD1}">
              <a14:hiddenFill xmlns:a14="http://schemas.microsoft.com/office/drawing/2010/main">
                <a:solidFill>
                  <a:srgbClr val="FFFFFF"/>
                </a:solidFill>
              </a14:hiddenFill>
            </a:ext>
          </a:extLst>
        </p:spPr>
      </p:pic>
      <p:pic>
        <p:nvPicPr>
          <p:cNvPr id="1028" name="Picture 4" descr="Quick Sort Algorithm">
            <a:extLst>
              <a:ext uri="{FF2B5EF4-FFF2-40B4-BE49-F238E27FC236}">
                <a16:creationId xmlns:a16="http://schemas.microsoft.com/office/drawing/2014/main" id="{26C1823E-0662-46E6-91B0-5A1D1DB8B721}"/>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571750" y="4752975"/>
            <a:ext cx="4000500" cy="209550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268041024"/>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83E0669-910E-4856-9570-A9C648B759D8}"/>
              </a:ext>
            </a:extLst>
          </p:cNvPr>
          <p:cNvSpPr>
            <a:spLocks noGrp="1"/>
          </p:cNvSpPr>
          <p:nvPr>
            <p:ph type="title"/>
          </p:nvPr>
        </p:nvSpPr>
        <p:spPr/>
        <p:txBody>
          <a:bodyPr>
            <a:normAutofit fontScale="90000"/>
          </a:bodyPr>
          <a:lstStyle/>
          <a:p>
            <a:r>
              <a:rPr lang="en-US" dirty="0"/>
              <a:t>Quick Sort - Working</a:t>
            </a:r>
          </a:p>
        </p:txBody>
      </p:sp>
      <p:sp>
        <p:nvSpPr>
          <p:cNvPr id="3" name="Content Placeholder 2">
            <a:extLst>
              <a:ext uri="{FF2B5EF4-FFF2-40B4-BE49-F238E27FC236}">
                <a16:creationId xmlns:a16="http://schemas.microsoft.com/office/drawing/2014/main" id="{64B55495-395C-45F9-A7AC-1AAB83A82EC2}"/>
              </a:ext>
            </a:extLst>
          </p:cNvPr>
          <p:cNvSpPr>
            <a:spLocks noGrp="1"/>
          </p:cNvSpPr>
          <p:nvPr>
            <p:ph idx="1"/>
          </p:nvPr>
        </p:nvSpPr>
        <p:spPr/>
        <p:txBody>
          <a:bodyPr>
            <a:normAutofit/>
          </a:bodyPr>
          <a:lstStyle/>
          <a:p>
            <a:r>
              <a:rPr lang="en-US" sz="2400" dirty="0"/>
              <a:t>Now, a[left] = 29, a[right] = 24, and a[pivot] = 24. As a[pivot] &lt; a[left], so, swap a[pivot] and a[left], now pivot is at left, </a:t>
            </a:r>
            <a:r>
              <a:rPr lang="en-US" sz="2400" dirty="0" err="1"/>
              <a:t>i.e</a:t>
            </a:r>
            <a:r>
              <a:rPr lang="en-US" sz="2400" dirty="0"/>
              <a:t>:</a:t>
            </a:r>
          </a:p>
          <a:p>
            <a:endParaRPr lang="en-US" sz="2400" dirty="0"/>
          </a:p>
          <a:p>
            <a:endParaRPr lang="en-US" sz="2400" dirty="0"/>
          </a:p>
          <a:p>
            <a:endParaRPr lang="en-US" sz="2400" dirty="0"/>
          </a:p>
          <a:p>
            <a:endParaRPr lang="en-US" sz="2400" dirty="0"/>
          </a:p>
          <a:p>
            <a:r>
              <a:rPr lang="en-US" sz="2400" dirty="0"/>
              <a:t>Since, pivot is at left, so algorithm starts from right, and move to left. Now, a[left] = 24, a[right] = 29, and a[pivot] = 24. As a[pivot] &lt; a[right], so algorithm moves one position to left, as</a:t>
            </a:r>
            <a:r>
              <a:rPr lang="en-US" dirty="0"/>
              <a:t>:</a:t>
            </a:r>
            <a:endParaRPr lang="en-US" sz="2400" dirty="0"/>
          </a:p>
          <a:p>
            <a:endParaRPr lang="en-US" sz="2400" dirty="0"/>
          </a:p>
          <a:p>
            <a:endParaRPr lang="en-US" sz="2400" dirty="0"/>
          </a:p>
          <a:p>
            <a:endParaRPr lang="en-US" sz="2400" dirty="0"/>
          </a:p>
          <a:p>
            <a:endParaRPr lang="en-US" sz="800" dirty="0"/>
          </a:p>
        </p:txBody>
      </p:sp>
      <p:sp>
        <p:nvSpPr>
          <p:cNvPr id="4" name="Date Placeholder 3">
            <a:extLst>
              <a:ext uri="{FF2B5EF4-FFF2-40B4-BE49-F238E27FC236}">
                <a16:creationId xmlns:a16="http://schemas.microsoft.com/office/drawing/2014/main" id="{2B83592A-C3CD-40DB-8589-6CAAFE5DA1FB}"/>
              </a:ext>
            </a:extLst>
          </p:cNvPr>
          <p:cNvSpPr>
            <a:spLocks noGrp="1"/>
          </p:cNvSpPr>
          <p:nvPr>
            <p:ph type="dt" sz="half" idx="10"/>
          </p:nvPr>
        </p:nvSpPr>
        <p:spPr>
          <a:xfrm>
            <a:off x="457200" y="8728075"/>
            <a:ext cx="2133600" cy="365125"/>
          </a:xfrm>
        </p:spPr>
        <p:txBody>
          <a:bodyPr/>
          <a:lstStyle/>
          <a:p>
            <a:fld id="{1F43648F-C10C-476D-BA4E-5D96890A4ABC}" type="datetime1">
              <a:rPr lang="en-US" smtClean="0"/>
              <a:t>16-Sep-2025</a:t>
            </a:fld>
            <a:endParaRPr lang="en-US"/>
          </a:p>
        </p:txBody>
      </p:sp>
      <p:sp>
        <p:nvSpPr>
          <p:cNvPr id="5" name="Slide Number Placeholder 4">
            <a:extLst>
              <a:ext uri="{FF2B5EF4-FFF2-40B4-BE49-F238E27FC236}">
                <a16:creationId xmlns:a16="http://schemas.microsoft.com/office/drawing/2014/main" id="{E8ABAF92-D982-45B0-BD75-006453085A18}"/>
              </a:ext>
            </a:extLst>
          </p:cNvPr>
          <p:cNvSpPr>
            <a:spLocks noGrp="1"/>
          </p:cNvSpPr>
          <p:nvPr>
            <p:ph type="sldNum" sz="quarter" idx="12"/>
          </p:nvPr>
        </p:nvSpPr>
        <p:spPr/>
        <p:txBody>
          <a:bodyPr/>
          <a:lstStyle/>
          <a:p>
            <a:fld id="{67D2A209-9856-462B-A010-2A2374E3EB4A}" type="slidenum">
              <a:rPr lang="en-US" smtClean="0"/>
              <a:pPr/>
              <a:t>16</a:t>
            </a:fld>
            <a:endParaRPr lang="en-US"/>
          </a:p>
        </p:txBody>
      </p:sp>
      <p:pic>
        <p:nvPicPr>
          <p:cNvPr id="2050" name="Picture 2" descr="Quick Sort Algorithm">
            <a:extLst>
              <a:ext uri="{FF2B5EF4-FFF2-40B4-BE49-F238E27FC236}">
                <a16:creationId xmlns:a16="http://schemas.microsoft.com/office/drawing/2014/main" id="{59A2999D-5C21-4F78-8BE9-0EAB9B931256}"/>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571750" y="1371600"/>
            <a:ext cx="4000500" cy="2095500"/>
          </a:xfrm>
          <a:prstGeom prst="rect">
            <a:avLst/>
          </a:prstGeom>
          <a:noFill/>
          <a:extLst>
            <a:ext uri="{909E8E84-426E-40DD-AFC4-6F175D3DCCD1}">
              <a14:hiddenFill xmlns:a14="http://schemas.microsoft.com/office/drawing/2010/main">
                <a:solidFill>
                  <a:srgbClr val="FFFFFF"/>
                </a:solidFill>
              </a14:hiddenFill>
            </a:ext>
          </a:extLst>
        </p:spPr>
      </p:pic>
      <p:pic>
        <p:nvPicPr>
          <p:cNvPr id="2052" name="Picture 4" descr="Quick Sort Algorithm">
            <a:extLst>
              <a:ext uri="{FF2B5EF4-FFF2-40B4-BE49-F238E27FC236}">
                <a16:creationId xmlns:a16="http://schemas.microsoft.com/office/drawing/2014/main" id="{CC86A6EB-7EBA-40C8-A0EE-6C21CF9F9249}"/>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571750" y="4429125"/>
            <a:ext cx="4000500" cy="209550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083247692"/>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83E0669-910E-4856-9570-A9C648B759D8}"/>
              </a:ext>
            </a:extLst>
          </p:cNvPr>
          <p:cNvSpPr>
            <a:spLocks noGrp="1"/>
          </p:cNvSpPr>
          <p:nvPr>
            <p:ph type="title"/>
          </p:nvPr>
        </p:nvSpPr>
        <p:spPr/>
        <p:txBody>
          <a:bodyPr>
            <a:normAutofit fontScale="90000"/>
          </a:bodyPr>
          <a:lstStyle/>
          <a:p>
            <a:r>
              <a:rPr lang="en-US" dirty="0"/>
              <a:t>Quick Sort - Working</a:t>
            </a:r>
          </a:p>
        </p:txBody>
      </p:sp>
      <p:sp>
        <p:nvSpPr>
          <p:cNvPr id="3" name="Content Placeholder 2">
            <a:extLst>
              <a:ext uri="{FF2B5EF4-FFF2-40B4-BE49-F238E27FC236}">
                <a16:creationId xmlns:a16="http://schemas.microsoft.com/office/drawing/2014/main" id="{64B55495-395C-45F9-A7AC-1AAB83A82EC2}"/>
              </a:ext>
            </a:extLst>
          </p:cNvPr>
          <p:cNvSpPr>
            <a:spLocks noGrp="1"/>
          </p:cNvSpPr>
          <p:nvPr>
            <p:ph idx="1"/>
          </p:nvPr>
        </p:nvSpPr>
        <p:spPr/>
        <p:txBody>
          <a:bodyPr>
            <a:normAutofit/>
          </a:bodyPr>
          <a:lstStyle/>
          <a:p>
            <a:r>
              <a:rPr lang="en-US" sz="2400" dirty="0"/>
              <a:t>Now, a[pivot] = 24, a[left] = 24, and a[right] = 14. As a[pivot] &gt; a[right], so, swap a[pivot] and a[right], now pivot is at right, i.e.</a:t>
            </a:r>
          </a:p>
          <a:p>
            <a:endParaRPr lang="en-US" sz="2400" dirty="0"/>
          </a:p>
          <a:p>
            <a:endParaRPr lang="en-US" sz="2400" dirty="0"/>
          </a:p>
          <a:p>
            <a:endParaRPr lang="en-US" sz="2400" dirty="0"/>
          </a:p>
          <a:p>
            <a:endParaRPr lang="en-US" sz="800" dirty="0"/>
          </a:p>
          <a:p>
            <a:endParaRPr lang="en-US" sz="2400" dirty="0"/>
          </a:p>
          <a:p>
            <a:r>
              <a:rPr lang="en-US" sz="2400" dirty="0"/>
              <a:t>Now, a[pivot] = 24, a[left] = 14, and a[right] = 24. Pivot is at right, so the algorithm starts from left and move to right.</a:t>
            </a:r>
          </a:p>
        </p:txBody>
      </p:sp>
      <p:sp>
        <p:nvSpPr>
          <p:cNvPr id="4" name="Date Placeholder 3">
            <a:extLst>
              <a:ext uri="{FF2B5EF4-FFF2-40B4-BE49-F238E27FC236}">
                <a16:creationId xmlns:a16="http://schemas.microsoft.com/office/drawing/2014/main" id="{2B83592A-C3CD-40DB-8589-6CAAFE5DA1FB}"/>
              </a:ext>
            </a:extLst>
          </p:cNvPr>
          <p:cNvSpPr>
            <a:spLocks noGrp="1"/>
          </p:cNvSpPr>
          <p:nvPr>
            <p:ph type="dt" sz="half" idx="10"/>
          </p:nvPr>
        </p:nvSpPr>
        <p:spPr>
          <a:xfrm>
            <a:off x="457200" y="8728075"/>
            <a:ext cx="2133600" cy="365125"/>
          </a:xfrm>
        </p:spPr>
        <p:txBody>
          <a:bodyPr/>
          <a:lstStyle/>
          <a:p>
            <a:fld id="{1F43648F-C10C-476D-BA4E-5D96890A4ABC}" type="datetime1">
              <a:rPr lang="en-US" smtClean="0"/>
              <a:t>16-Sep-2025</a:t>
            </a:fld>
            <a:endParaRPr lang="en-US"/>
          </a:p>
        </p:txBody>
      </p:sp>
      <p:sp>
        <p:nvSpPr>
          <p:cNvPr id="5" name="Slide Number Placeholder 4">
            <a:extLst>
              <a:ext uri="{FF2B5EF4-FFF2-40B4-BE49-F238E27FC236}">
                <a16:creationId xmlns:a16="http://schemas.microsoft.com/office/drawing/2014/main" id="{E8ABAF92-D982-45B0-BD75-006453085A18}"/>
              </a:ext>
            </a:extLst>
          </p:cNvPr>
          <p:cNvSpPr>
            <a:spLocks noGrp="1"/>
          </p:cNvSpPr>
          <p:nvPr>
            <p:ph type="sldNum" sz="quarter" idx="12"/>
          </p:nvPr>
        </p:nvSpPr>
        <p:spPr/>
        <p:txBody>
          <a:bodyPr/>
          <a:lstStyle/>
          <a:p>
            <a:fld id="{67D2A209-9856-462B-A010-2A2374E3EB4A}" type="slidenum">
              <a:rPr lang="en-US" smtClean="0"/>
              <a:pPr/>
              <a:t>17</a:t>
            </a:fld>
            <a:endParaRPr lang="en-US"/>
          </a:p>
        </p:txBody>
      </p:sp>
      <p:pic>
        <p:nvPicPr>
          <p:cNvPr id="3074" name="Picture 2" descr="Quick Sort Algorithm">
            <a:extLst>
              <a:ext uri="{FF2B5EF4-FFF2-40B4-BE49-F238E27FC236}">
                <a16:creationId xmlns:a16="http://schemas.microsoft.com/office/drawing/2014/main" id="{7D74F711-F659-410A-A909-A8E4E10F588A}"/>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571750" y="1495425"/>
            <a:ext cx="4000500" cy="2095500"/>
          </a:xfrm>
          <a:prstGeom prst="rect">
            <a:avLst/>
          </a:prstGeom>
          <a:noFill/>
          <a:extLst>
            <a:ext uri="{909E8E84-426E-40DD-AFC4-6F175D3DCCD1}">
              <a14:hiddenFill xmlns:a14="http://schemas.microsoft.com/office/drawing/2010/main">
                <a:solidFill>
                  <a:srgbClr val="FFFFFF"/>
                </a:solidFill>
              </a14:hiddenFill>
            </a:ext>
          </a:extLst>
        </p:spPr>
      </p:pic>
      <p:pic>
        <p:nvPicPr>
          <p:cNvPr id="3076" name="Picture 4" descr="Quick Sort Algorithm">
            <a:extLst>
              <a:ext uri="{FF2B5EF4-FFF2-40B4-BE49-F238E27FC236}">
                <a16:creationId xmlns:a16="http://schemas.microsoft.com/office/drawing/2014/main" id="{614EC4D2-F21F-4088-B2B3-1B8D7CE9D2B8}"/>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571750" y="4200525"/>
            <a:ext cx="4000500" cy="209550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742196110"/>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83E0669-910E-4856-9570-A9C648B759D8}"/>
              </a:ext>
            </a:extLst>
          </p:cNvPr>
          <p:cNvSpPr>
            <a:spLocks noGrp="1"/>
          </p:cNvSpPr>
          <p:nvPr>
            <p:ph type="title"/>
          </p:nvPr>
        </p:nvSpPr>
        <p:spPr/>
        <p:txBody>
          <a:bodyPr>
            <a:normAutofit fontScale="90000"/>
          </a:bodyPr>
          <a:lstStyle/>
          <a:p>
            <a:r>
              <a:rPr lang="en-US" dirty="0"/>
              <a:t>Quick Sort - Working</a:t>
            </a:r>
          </a:p>
        </p:txBody>
      </p:sp>
      <p:sp>
        <p:nvSpPr>
          <p:cNvPr id="3" name="Content Placeholder 2">
            <a:extLst>
              <a:ext uri="{FF2B5EF4-FFF2-40B4-BE49-F238E27FC236}">
                <a16:creationId xmlns:a16="http://schemas.microsoft.com/office/drawing/2014/main" id="{64B55495-395C-45F9-A7AC-1AAB83A82EC2}"/>
              </a:ext>
            </a:extLst>
          </p:cNvPr>
          <p:cNvSpPr>
            <a:spLocks noGrp="1"/>
          </p:cNvSpPr>
          <p:nvPr>
            <p:ph idx="1"/>
          </p:nvPr>
        </p:nvSpPr>
        <p:spPr/>
        <p:txBody>
          <a:bodyPr>
            <a:normAutofit/>
          </a:bodyPr>
          <a:lstStyle/>
          <a:p>
            <a:r>
              <a:rPr lang="en-US" sz="2400" dirty="0"/>
              <a:t>Now, a[pivot] = 24, a[left] = 24, and a[right] = 24. So, pivot, left and right are pointing the same element. It represents the termination of procedure.</a:t>
            </a:r>
          </a:p>
          <a:p>
            <a:r>
              <a:rPr lang="en-US" sz="2400" dirty="0"/>
              <a:t>Element 24, which is the pivot element is placed at its exact position.</a:t>
            </a:r>
          </a:p>
          <a:p>
            <a:r>
              <a:rPr lang="en-US" sz="2400" dirty="0"/>
              <a:t>Elements that are right side of element 24 are greater than it, and the elements that are left side of element 24 are smaller than it.</a:t>
            </a:r>
          </a:p>
          <a:p>
            <a:endParaRPr lang="en-US" sz="2400" dirty="0"/>
          </a:p>
          <a:p>
            <a:endParaRPr lang="en-US" sz="2400" dirty="0"/>
          </a:p>
          <a:p>
            <a:endParaRPr lang="en-US" sz="2400" dirty="0"/>
          </a:p>
          <a:p>
            <a:r>
              <a:rPr lang="en-US" sz="2400" dirty="0"/>
              <a:t>Now, in a similar manner, quick sort algorithm is separately applied to the left and right sub-arrays. After sorting gets done, the array will be:</a:t>
            </a:r>
          </a:p>
          <a:p>
            <a:endParaRPr lang="en-US" sz="2400" dirty="0"/>
          </a:p>
          <a:p>
            <a:endParaRPr lang="en-US" sz="2400" dirty="0"/>
          </a:p>
        </p:txBody>
      </p:sp>
      <p:sp>
        <p:nvSpPr>
          <p:cNvPr id="4" name="Date Placeholder 3">
            <a:extLst>
              <a:ext uri="{FF2B5EF4-FFF2-40B4-BE49-F238E27FC236}">
                <a16:creationId xmlns:a16="http://schemas.microsoft.com/office/drawing/2014/main" id="{2B83592A-C3CD-40DB-8589-6CAAFE5DA1FB}"/>
              </a:ext>
            </a:extLst>
          </p:cNvPr>
          <p:cNvSpPr>
            <a:spLocks noGrp="1"/>
          </p:cNvSpPr>
          <p:nvPr>
            <p:ph type="dt" sz="half" idx="10"/>
          </p:nvPr>
        </p:nvSpPr>
        <p:spPr>
          <a:xfrm>
            <a:off x="457200" y="8728075"/>
            <a:ext cx="2133600" cy="365125"/>
          </a:xfrm>
        </p:spPr>
        <p:txBody>
          <a:bodyPr/>
          <a:lstStyle/>
          <a:p>
            <a:fld id="{1F43648F-C10C-476D-BA4E-5D96890A4ABC}" type="datetime1">
              <a:rPr lang="en-US" smtClean="0"/>
              <a:t>16-Sep-2025</a:t>
            </a:fld>
            <a:endParaRPr lang="en-US"/>
          </a:p>
        </p:txBody>
      </p:sp>
      <p:sp>
        <p:nvSpPr>
          <p:cNvPr id="5" name="Slide Number Placeholder 4">
            <a:extLst>
              <a:ext uri="{FF2B5EF4-FFF2-40B4-BE49-F238E27FC236}">
                <a16:creationId xmlns:a16="http://schemas.microsoft.com/office/drawing/2014/main" id="{E8ABAF92-D982-45B0-BD75-006453085A18}"/>
              </a:ext>
            </a:extLst>
          </p:cNvPr>
          <p:cNvSpPr>
            <a:spLocks noGrp="1"/>
          </p:cNvSpPr>
          <p:nvPr>
            <p:ph type="sldNum" sz="quarter" idx="12"/>
          </p:nvPr>
        </p:nvSpPr>
        <p:spPr/>
        <p:txBody>
          <a:bodyPr/>
          <a:lstStyle/>
          <a:p>
            <a:fld id="{67D2A209-9856-462B-A010-2A2374E3EB4A}" type="slidenum">
              <a:rPr lang="en-US" smtClean="0"/>
              <a:pPr/>
              <a:t>18</a:t>
            </a:fld>
            <a:endParaRPr lang="en-US"/>
          </a:p>
        </p:txBody>
      </p:sp>
      <p:pic>
        <p:nvPicPr>
          <p:cNvPr id="4098" name="Picture 2" descr="Quick Sort Algorithm">
            <a:extLst>
              <a:ext uri="{FF2B5EF4-FFF2-40B4-BE49-F238E27FC236}">
                <a16:creationId xmlns:a16="http://schemas.microsoft.com/office/drawing/2014/main" id="{593D2177-D6DA-44C9-A3F2-67428EC80A1C}"/>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571750" y="3209925"/>
            <a:ext cx="4000500" cy="1209675"/>
          </a:xfrm>
          <a:prstGeom prst="rect">
            <a:avLst/>
          </a:prstGeom>
          <a:noFill/>
          <a:extLst>
            <a:ext uri="{909E8E84-426E-40DD-AFC4-6F175D3DCCD1}">
              <a14:hiddenFill xmlns:a14="http://schemas.microsoft.com/office/drawing/2010/main">
                <a:solidFill>
                  <a:srgbClr val="FFFFFF"/>
                </a:solidFill>
              </a14:hiddenFill>
            </a:ext>
          </a:extLst>
        </p:spPr>
      </p:pic>
      <p:pic>
        <p:nvPicPr>
          <p:cNvPr id="4100" name="Picture 4" descr="Quick Sort Algorithm">
            <a:extLst>
              <a:ext uri="{FF2B5EF4-FFF2-40B4-BE49-F238E27FC236}">
                <a16:creationId xmlns:a16="http://schemas.microsoft.com/office/drawing/2014/main" id="{73BDF5D9-9FE2-4B94-83F4-CD1009DB0D4C}"/>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571750" y="6029325"/>
            <a:ext cx="4000500" cy="714375"/>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050061121"/>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83E0669-910E-4856-9570-A9C648B759D8}"/>
              </a:ext>
            </a:extLst>
          </p:cNvPr>
          <p:cNvSpPr>
            <a:spLocks noGrp="1"/>
          </p:cNvSpPr>
          <p:nvPr>
            <p:ph type="title"/>
          </p:nvPr>
        </p:nvSpPr>
        <p:spPr/>
        <p:txBody>
          <a:bodyPr>
            <a:normAutofit fontScale="90000"/>
          </a:bodyPr>
          <a:lstStyle/>
          <a:p>
            <a:r>
              <a:rPr lang="en-US" dirty="0"/>
              <a:t>Quick Sort Complexity</a:t>
            </a:r>
          </a:p>
        </p:txBody>
      </p:sp>
      <p:sp>
        <p:nvSpPr>
          <p:cNvPr id="3" name="Content Placeholder 2">
            <a:extLst>
              <a:ext uri="{FF2B5EF4-FFF2-40B4-BE49-F238E27FC236}">
                <a16:creationId xmlns:a16="http://schemas.microsoft.com/office/drawing/2014/main" id="{64B55495-395C-45F9-A7AC-1AAB83A82EC2}"/>
              </a:ext>
            </a:extLst>
          </p:cNvPr>
          <p:cNvSpPr>
            <a:spLocks noGrp="1"/>
          </p:cNvSpPr>
          <p:nvPr>
            <p:ph idx="1"/>
          </p:nvPr>
        </p:nvSpPr>
        <p:spPr/>
        <p:txBody>
          <a:bodyPr>
            <a:normAutofit fontScale="92500" lnSpcReduction="10000"/>
          </a:bodyPr>
          <a:lstStyle/>
          <a:p>
            <a:r>
              <a:rPr lang="en-US" b="1" dirty="0"/>
              <a:t>Best Case Complexity -</a:t>
            </a:r>
            <a:r>
              <a:rPr lang="en-US" dirty="0"/>
              <a:t> In Quicksort, the best-case occurs when the pivot element is the middle element or near to the middle element. The best-case time complexity of quicksort is </a:t>
            </a:r>
            <a:r>
              <a:rPr lang="en-US" b="1" dirty="0"/>
              <a:t>O(n*</a:t>
            </a:r>
            <a:r>
              <a:rPr lang="en-US" b="1" dirty="0" err="1"/>
              <a:t>logn</a:t>
            </a:r>
            <a:r>
              <a:rPr lang="en-US" b="1" dirty="0"/>
              <a:t>)</a:t>
            </a:r>
            <a:r>
              <a:rPr lang="en-US" dirty="0"/>
              <a:t>.</a:t>
            </a:r>
          </a:p>
          <a:p>
            <a:r>
              <a:rPr lang="en-US" b="1" dirty="0"/>
              <a:t>Average Case Complexity -</a:t>
            </a:r>
            <a:r>
              <a:rPr lang="en-US" dirty="0"/>
              <a:t> It occurs when the array elements are in jumbled order that is not properly ascending and not properly descending. The average case time complexity of quicksort is </a:t>
            </a:r>
            <a:r>
              <a:rPr lang="en-US" b="1" dirty="0"/>
              <a:t>O(n*</a:t>
            </a:r>
            <a:r>
              <a:rPr lang="en-US" b="1" dirty="0" err="1"/>
              <a:t>logn</a:t>
            </a:r>
            <a:r>
              <a:rPr lang="en-US" b="1" dirty="0"/>
              <a:t>)</a:t>
            </a:r>
            <a:r>
              <a:rPr lang="en-US" dirty="0"/>
              <a:t>.</a:t>
            </a:r>
          </a:p>
          <a:p>
            <a:r>
              <a:rPr lang="en-US" b="1" dirty="0"/>
              <a:t>Worst Case Complexity -</a:t>
            </a:r>
            <a:r>
              <a:rPr lang="en-US" dirty="0"/>
              <a:t> In quick sort, worst case occurs when the pivot element is either greatest or smallest element. Suppose, if the pivot element is always the last element of the array, the worst case would occur when the given array is sorted already in ascending or descending order. The worst-case time complexity of quicksort is </a:t>
            </a:r>
            <a:r>
              <a:rPr lang="en-US" b="1" dirty="0"/>
              <a:t>O(n</a:t>
            </a:r>
            <a:r>
              <a:rPr lang="en-US" b="1" baseline="30000" dirty="0"/>
              <a:t>2</a:t>
            </a:r>
            <a:r>
              <a:rPr lang="en-US" b="1" dirty="0"/>
              <a:t>)</a:t>
            </a:r>
            <a:r>
              <a:rPr lang="en-US" dirty="0"/>
              <a:t>.</a:t>
            </a:r>
          </a:p>
          <a:p>
            <a:endParaRPr lang="en-US" sz="2400" dirty="0"/>
          </a:p>
        </p:txBody>
      </p:sp>
      <p:sp>
        <p:nvSpPr>
          <p:cNvPr id="4" name="Date Placeholder 3">
            <a:extLst>
              <a:ext uri="{FF2B5EF4-FFF2-40B4-BE49-F238E27FC236}">
                <a16:creationId xmlns:a16="http://schemas.microsoft.com/office/drawing/2014/main" id="{2B83592A-C3CD-40DB-8589-6CAAFE5DA1FB}"/>
              </a:ext>
            </a:extLst>
          </p:cNvPr>
          <p:cNvSpPr>
            <a:spLocks noGrp="1"/>
          </p:cNvSpPr>
          <p:nvPr>
            <p:ph type="dt" sz="half" idx="10"/>
          </p:nvPr>
        </p:nvSpPr>
        <p:spPr>
          <a:xfrm>
            <a:off x="457200" y="8728075"/>
            <a:ext cx="2133600" cy="365125"/>
          </a:xfrm>
        </p:spPr>
        <p:txBody>
          <a:bodyPr/>
          <a:lstStyle/>
          <a:p>
            <a:fld id="{1F43648F-C10C-476D-BA4E-5D96890A4ABC}" type="datetime1">
              <a:rPr lang="en-US" smtClean="0"/>
              <a:t>16-Sep-2025</a:t>
            </a:fld>
            <a:endParaRPr lang="en-US"/>
          </a:p>
        </p:txBody>
      </p:sp>
      <p:sp>
        <p:nvSpPr>
          <p:cNvPr id="5" name="Slide Number Placeholder 4">
            <a:extLst>
              <a:ext uri="{FF2B5EF4-FFF2-40B4-BE49-F238E27FC236}">
                <a16:creationId xmlns:a16="http://schemas.microsoft.com/office/drawing/2014/main" id="{E8ABAF92-D982-45B0-BD75-006453085A18}"/>
              </a:ext>
            </a:extLst>
          </p:cNvPr>
          <p:cNvSpPr>
            <a:spLocks noGrp="1"/>
          </p:cNvSpPr>
          <p:nvPr>
            <p:ph type="sldNum" sz="quarter" idx="12"/>
          </p:nvPr>
        </p:nvSpPr>
        <p:spPr/>
        <p:txBody>
          <a:bodyPr/>
          <a:lstStyle/>
          <a:p>
            <a:fld id="{67D2A209-9856-462B-A010-2A2374E3EB4A}" type="slidenum">
              <a:rPr lang="en-US" smtClean="0"/>
              <a:pPr/>
              <a:t>19</a:t>
            </a:fld>
            <a:endParaRPr lang="en-US"/>
          </a:p>
        </p:txBody>
      </p:sp>
    </p:spTree>
    <p:extLst>
      <p:ext uri="{BB962C8B-B14F-4D97-AF65-F5344CB8AC3E}">
        <p14:creationId xmlns:p14="http://schemas.microsoft.com/office/powerpoint/2010/main" val="1580452087"/>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83E0669-910E-4856-9570-A9C648B759D8}"/>
              </a:ext>
            </a:extLst>
          </p:cNvPr>
          <p:cNvSpPr>
            <a:spLocks noGrp="1"/>
          </p:cNvSpPr>
          <p:nvPr>
            <p:ph type="title"/>
          </p:nvPr>
        </p:nvSpPr>
        <p:spPr/>
        <p:txBody>
          <a:bodyPr>
            <a:normAutofit fontScale="90000"/>
          </a:bodyPr>
          <a:lstStyle/>
          <a:p>
            <a:r>
              <a:rPr lang="en-US" dirty="0"/>
              <a:t>Quick Sort Complexity</a:t>
            </a:r>
          </a:p>
        </p:txBody>
      </p:sp>
      <p:sp>
        <p:nvSpPr>
          <p:cNvPr id="3" name="Content Placeholder 2">
            <a:extLst>
              <a:ext uri="{FF2B5EF4-FFF2-40B4-BE49-F238E27FC236}">
                <a16:creationId xmlns:a16="http://schemas.microsoft.com/office/drawing/2014/main" id="{64B55495-395C-45F9-A7AC-1AAB83A82EC2}"/>
              </a:ext>
            </a:extLst>
          </p:cNvPr>
          <p:cNvSpPr>
            <a:spLocks noGrp="1"/>
          </p:cNvSpPr>
          <p:nvPr>
            <p:ph idx="1"/>
          </p:nvPr>
        </p:nvSpPr>
        <p:spPr/>
        <p:txBody>
          <a:bodyPr>
            <a:normAutofit/>
          </a:bodyPr>
          <a:lstStyle/>
          <a:p>
            <a:r>
              <a:rPr lang="en-US" dirty="0"/>
              <a:t>The space complexity of quicksort is O(n*</a:t>
            </a:r>
            <a:r>
              <a:rPr lang="en-US" dirty="0" err="1"/>
              <a:t>logn</a:t>
            </a:r>
            <a:r>
              <a:rPr lang="en-US" dirty="0"/>
              <a:t>).</a:t>
            </a:r>
          </a:p>
          <a:p>
            <a:endParaRPr lang="en-US" sz="2400" dirty="0"/>
          </a:p>
        </p:txBody>
      </p:sp>
      <p:sp>
        <p:nvSpPr>
          <p:cNvPr id="4" name="Date Placeholder 3">
            <a:extLst>
              <a:ext uri="{FF2B5EF4-FFF2-40B4-BE49-F238E27FC236}">
                <a16:creationId xmlns:a16="http://schemas.microsoft.com/office/drawing/2014/main" id="{2B83592A-C3CD-40DB-8589-6CAAFE5DA1FB}"/>
              </a:ext>
            </a:extLst>
          </p:cNvPr>
          <p:cNvSpPr>
            <a:spLocks noGrp="1"/>
          </p:cNvSpPr>
          <p:nvPr>
            <p:ph type="dt" sz="half" idx="10"/>
          </p:nvPr>
        </p:nvSpPr>
        <p:spPr>
          <a:xfrm>
            <a:off x="457200" y="8728075"/>
            <a:ext cx="2133600" cy="365125"/>
          </a:xfrm>
        </p:spPr>
        <p:txBody>
          <a:bodyPr/>
          <a:lstStyle/>
          <a:p>
            <a:fld id="{1F43648F-C10C-476D-BA4E-5D96890A4ABC}" type="datetime1">
              <a:rPr lang="en-US" smtClean="0"/>
              <a:t>16-Sep-2025</a:t>
            </a:fld>
            <a:endParaRPr lang="en-US"/>
          </a:p>
        </p:txBody>
      </p:sp>
      <p:sp>
        <p:nvSpPr>
          <p:cNvPr id="5" name="Slide Number Placeholder 4">
            <a:extLst>
              <a:ext uri="{FF2B5EF4-FFF2-40B4-BE49-F238E27FC236}">
                <a16:creationId xmlns:a16="http://schemas.microsoft.com/office/drawing/2014/main" id="{E8ABAF92-D982-45B0-BD75-006453085A18}"/>
              </a:ext>
            </a:extLst>
          </p:cNvPr>
          <p:cNvSpPr>
            <a:spLocks noGrp="1"/>
          </p:cNvSpPr>
          <p:nvPr>
            <p:ph type="sldNum" sz="quarter" idx="12"/>
          </p:nvPr>
        </p:nvSpPr>
        <p:spPr/>
        <p:txBody>
          <a:bodyPr/>
          <a:lstStyle/>
          <a:p>
            <a:fld id="{67D2A209-9856-462B-A010-2A2374E3EB4A}" type="slidenum">
              <a:rPr lang="en-US" smtClean="0"/>
              <a:pPr/>
              <a:t>20</a:t>
            </a:fld>
            <a:endParaRPr lang="en-US"/>
          </a:p>
        </p:txBody>
      </p:sp>
    </p:spTree>
    <p:extLst>
      <p:ext uri="{BB962C8B-B14F-4D97-AF65-F5344CB8AC3E}">
        <p14:creationId xmlns:p14="http://schemas.microsoft.com/office/powerpoint/2010/main" val="742422848"/>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83E0669-910E-4856-9570-A9C648B759D8}"/>
              </a:ext>
            </a:extLst>
          </p:cNvPr>
          <p:cNvSpPr>
            <a:spLocks noGrp="1"/>
          </p:cNvSpPr>
          <p:nvPr>
            <p:ph type="title"/>
          </p:nvPr>
        </p:nvSpPr>
        <p:spPr/>
        <p:txBody>
          <a:bodyPr>
            <a:normAutofit fontScale="90000"/>
          </a:bodyPr>
          <a:lstStyle/>
          <a:p>
            <a:r>
              <a:rPr lang="en-US" dirty="0"/>
              <a:t>Quick Sort Complexity</a:t>
            </a:r>
          </a:p>
        </p:txBody>
      </p:sp>
      <p:sp>
        <p:nvSpPr>
          <p:cNvPr id="3" name="Content Placeholder 2">
            <a:extLst>
              <a:ext uri="{FF2B5EF4-FFF2-40B4-BE49-F238E27FC236}">
                <a16:creationId xmlns:a16="http://schemas.microsoft.com/office/drawing/2014/main" id="{64B55495-395C-45F9-A7AC-1AAB83A82EC2}"/>
              </a:ext>
            </a:extLst>
          </p:cNvPr>
          <p:cNvSpPr>
            <a:spLocks noGrp="1"/>
          </p:cNvSpPr>
          <p:nvPr>
            <p:ph idx="1"/>
          </p:nvPr>
        </p:nvSpPr>
        <p:spPr/>
        <p:txBody>
          <a:bodyPr>
            <a:normAutofit/>
          </a:bodyPr>
          <a:lstStyle/>
          <a:p>
            <a:endParaRPr lang="en-US" sz="2400" dirty="0"/>
          </a:p>
        </p:txBody>
      </p:sp>
      <p:sp>
        <p:nvSpPr>
          <p:cNvPr id="4" name="Date Placeholder 3">
            <a:extLst>
              <a:ext uri="{FF2B5EF4-FFF2-40B4-BE49-F238E27FC236}">
                <a16:creationId xmlns:a16="http://schemas.microsoft.com/office/drawing/2014/main" id="{2B83592A-C3CD-40DB-8589-6CAAFE5DA1FB}"/>
              </a:ext>
            </a:extLst>
          </p:cNvPr>
          <p:cNvSpPr>
            <a:spLocks noGrp="1"/>
          </p:cNvSpPr>
          <p:nvPr>
            <p:ph type="dt" sz="half" idx="10"/>
          </p:nvPr>
        </p:nvSpPr>
        <p:spPr>
          <a:xfrm>
            <a:off x="457200" y="8728075"/>
            <a:ext cx="2133600" cy="365125"/>
          </a:xfrm>
        </p:spPr>
        <p:txBody>
          <a:bodyPr/>
          <a:lstStyle/>
          <a:p>
            <a:fld id="{1F43648F-C10C-476D-BA4E-5D96890A4ABC}" type="datetime1">
              <a:rPr lang="en-US" smtClean="0"/>
              <a:t>16-Sep-2025</a:t>
            </a:fld>
            <a:endParaRPr lang="en-US"/>
          </a:p>
        </p:txBody>
      </p:sp>
      <p:sp>
        <p:nvSpPr>
          <p:cNvPr id="5" name="Slide Number Placeholder 4">
            <a:extLst>
              <a:ext uri="{FF2B5EF4-FFF2-40B4-BE49-F238E27FC236}">
                <a16:creationId xmlns:a16="http://schemas.microsoft.com/office/drawing/2014/main" id="{E8ABAF92-D982-45B0-BD75-006453085A18}"/>
              </a:ext>
            </a:extLst>
          </p:cNvPr>
          <p:cNvSpPr>
            <a:spLocks noGrp="1"/>
          </p:cNvSpPr>
          <p:nvPr>
            <p:ph type="sldNum" sz="quarter" idx="12"/>
          </p:nvPr>
        </p:nvSpPr>
        <p:spPr/>
        <p:txBody>
          <a:bodyPr/>
          <a:lstStyle/>
          <a:p>
            <a:fld id="{67D2A209-9856-462B-A010-2A2374E3EB4A}" type="slidenum">
              <a:rPr lang="en-US" smtClean="0"/>
              <a:pPr/>
              <a:t>21</a:t>
            </a:fld>
            <a:endParaRPr lang="en-US"/>
          </a:p>
        </p:txBody>
      </p:sp>
      <p:pic>
        <p:nvPicPr>
          <p:cNvPr id="6" name="Picture 5">
            <a:extLst>
              <a:ext uri="{FF2B5EF4-FFF2-40B4-BE49-F238E27FC236}">
                <a16:creationId xmlns:a16="http://schemas.microsoft.com/office/drawing/2014/main" id="{7D9648F6-E592-4A64-A72F-9592A7531855}"/>
              </a:ext>
            </a:extLst>
          </p:cNvPr>
          <p:cNvPicPr>
            <a:picLocks noChangeAspect="1"/>
          </p:cNvPicPr>
          <p:nvPr/>
        </p:nvPicPr>
        <p:blipFill>
          <a:blip r:embed="rId2"/>
          <a:stretch>
            <a:fillRect/>
          </a:stretch>
        </p:blipFill>
        <p:spPr>
          <a:xfrm>
            <a:off x="1228725" y="1609725"/>
            <a:ext cx="6686550" cy="2085975"/>
          </a:xfrm>
          <a:prstGeom prst="rect">
            <a:avLst/>
          </a:prstGeom>
        </p:spPr>
      </p:pic>
      <p:pic>
        <p:nvPicPr>
          <p:cNvPr id="7" name="Picture 6">
            <a:extLst>
              <a:ext uri="{FF2B5EF4-FFF2-40B4-BE49-F238E27FC236}">
                <a16:creationId xmlns:a16="http://schemas.microsoft.com/office/drawing/2014/main" id="{192AD3CB-D178-4D92-909E-B22180B16D07}"/>
              </a:ext>
            </a:extLst>
          </p:cNvPr>
          <p:cNvPicPr>
            <a:picLocks noChangeAspect="1"/>
          </p:cNvPicPr>
          <p:nvPr/>
        </p:nvPicPr>
        <p:blipFill>
          <a:blip r:embed="rId3"/>
          <a:stretch>
            <a:fillRect/>
          </a:stretch>
        </p:blipFill>
        <p:spPr>
          <a:xfrm>
            <a:off x="1214437" y="4352925"/>
            <a:ext cx="6715125" cy="1276350"/>
          </a:xfrm>
          <a:prstGeom prst="rect">
            <a:avLst/>
          </a:prstGeom>
        </p:spPr>
      </p:pic>
    </p:spTree>
    <p:extLst>
      <p:ext uri="{BB962C8B-B14F-4D97-AF65-F5344CB8AC3E}">
        <p14:creationId xmlns:p14="http://schemas.microsoft.com/office/powerpoint/2010/main" val="1998899366"/>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DB60E0C-9317-4764-A6D9-31A609E58864}"/>
              </a:ext>
            </a:extLst>
          </p:cNvPr>
          <p:cNvSpPr>
            <a:spLocks noGrp="1"/>
          </p:cNvSpPr>
          <p:nvPr>
            <p:ph type="title"/>
          </p:nvPr>
        </p:nvSpPr>
        <p:spPr/>
        <p:txBody>
          <a:bodyPr>
            <a:normAutofit fontScale="90000"/>
          </a:bodyPr>
          <a:lstStyle/>
          <a:p>
            <a:r>
              <a:rPr lang="en-US" dirty="0"/>
              <a:t>Merge Sort</a:t>
            </a:r>
          </a:p>
        </p:txBody>
      </p:sp>
      <p:sp>
        <p:nvSpPr>
          <p:cNvPr id="3" name="Content Placeholder 2">
            <a:extLst>
              <a:ext uri="{FF2B5EF4-FFF2-40B4-BE49-F238E27FC236}">
                <a16:creationId xmlns:a16="http://schemas.microsoft.com/office/drawing/2014/main" id="{3A6BB183-EB35-4367-9F45-9B51EE88D8F5}"/>
              </a:ext>
            </a:extLst>
          </p:cNvPr>
          <p:cNvSpPr>
            <a:spLocks noGrp="1"/>
          </p:cNvSpPr>
          <p:nvPr>
            <p:ph idx="1"/>
          </p:nvPr>
        </p:nvSpPr>
        <p:spPr/>
        <p:txBody>
          <a:bodyPr>
            <a:normAutofit fontScale="85000" lnSpcReduction="10000"/>
          </a:bodyPr>
          <a:lstStyle/>
          <a:p>
            <a:pPr fontAlgn="base"/>
            <a:r>
              <a:rPr lang="en-US" dirty="0"/>
              <a:t>There are 3 Phases (4 major steps) in the Merge Sort Algorithm –</a:t>
            </a:r>
          </a:p>
          <a:p>
            <a:pPr marL="514350" indent="-514350" fontAlgn="base">
              <a:buFont typeface="+mj-lt"/>
              <a:buAutoNum type="arabicPeriod"/>
            </a:pPr>
            <a:r>
              <a:rPr lang="en-US" dirty="0"/>
              <a:t>Division Phase – Divide the array(list) into 2 halves by finding the midpoint of the array(list).</a:t>
            </a:r>
          </a:p>
          <a:p>
            <a:pPr lvl="1" fontAlgn="base"/>
            <a:r>
              <a:rPr lang="en-US" dirty="0"/>
              <a:t>Midpoint (m) = (left + right)/ 2</a:t>
            </a:r>
          </a:p>
          <a:p>
            <a:pPr lvl="1" fontAlgn="base"/>
            <a:r>
              <a:rPr lang="en-US" i="1" dirty="0"/>
              <a:t>Here left is the starting index &amp; right is the last index of the array(list)</a:t>
            </a:r>
            <a:endParaRPr lang="en-US" dirty="0"/>
          </a:p>
          <a:p>
            <a:pPr marL="514350" indent="-514350" fontAlgn="base">
              <a:buFont typeface="+mj-lt"/>
              <a:buAutoNum type="arabicPeriod"/>
            </a:pPr>
            <a:r>
              <a:rPr lang="en-US" dirty="0"/>
              <a:t>Recursion Phase –</a:t>
            </a:r>
          </a:p>
          <a:p>
            <a:pPr lvl="1" fontAlgn="base"/>
            <a:r>
              <a:rPr lang="en-US" dirty="0"/>
              <a:t>Call Merge Sort on the left sub-array (sub-list)</a:t>
            </a:r>
          </a:p>
          <a:p>
            <a:pPr lvl="1" fontAlgn="base"/>
            <a:r>
              <a:rPr lang="en-US" dirty="0"/>
              <a:t>Call Merge Sort on the right sub-array (sub-list)</a:t>
            </a:r>
          </a:p>
          <a:p>
            <a:pPr marL="514350" indent="-514350" fontAlgn="base">
              <a:buFont typeface="+mj-lt"/>
              <a:buAutoNum type="arabicPeriod"/>
            </a:pPr>
            <a:r>
              <a:rPr lang="en-US" dirty="0"/>
              <a:t>Merge Phase –</a:t>
            </a:r>
          </a:p>
          <a:p>
            <a:pPr lvl="1" fontAlgn="base"/>
            <a:r>
              <a:rPr lang="en-US" dirty="0"/>
              <a:t>Call the merge function to merge the divided sub-arrays back to the original array.</a:t>
            </a:r>
          </a:p>
          <a:p>
            <a:pPr lvl="1" fontAlgn="base"/>
            <a:r>
              <a:rPr lang="en-US" dirty="0"/>
              <a:t>Perform sorting of these smaller sub-arrays before merging them back.</a:t>
            </a:r>
          </a:p>
          <a:p>
            <a:endParaRPr lang="en-US" dirty="0"/>
          </a:p>
        </p:txBody>
      </p:sp>
      <p:sp>
        <p:nvSpPr>
          <p:cNvPr id="4" name="Date Placeholder 3">
            <a:extLst>
              <a:ext uri="{FF2B5EF4-FFF2-40B4-BE49-F238E27FC236}">
                <a16:creationId xmlns:a16="http://schemas.microsoft.com/office/drawing/2014/main" id="{BD4BBCFC-9613-4503-A278-D58DEF5A70AB}"/>
              </a:ext>
            </a:extLst>
          </p:cNvPr>
          <p:cNvSpPr>
            <a:spLocks noGrp="1"/>
          </p:cNvSpPr>
          <p:nvPr>
            <p:ph type="dt" sz="half" idx="10"/>
          </p:nvPr>
        </p:nvSpPr>
        <p:spPr/>
        <p:txBody>
          <a:bodyPr/>
          <a:lstStyle/>
          <a:p>
            <a:fld id="{1F43648F-C10C-476D-BA4E-5D96890A4ABC}" type="datetime1">
              <a:rPr lang="en-US" smtClean="0"/>
              <a:t>16-Sep-2025</a:t>
            </a:fld>
            <a:endParaRPr lang="en-US"/>
          </a:p>
        </p:txBody>
      </p:sp>
      <p:sp>
        <p:nvSpPr>
          <p:cNvPr id="5" name="Slide Number Placeholder 4">
            <a:extLst>
              <a:ext uri="{FF2B5EF4-FFF2-40B4-BE49-F238E27FC236}">
                <a16:creationId xmlns:a16="http://schemas.microsoft.com/office/drawing/2014/main" id="{B435E700-D952-41AD-B1A4-51D3BC5D693E}"/>
              </a:ext>
            </a:extLst>
          </p:cNvPr>
          <p:cNvSpPr>
            <a:spLocks noGrp="1"/>
          </p:cNvSpPr>
          <p:nvPr>
            <p:ph type="sldNum" sz="quarter" idx="12"/>
          </p:nvPr>
        </p:nvSpPr>
        <p:spPr/>
        <p:txBody>
          <a:bodyPr/>
          <a:lstStyle/>
          <a:p>
            <a:fld id="{67D2A209-9856-462B-A010-2A2374E3EB4A}" type="slidenum">
              <a:rPr lang="en-US" smtClean="0"/>
              <a:pPr/>
              <a:t>22</a:t>
            </a:fld>
            <a:endParaRPr lang="en-US"/>
          </a:p>
        </p:txBody>
      </p:sp>
    </p:spTree>
    <p:extLst>
      <p:ext uri="{BB962C8B-B14F-4D97-AF65-F5344CB8AC3E}">
        <p14:creationId xmlns:p14="http://schemas.microsoft.com/office/powerpoint/2010/main" val="3451874442"/>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DB60E0C-9317-4764-A6D9-31A609E58864}"/>
              </a:ext>
            </a:extLst>
          </p:cNvPr>
          <p:cNvSpPr>
            <a:spLocks noGrp="1"/>
          </p:cNvSpPr>
          <p:nvPr>
            <p:ph type="title"/>
          </p:nvPr>
        </p:nvSpPr>
        <p:spPr/>
        <p:txBody>
          <a:bodyPr>
            <a:normAutofit fontScale="90000"/>
          </a:bodyPr>
          <a:lstStyle/>
          <a:p>
            <a:r>
              <a:rPr lang="en-US" dirty="0"/>
              <a:t>Merge Sort</a:t>
            </a:r>
          </a:p>
        </p:txBody>
      </p:sp>
      <p:sp>
        <p:nvSpPr>
          <p:cNvPr id="3" name="Content Placeholder 2">
            <a:extLst>
              <a:ext uri="{FF2B5EF4-FFF2-40B4-BE49-F238E27FC236}">
                <a16:creationId xmlns:a16="http://schemas.microsoft.com/office/drawing/2014/main" id="{3A6BB183-EB35-4367-9F45-9B51EE88D8F5}"/>
              </a:ext>
            </a:extLst>
          </p:cNvPr>
          <p:cNvSpPr>
            <a:spLocks noGrp="1"/>
          </p:cNvSpPr>
          <p:nvPr>
            <p:ph idx="1"/>
          </p:nvPr>
        </p:nvSpPr>
        <p:spPr/>
        <p:txBody>
          <a:bodyPr>
            <a:normAutofit fontScale="85000" lnSpcReduction="10000"/>
          </a:bodyPr>
          <a:lstStyle/>
          <a:p>
            <a:pPr fontAlgn="base"/>
            <a:r>
              <a:rPr lang="en-US" dirty="0"/>
              <a:t>There are 3 Phases (4 major steps) in the Merge Sort Algorithm –</a:t>
            </a:r>
          </a:p>
          <a:p>
            <a:pPr marL="457200" indent="-457200" fontAlgn="base">
              <a:buFont typeface="+mj-lt"/>
              <a:buAutoNum type="arabicPeriod"/>
            </a:pPr>
            <a:r>
              <a:rPr lang="en-US" dirty="0"/>
              <a:t>Division Phase – Divide the array(list) into 2 halves by finding the midpoint of the array(list).</a:t>
            </a:r>
          </a:p>
          <a:p>
            <a:pPr lvl="1" fontAlgn="base"/>
            <a:r>
              <a:rPr lang="en-US" dirty="0"/>
              <a:t>Midpoint (m) = (left + right)/ 2</a:t>
            </a:r>
          </a:p>
          <a:p>
            <a:pPr lvl="1" fontAlgn="base"/>
            <a:r>
              <a:rPr lang="en-US" i="1" dirty="0"/>
              <a:t>Here left is the starting index &amp; right is the last index of the array(list)</a:t>
            </a:r>
            <a:endParaRPr lang="en-US" dirty="0"/>
          </a:p>
          <a:p>
            <a:pPr marL="457200" indent="-457200" fontAlgn="base">
              <a:buFont typeface="+mj-lt"/>
              <a:buAutoNum type="arabicPeriod"/>
            </a:pPr>
            <a:endParaRPr lang="en-US" dirty="0">
              <a:solidFill>
                <a:srgbClr val="0066FF"/>
              </a:solidFill>
            </a:endParaRPr>
          </a:p>
          <a:p>
            <a:pPr marL="457200" indent="-457200" fontAlgn="base">
              <a:buFont typeface="+mj-lt"/>
              <a:buAutoNum type="arabicPeriod"/>
            </a:pPr>
            <a:r>
              <a:rPr lang="en-US" dirty="0"/>
              <a:t>Recursion Phase –</a:t>
            </a:r>
            <a:r>
              <a:rPr lang="en-US" dirty="0">
                <a:solidFill>
                  <a:srgbClr val="0066FF"/>
                </a:solidFill>
              </a:rPr>
              <a:t> </a:t>
            </a:r>
            <a:r>
              <a:rPr lang="en-US" dirty="0"/>
              <a:t>Call Merge Sort on the left sub-array (sub-list)</a:t>
            </a:r>
          </a:p>
          <a:p>
            <a:pPr lvl="1" fontAlgn="base"/>
            <a:r>
              <a:rPr lang="en-US" dirty="0"/>
              <a:t>Call Merge Sort on the right sub-array (sub-list)</a:t>
            </a:r>
          </a:p>
          <a:p>
            <a:pPr marL="457200" indent="-457200" fontAlgn="base">
              <a:buFont typeface="+mj-lt"/>
              <a:buAutoNum type="arabicPeriod"/>
            </a:pPr>
            <a:endParaRPr lang="en-US" dirty="0">
              <a:solidFill>
                <a:srgbClr val="0066FF"/>
              </a:solidFill>
            </a:endParaRPr>
          </a:p>
          <a:p>
            <a:pPr marL="457200" indent="-457200" fontAlgn="base">
              <a:buFont typeface="+mj-lt"/>
              <a:buAutoNum type="arabicPeriod"/>
            </a:pPr>
            <a:r>
              <a:rPr lang="en-US" dirty="0"/>
              <a:t>Merge Phase –</a:t>
            </a:r>
            <a:r>
              <a:rPr lang="en-US" dirty="0">
                <a:solidFill>
                  <a:srgbClr val="0066FF"/>
                </a:solidFill>
              </a:rPr>
              <a:t> </a:t>
            </a:r>
            <a:r>
              <a:rPr lang="en-US" dirty="0"/>
              <a:t>Call merge function to merge the divided sub-arrays back to the original array.</a:t>
            </a:r>
          </a:p>
          <a:p>
            <a:pPr lvl="1" fontAlgn="base"/>
            <a:r>
              <a:rPr lang="en-US" dirty="0"/>
              <a:t>Perform sorting of these smaller sub-arrays before merging them back.</a:t>
            </a:r>
          </a:p>
          <a:p>
            <a:endParaRPr lang="en-US" dirty="0"/>
          </a:p>
        </p:txBody>
      </p:sp>
      <p:sp>
        <p:nvSpPr>
          <p:cNvPr id="4" name="Date Placeholder 3">
            <a:extLst>
              <a:ext uri="{FF2B5EF4-FFF2-40B4-BE49-F238E27FC236}">
                <a16:creationId xmlns:a16="http://schemas.microsoft.com/office/drawing/2014/main" id="{BD4BBCFC-9613-4503-A278-D58DEF5A70AB}"/>
              </a:ext>
            </a:extLst>
          </p:cNvPr>
          <p:cNvSpPr>
            <a:spLocks noGrp="1"/>
          </p:cNvSpPr>
          <p:nvPr>
            <p:ph type="dt" sz="half" idx="10"/>
          </p:nvPr>
        </p:nvSpPr>
        <p:spPr/>
        <p:txBody>
          <a:bodyPr/>
          <a:lstStyle/>
          <a:p>
            <a:fld id="{1F43648F-C10C-476D-BA4E-5D96890A4ABC}" type="datetime1">
              <a:rPr lang="en-US" smtClean="0"/>
              <a:t>16-Sep-2025</a:t>
            </a:fld>
            <a:endParaRPr lang="en-US"/>
          </a:p>
        </p:txBody>
      </p:sp>
      <p:sp>
        <p:nvSpPr>
          <p:cNvPr id="5" name="Slide Number Placeholder 4">
            <a:extLst>
              <a:ext uri="{FF2B5EF4-FFF2-40B4-BE49-F238E27FC236}">
                <a16:creationId xmlns:a16="http://schemas.microsoft.com/office/drawing/2014/main" id="{B435E700-D952-41AD-B1A4-51D3BC5D693E}"/>
              </a:ext>
            </a:extLst>
          </p:cNvPr>
          <p:cNvSpPr>
            <a:spLocks noGrp="1"/>
          </p:cNvSpPr>
          <p:nvPr>
            <p:ph type="sldNum" sz="quarter" idx="12"/>
          </p:nvPr>
        </p:nvSpPr>
        <p:spPr/>
        <p:txBody>
          <a:bodyPr/>
          <a:lstStyle/>
          <a:p>
            <a:fld id="{67D2A209-9856-462B-A010-2A2374E3EB4A}" type="slidenum">
              <a:rPr lang="en-US" smtClean="0"/>
              <a:pPr/>
              <a:t>23</a:t>
            </a:fld>
            <a:endParaRPr lang="en-US"/>
          </a:p>
        </p:txBody>
      </p:sp>
    </p:spTree>
    <p:extLst>
      <p:ext uri="{BB962C8B-B14F-4D97-AF65-F5344CB8AC3E}">
        <p14:creationId xmlns:p14="http://schemas.microsoft.com/office/powerpoint/2010/main" val="107834895"/>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83E0669-910E-4856-9570-A9C648B759D8}"/>
              </a:ext>
            </a:extLst>
          </p:cNvPr>
          <p:cNvSpPr>
            <a:spLocks noGrp="1"/>
          </p:cNvSpPr>
          <p:nvPr>
            <p:ph type="title"/>
          </p:nvPr>
        </p:nvSpPr>
        <p:spPr/>
        <p:txBody>
          <a:bodyPr>
            <a:normAutofit fontScale="90000"/>
          </a:bodyPr>
          <a:lstStyle/>
          <a:p>
            <a:r>
              <a:rPr lang="en-US" dirty="0"/>
              <a:t>Merge Sort</a:t>
            </a:r>
          </a:p>
        </p:txBody>
      </p:sp>
      <p:sp>
        <p:nvSpPr>
          <p:cNvPr id="4" name="Date Placeholder 3">
            <a:extLst>
              <a:ext uri="{FF2B5EF4-FFF2-40B4-BE49-F238E27FC236}">
                <a16:creationId xmlns:a16="http://schemas.microsoft.com/office/drawing/2014/main" id="{2B83592A-C3CD-40DB-8589-6CAAFE5DA1FB}"/>
              </a:ext>
            </a:extLst>
          </p:cNvPr>
          <p:cNvSpPr>
            <a:spLocks noGrp="1"/>
          </p:cNvSpPr>
          <p:nvPr>
            <p:ph type="dt" sz="half" idx="10"/>
          </p:nvPr>
        </p:nvSpPr>
        <p:spPr>
          <a:xfrm>
            <a:off x="457200" y="8728075"/>
            <a:ext cx="2133600" cy="365125"/>
          </a:xfrm>
        </p:spPr>
        <p:txBody>
          <a:bodyPr/>
          <a:lstStyle/>
          <a:p>
            <a:fld id="{1F43648F-C10C-476D-BA4E-5D96890A4ABC}" type="datetime1">
              <a:rPr lang="en-US" smtClean="0"/>
              <a:t>16-Sep-2025</a:t>
            </a:fld>
            <a:endParaRPr lang="en-US"/>
          </a:p>
        </p:txBody>
      </p:sp>
      <p:sp>
        <p:nvSpPr>
          <p:cNvPr id="5" name="Slide Number Placeholder 4">
            <a:extLst>
              <a:ext uri="{FF2B5EF4-FFF2-40B4-BE49-F238E27FC236}">
                <a16:creationId xmlns:a16="http://schemas.microsoft.com/office/drawing/2014/main" id="{E8ABAF92-D982-45B0-BD75-006453085A18}"/>
              </a:ext>
            </a:extLst>
          </p:cNvPr>
          <p:cNvSpPr>
            <a:spLocks noGrp="1"/>
          </p:cNvSpPr>
          <p:nvPr>
            <p:ph type="sldNum" sz="quarter" idx="12"/>
          </p:nvPr>
        </p:nvSpPr>
        <p:spPr/>
        <p:txBody>
          <a:bodyPr/>
          <a:lstStyle/>
          <a:p>
            <a:fld id="{67D2A209-9856-462B-A010-2A2374E3EB4A}" type="slidenum">
              <a:rPr lang="en-US" smtClean="0"/>
              <a:pPr/>
              <a:t>24</a:t>
            </a:fld>
            <a:endParaRPr lang="en-US"/>
          </a:p>
        </p:txBody>
      </p:sp>
      <p:pic>
        <p:nvPicPr>
          <p:cNvPr id="11" name="Content Placeholder 10">
            <a:extLst>
              <a:ext uri="{FF2B5EF4-FFF2-40B4-BE49-F238E27FC236}">
                <a16:creationId xmlns:a16="http://schemas.microsoft.com/office/drawing/2014/main" id="{9429E179-EC81-4349-A31B-C1CBB9EBB353}"/>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1366938" y="685800"/>
            <a:ext cx="6410124" cy="5440363"/>
          </a:xfrm>
        </p:spPr>
      </p:pic>
    </p:spTree>
    <p:extLst>
      <p:ext uri="{BB962C8B-B14F-4D97-AF65-F5344CB8AC3E}">
        <p14:creationId xmlns:p14="http://schemas.microsoft.com/office/powerpoint/2010/main" val="3037688403"/>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83E0669-910E-4856-9570-A9C648B759D8}"/>
              </a:ext>
            </a:extLst>
          </p:cNvPr>
          <p:cNvSpPr>
            <a:spLocks noGrp="1"/>
          </p:cNvSpPr>
          <p:nvPr>
            <p:ph type="title"/>
          </p:nvPr>
        </p:nvSpPr>
        <p:spPr/>
        <p:txBody>
          <a:bodyPr>
            <a:normAutofit fontScale="90000"/>
          </a:bodyPr>
          <a:lstStyle/>
          <a:p>
            <a:r>
              <a:rPr lang="en-US" dirty="0"/>
              <a:t>Merge Sort Complexity</a:t>
            </a:r>
          </a:p>
        </p:txBody>
      </p:sp>
      <p:sp>
        <p:nvSpPr>
          <p:cNvPr id="3" name="Content Placeholder 2">
            <a:extLst>
              <a:ext uri="{FF2B5EF4-FFF2-40B4-BE49-F238E27FC236}">
                <a16:creationId xmlns:a16="http://schemas.microsoft.com/office/drawing/2014/main" id="{64B55495-395C-45F9-A7AC-1AAB83A82EC2}"/>
              </a:ext>
            </a:extLst>
          </p:cNvPr>
          <p:cNvSpPr>
            <a:spLocks noGrp="1"/>
          </p:cNvSpPr>
          <p:nvPr>
            <p:ph idx="1"/>
          </p:nvPr>
        </p:nvSpPr>
        <p:spPr/>
        <p:txBody>
          <a:bodyPr>
            <a:normAutofit/>
          </a:bodyPr>
          <a:lstStyle/>
          <a:p>
            <a:r>
              <a:rPr lang="en-US" b="1" dirty="0"/>
              <a:t>Best Case Complexity -</a:t>
            </a:r>
            <a:r>
              <a:rPr lang="en-US" dirty="0"/>
              <a:t> It occurs when there is no sorting required, i.e. the array is already sorted. The best-case time complexity of merge sort is </a:t>
            </a:r>
            <a:r>
              <a:rPr lang="en-US" b="1" dirty="0"/>
              <a:t>O(n*</a:t>
            </a:r>
            <a:r>
              <a:rPr lang="en-US" b="1" dirty="0" err="1"/>
              <a:t>logn</a:t>
            </a:r>
            <a:r>
              <a:rPr lang="en-US" b="1" dirty="0"/>
              <a:t>)</a:t>
            </a:r>
            <a:r>
              <a:rPr lang="en-US" dirty="0"/>
              <a:t>.</a:t>
            </a:r>
          </a:p>
          <a:p>
            <a:r>
              <a:rPr lang="en-US" b="1" dirty="0"/>
              <a:t>Average Case Complexity -</a:t>
            </a:r>
            <a:r>
              <a:rPr lang="en-US" dirty="0"/>
              <a:t> It occurs when the array elements are in jumbled order that is not properly ascending and not properly descending. The average case time complexity of merge sort is </a:t>
            </a:r>
            <a:r>
              <a:rPr lang="en-US" b="1" dirty="0"/>
              <a:t>O(n*</a:t>
            </a:r>
            <a:r>
              <a:rPr lang="en-US" b="1" dirty="0" err="1"/>
              <a:t>logn</a:t>
            </a:r>
            <a:r>
              <a:rPr lang="en-US" b="1" dirty="0"/>
              <a:t>)</a:t>
            </a:r>
            <a:r>
              <a:rPr lang="en-US" dirty="0"/>
              <a:t>.</a:t>
            </a:r>
          </a:p>
          <a:p>
            <a:r>
              <a:rPr lang="en-US" b="1" dirty="0"/>
              <a:t>Worst Case Complexity -</a:t>
            </a:r>
            <a:r>
              <a:rPr lang="en-US" dirty="0"/>
              <a:t> It occurs when the array elements are required to be sorted in reverse order. That means suppose you have to sort the array elements in ascending order, but its elements are in descending order. The worst-case time complexity of merge sort is </a:t>
            </a:r>
            <a:r>
              <a:rPr lang="en-US" b="1" dirty="0"/>
              <a:t>O(n*</a:t>
            </a:r>
            <a:r>
              <a:rPr lang="en-US" b="1" dirty="0" err="1"/>
              <a:t>logn</a:t>
            </a:r>
            <a:r>
              <a:rPr lang="en-US" b="1" dirty="0"/>
              <a:t>)</a:t>
            </a:r>
            <a:r>
              <a:rPr lang="en-US" dirty="0"/>
              <a:t>.</a:t>
            </a:r>
          </a:p>
          <a:p>
            <a:endParaRPr lang="en-US" sz="2400" dirty="0"/>
          </a:p>
        </p:txBody>
      </p:sp>
      <p:sp>
        <p:nvSpPr>
          <p:cNvPr id="4" name="Date Placeholder 3">
            <a:extLst>
              <a:ext uri="{FF2B5EF4-FFF2-40B4-BE49-F238E27FC236}">
                <a16:creationId xmlns:a16="http://schemas.microsoft.com/office/drawing/2014/main" id="{2B83592A-C3CD-40DB-8589-6CAAFE5DA1FB}"/>
              </a:ext>
            </a:extLst>
          </p:cNvPr>
          <p:cNvSpPr>
            <a:spLocks noGrp="1"/>
          </p:cNvSpPr>
          <p:nvPr>
            <p:ph type="dt" sz="half" idx="10"/>
          </p:nvPr>
        </p:nvSpPr>
        <p:spPr>
          <a:xfrm>
            <a:off x="457200" y="8728075"/>
            <a:ext cx="2133600" cy="365125"/>
          </a:xfrm>
        </p:spPr>
        <p:txBody>
          <a:bodyPr/>
          <a:lstStyle/>
          <a:p>
            <a:fld id="{1F43648F-C10C-476D-BA4E-5D96890A4ABC}" type="datetime1">
              <a:rPr lang="en-US" smtClean="0"/>
              <a:t>16-Sep-2025</a:t>
            </a:fld>
            <a:endParaRPr lang="en-US"/>
          </a:p>
        </p:txBody>
      </p:sp>
      <p:sp>
        <p:nvSpPr>
          <p:cNvPr id="5" name="Slide Number Placeholder 4">
            <a:extLst>
              <a:ext uri="{FF2B5EF4-FFF2-40B4-BE49-F238E27FC236}">
                <a16:creationId xmlns:a16="http://schemas.microsoft.com/office/drawing/2014/main" id="{E8ABAF92-D982-45B0-BD75-006453085A18}"/>
              </a:ext>
            </a:extLst>
          </p:cNvPr>
          <p:cNvSpPr>
            <a:spLocks noGrp="1"/>
          </p:cNvSpPr>
          <p:nvPr>
            <p:ph type="sldNum" sz="quarter" idx="12"/>
          </p:nvPr>
        </p:nvSpPr>
        <p:spPr/>
        <p:txBody>
          <a:bodyPr/>
          <a:lstStyle/>
          <a:p>
            <a:fld id="{67D2A209-9856-462B-A010-2A2374E3EB4A}" type="slidenum">
              <a:rPr lang="en-US" smtClean="0"/>
              <a:pPr/>
              <a:t>25</a:t>
            </a:fld>
            <a:endParaRPr lang="en-US"/>
          </a:p>
        </p:txBody>
      </p:sp>
    </p:spTree>
    <p:extLst>
      <p:ext uri="{BB962C8B-B14F-4D97-AF65-F5344CB8AC3E}">
        <p14:creationId xmlns:p14="http://schemas.microsoft.com/office/powerpoint/2010/main" val="520532847"/>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83E0669-910E-4856-9570-A9C648B759D8}"/>
              </a:ext>
            </a:extLst>
          </p:cNvPr>
          <p:cNvSpPr>
            <a:spLocks noGrp="1"/>
          </p:cNvSpPr>
          <p:nvPr>
            <p:ph type="title"/>
          </p:nvPr>
        </p:nvSpPr>
        <p:spPr/>
        <p:txBody>
          <a:bodyPr>
            <a:normAutofit fontScale="90000"/>
          </a:bodyPr>
          <a:lstStyle/>
          <a:p>
            <a:r>
              <a:rPr lang="en-US" dirty="0"/>
              <a:t>Merge Sort Complexity</a:t>
            </a:r>
          </a:p>
        </p:txBody>
      </p:sp>
      <p:sp>
        <p:nvSpPr>
          <p:cNvPr id="3" name="Content Placeholder 2">
            <a:extLst>
              <a:ext uri="{FF2B5EF4-FFF2-40B4-BE49-F238E27FC236}">
                <a16:creationId xmlns:a16="http://schemas.microsoft.com/office/drawing/2014/main" id="{64B55495-395C-45F9-A7AC-1AAB83A82EC2}"/>
              </a:ext>
            </a:extLst>
          </p:cNvPr>
          <p:cNvSpPr>
            <a:spLocks noGrp="1"/>
          </p:cNvSpPr>
          <p:nvPr>
            <p:ph idx="1"/>
          </p:nvPr>
        </p:nvSpPr>
        <p:spPr/>
        <p:txBody>
          <a:bodyPr>
            <a:normAutofit/>
          </a:bodyPr>
          <a:lstStyle/>
          <a:p>
            <a:r>
              <a:rPr lang="en-US" dirty="0"/>
              <a:t>The space complexity of merge sort is O(n). It is because, in merge sort, an extra variable is required for swapping.</a:t>
            </a:r>
          </a:p>
          <a:p>
            <a:endParaRPr lang="en-US" sz="2400" dirty="0"/>
          </a:p>
        </p:txBody>
      </p:sp>
      <p:sp>
        <p:nvSpPr>
          <p:cNvPr id="4" name="Date Placeholder 3">
            <a:extLst>
              <a:ext uri="{FF2B5EF4-FFF2-40B4-BE49-F238E27FC236}">
                <a16:creationId xmlns:a16="http://schemas.microsoft.com/office/drawing/2014/main" id="{2B83592A-C3CD-40DB-8589-6CAAFE5DA1FB}"/>
              </a:ext>
            </a:extLst>
          </p:cNvPr>
          <p:cNvSpPr>
            <a:spLocks noGrp="1"/>
          </p:cNvSpPr>
          <p:nvPr>
            <p:ph type="dt" sz="half" idx="10"/>
          </p:nvPr>
        </p:nvSpPr>
        <p:spPr>
          <a:xfrm>
            <a:off x="457200" y="8728075"/>
            <a:ext cx="2133600" cy="365125"/>
          </a:xfrm>
        </p:spPr>
        <p:txBody>
          <a:bodyPr/>
          <a:lstStyle/>
          <a:p>
            <a:fld id="{1F43648F-C10C-476D-BA4E-5D96890A4ABC}" type="datetime1">
              <a:rPr lang="en-US" smtClean="0"/>
              <a:t>16-Sep-2025</a:t>
            </a:fld>
            <a:endParaRPr lang="en-US"/>
          </a:p>
        </p:txBody>
      </p:sp>
      <p:sp>
        <p:nvSpPr>
          <p:cNvPr id="5" name="Slide Number Placeholder 4">
            <a:extLst>
              <a:ext uri="{FF2B5EF4-FFF2-40B4-BE49-F238E27FC236}">
                <a16:creationId xmlns:a16="http://schemas.microsoft.com/office/drawing/2014/main" id="{E8ABAF92-D982-45B0-BD75-006453085A18}"/>
              </a:ext>
            </a:extLst>
          </p:cNvPr>
          <p:cNvSpPr>
            <a:spLocks noGrp="1"/>
          </p:cNvSpPr>
          <p:nvPr>
            <p:ph type="sldNum" sz="quarter" idx="12"/>
          </p:nvPr>
        </p:nvSpPr>
        <p:spPr/>
        <p:txBody>
          <a:bodyPr/>
          <a:lstStyle/>
          <a:p>
            <a:fld id="{67D2A209-9856-462B-A010-2A2374E3EB4A}" type="slidenum">
              <a:rPr lang="en-US" smtClean="0"/>
              <a:pPr/>
              <a:t>26</a:t>
            </a:fld>
            <a:endParaRPr lang="en-US"/>
          </a:p>
        </p:txBody>
      </p:sp>
    </p:spTree>
    <p:extLst>
      <p:ext uri="{BB962C8B-B14F-4D97-AF65-F5344CB8AC3E}">
        <p14:creationId xmlns:p14="http://schemas.microsoft.com/office/powerpoint/2010/main" val="3217206360"/>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83E0669-910E-4856-9570-A9C648B759D8}"/>
              </a:ext>
            </a:extLst>
          </p:cNvPr>
          <p:cNvSpPr>
            <a:spLocks noGrp="1"/>
          </p:cNvSpPr>
          <p:nvPr>
            <p:ph type="title"/>
          </p:nvPr>
        </p:nvSpPr>
        <p:spPr/>
        <p:txBody>
          <a:bodyPr>
            <a:normAutofit fontScale="90000"/>
          </a:bodyPr>
          <a:lstStyle/>
          <a:p>
            <a:r>
              <a:rPr lang="en-US" dirty="0"/>
              <a:t>Merge Sort Complexity</a:t>
            </a:r>
          </a:p>
        </p:txBody>
      </p:sp>
      <p:sp>
        <p:nvSpPr>
          <p:cNvPr id="3" name="Content Placeholder 2">
            <a:extLst>
              <a:ext uri="{FF2B5EF4-FFF2-40B4-BE49-F238E27FC236}">
                <a16:creationId xmlns:a16="http://schemas.microsoft.com/office/drawing/2014/main" id="{64B55495-395C-45F9-A7AC-1AAB83A82EC2}"/>
              </a:ext>
            </a:extLst>
          </p:cNvPr>
          <p:cNvSpPr>
            <a:spLocks noGrp="1"/>
          </p:cNvSpPr>
          <p:nvPr>
            <p:ph idx="1"/>
          </p:nvPr>
        </p:nvSpPr>
        <p:spPr/>
        <p:txBody>
          <a:bodyPr>
            <a:normAutofit/>
          </a:bodyPr>
          <a:lstStyle/>
          <a:p>
            <a:endParaRPr lang="en-US" sz="2400" dirty="0"/>
          </a:p>
        </p:txBody>
      </p:sp>
      <p:sp>
        <p:nvSpPr>
          <p:cNvPr id="4" name="Date Placeholder 3">
            <a:extLst>
              <a:ext uri="{FF2B5EF4-FFF2-40B4-BE49-F238E27FC236}">
                <a16:creationId xmlns:a16="http://schemas.microsoft.com/office/drawing/2014/main" id="{2B83592A-C3CD-40DB-8589-6CAAFE5DA1FB}"/>
              </a:ext>
            </a:extLst>
          </p:cNvPr>
          <p:cNvSpPr>
            <a:spLocks noGrp="1"/>
          </p:cNvSpPr>
          <p:nvPr>
            <p:ph type="dt" sz="half" idx="10"/>
          </p:nvPr>
        </p:nvSpPr>
        <p:spPr>
          <a:xfrm>
            <a:off x="457200" y="8728075"/>
            <a:ext cx="2133600" cy="365125"/>
          </a:xfrm>
        </p:spPr>
        <p:txBody>
          <a:bodyPr/>
          <a:lstStyle/>
          <a:p>
            <a:fld id="{1F43648F-C10C-476D-BA4E-5D96890A4ABC}" type="datetime1">
              <a:rPr lang="en-US" smtClean="0"/>
              <a:t>16-Sep-2025</a:t>
            </a:fld>
            <a:endParaRPr lang="en-US"/>
          </a:p>
        </p:txBody>
      </p:sp>
      <p:sp>
        <p:nvSpPr>
          <p:cNvPr id="5" name="Slide Number Placeholder 4">
            <a:extLst>
              <a:ext uri="{FF2B5EF4-FFF2-40B4-BE49-F238E27FC236}">
                <a16:creationId xmlns:a16="http://schemas.microsoft.com/office/drawing/2014/main" id="{E8ABAF92-D982-45B0-BD75-006453085A18}"/>
              </a:ext>
            </a:extLst>
          </p:cNvPr>
          <p:cNvSpPr>
            <a:spLocks noGrp="1"/>
          </p:cNvSpPr>
          <p:nvPr>
            <p:ph type="sldNum" sz="quarter" idx="12"/>
          </p:nvPr>
        </p:nvSpPr>
        <p:spPr/>
        <p:txBody>
          <a:bodyPr/>
          <a:lstStyle/>
          <a:p>
            <a:fld id="{67D2A209-9856-462B-A010-2A2374E3EB4A}" type="slidenum">
              <a:rPr lang="en-US" smtClean="0"/>
              <a:pPr/>
              <a:t>27</a:t>
            </a:fld>
            <a:endParaRPr lang="en-US"/>
          </a:p>
        </p:txBody>
      </p:sp>
      <p:pic>
        <p:nvPicPr>
          <p:cNvPr id="6" name="Picture 5">
            <a:extLst>
              <a:ext uri="{FF2B5EF4-FFF2-40B4-BE49-F238E27FC236}">
                <a16:creationId xmlns:a16="http://schemas.microsoft.com/office/drawing/2014/main" id="{6E299BF3-D312-4DC6-9E9D-F462201F1C22}"/>
              </a:ext>
            </a:extLst>
          </p:cNvPr>
          <p:cNvPicPr>
            <a:picLocks noChangeAspect="1"/>
          </p:cNvPicPr>
          <p:nvPr/>
        </p:nvPicPr>
        <p:blipFill>
          <a:blip r:embed="rId2"/>
          <a:stretch>
            <a:fillRect/>
          </a:stretch>
        </p:blipFill>
        <p:spPr>
          <a:xfrm>
            <a:off x="1219200" y="1609725"/>
            <a:ext cx="6705600" cy="2162175"/>
          </a:xfrm>
          <a:prstGeom prst="rect">
            <a:avLst/>
          </a:prstGeom>
        </p:spPr>
      </p:pic>
      <p:pic>
        <p:nvPicPr>
          <p:cNvPr id="7" name="Picture 6">
            <a:extLst>
              <a:ext uri="{FF2B5EF4-FFF2-40B4-BE49-F238E27FC236}">
                <a16:creationId xmlns:a16="http://schemas.microsoft.com/office/drawing/2014/main" id="{A1CEEA94-BA5C-4090-83CB-745BED89E606}"/>
              </a:ext>
            </a:extLst>
          </p:cNvPr>
          <p:cNvPicPr>
            <a:picLocks noChangeAspect="1"/>
          </p:cNvPicPr>
          <p:nvPr/>
        </p:nvPicPr>
        <p:blipFill>
          <a:blip r:embed="rId3"/>
          <a:stretch>
            <a:fillRect/>
          </a:stretch>
        </p:blipFill>
        <p:spPr>
          <a:xfrm>
            <a:off x="1219200" y="4352925"/>
            <a:ext cx="6705600" cy="1257300"/>
          </a:xfrm>
          <a:prstGeom prst="rect">
            <a:avLst/>
          </a:prstGeom>
        </p:spPr>
      </p:pic>
    </p:spTree>
    <p:extLst>
      <p:ext uri="{BB962C8B-B14F-4D97-AF65-F5344CB8AC3E}">
        <p14:creationId xmlns:p14="http://schemas.microsoft.com/office/powerpoint/2010/main" val="1972692221"/>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B3928BF1-20D2-4532-A9C6-DEDE2C477CFE}"/>
              </a:ext>
            </a:extLst>
          </p:cNvPr>
          <p:cNvSpPr>
            <a:spLocks noGrp="1"/>
          </p:cNvSpPr>
          <p:nvPr>
            <p:ph idx="1"/>
          </p:nvPr>
        </p:nvSpPr>
        <p:spPr/>
        <p:txBody>
          <a:bodyPr/>
          <a:lstStyle/>
          <a:p>
            <a:endParaRPr lang="en-US" dirty="0"/>
          </a:p>
        </p:txBody>
      </p:sp>
      <p:sp>
        <p:nvSpPr>
          <p:cNvPr id="4" name="Date Placeholder 3">
            <a:extLst>
              <a:ext uri="{FF2B5EF4-FFF2-40B4-BE49-F238E27FC236}">
                <a16:creationId xmlns:a16="http://schemas.microsoft.com/office/drawing/2014/main" id="{974AA8B6-03A3-405C-AD1C-74FC84B4B0BA}"/>
              </a:ext>
            </a:extLst>
          </p:cNvPr>
          <p:cNvSpPr>
            <a:spLocks noGrp="1"/>
          </p:cNvSpPr>
          <p:nvPr>
            <p:ph type="dt" sz="half" idx="10"/>
          </p:nvPr>
        </p:nvSpPr>
        <p:spPr/>
        <p:txBody>
          <a:bodyPr/>
          <a:lstStyle/>
          <a:p>
            <a:fld id="{1F43648F-C10C-476D-BA4E-5D96890A4ABC}" type="datetime1">
              <a:rPr lang="en-US" smtClean="0"/>
              <a:t>16-Sep-2025</a:t>
            </a:fld>
            <a:endParaRPr lang="en-US"/>
          </a:p>
        </p:txBody>
      </p:sp>
      <p:sp>
        <p:nvSpPr>
          <p:cNvPr id="5" name="Slide Number Placeholder 4">
            <a:extLst>
              <a:ext uri="{FF2B5EF4-FFF2-40B4-BE49-F238E27FC236}">
                <a16:creationId xmlns:a16="http://schemas.microsoft.com/office/drawing/2014/main" id="{746CEF8C-2C57-418B-9FE3-A1F44AA3881D}"/>
              </a:ext>
            </a:extLst>
          </p:cNvPr>
          <p:cNvSpPr>
            <a:spLocks noGrp="1"/>
          </p:cNvSpPr>
          <p:nvPr>
            <p:ph type="sldNum" sz="quarter" idx="12"/>
          </p:nvPr>
        </p:nvSpPr>
        <p:spPr/>
        <p:txBody>
          <a:bodyPr/>
          <a:lstStyle/>
          <a:p>
            <a:fld id="{67D2A209-9856-462B-A010-2A2374E3EB4A}" type="slidenum">
              <a:rPr lang="en-US" smtClean="0"/>
              <a:pPr/>
              <a:t>28</a:t>
            </a:fld>
            <a:endParaRPr lang="en-US"/>
          </a:p>
        </p:txBody>
      </p:sp>
      <p:pic>
        <p:nvPicPr>
          <p:cNvPr id="6" name="Content Placeholder 4">
            <a:extLst>
              <a:ext uri="{FF2B5EF4-FFF2-40B4-BE49-F238E27FC236}">
                <a16:creationId xmlns:a16="http://schemas.microsoft.com/office/drawing/2014/main" id="{E08E218D-EFB7-4B32-B09E-6098A940DC2C}"/>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640219" y="685800"/>
            <a:ext cx="7871603" cy="5562600"/>
          </a:xfrm>
          <a:prstGeom prst="rect">
            <a:avLst/>
          </a:prstGeom>
        </p:spPr>
      </p:pic>
    </p:spTree>
    <p:extLst>
      <p:ext uri="{BB962C8B-B14F-4D97-AF65-F5344CB8AC3E}">
        <p14:creationId xmlns:p14="http://schemas.microsoft.com/office/powerpoint/2010/main" val="2721792527"/>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Document" ma:contentTypeID="0x0101004EDDBCD85B0433498E6BCE505FFEC7DE" ma:contentTypeVersion="15" ma:contentTypeDescription="Create a new document." ma:contentTypeScope="" ma:versionID="528d693c7cc464012b779c9363db476b">
  <xsd:schema xmlns:xsd="http://www.w3.org/2001/XMLSchema" xmlns:xs="http://www.w3.org/2001/XMLSchema" xmlns:p="http://schemas.microsoft.com/office/2006/metadata/properties" xmlns:ns3="e41a7a39-cefe-44f5-a3a8-0050e37c33e9" targetNamespace="http://schemas.microsoft.com/office/2006/metadata/properties" ma:root="true" ma:fieldsID="1b749ea39c3268e2a9a91a038912fe54" ns3:_="">
    <xsd:import namespace="e41a7a39-cefe-44f5-a3a8-0050e37c33e9"/>
    <xsd:element name="properties">
      <xsd:complexType>
        <xsd:sequence>
          <xsd:element name="documentManagement">
            <xsd:complexType>
              <xsd:all>
                <xsd:element ref="ns3:MediaServiceMetadata" minOccurs="0"/>
                <xsd:element ref="ns3:MediaServiceFastMetadata" minOccurs="0"/>
                <xsd:element ref="ns3:MediaServiceAutoTags" minOccurs="0"/>
                <xsd:element ref="ns3:MediaServiceOCR" minOccurs="0"/>
                <xsd:element ref="ns3:MediaServiceGenerationTime" minOccurs="0"/>
                <xsd:element ref="ns3:MediaServiceEventHashCode" minOccurs="0"/>
                <xsd:element ref="ns3:MediaServiceAutoKeyPoints" minOccurs="0"/>
                <xsd:element ref="ns3:MediaServiceKeyPoints" minOccurs="0"/>
                <xsd:element ref="ns3:MediaServiceDateTaken" minOccurs="0"/>
                <xsd:element ref="ns3:MediaLengthInSeconds" minOccurs="0"/>
                <xsd:element ref="ns3:MediaServiceLocation" minOccurs="0"/>
                <xsd:element ref="ns3:_activity" minOccurs="0"/>
                <xsd:element ref="ns3:MediaServiceObjectDetectorVersions" minOccurs="0"/>
                <xsd:element ref="ns3:MediaServiceSystemTags" minOccurs="0"/>
                <xsd:element ref="ns3:MediaServiceSearchPropertie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e41a7a39-cefe-44f5-a3a8-0050e37c33e9"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AutoTags" ma:index="10" nillable="true" ma:displayName="Tags" ma:internalName="MediaServiceAutoTags" ma:readOnly="true">
      <xsd:simpleType>
        <xsd:restriction base="dms:Text"/>
      </xsd:simpleType>
    </xsd:element>
    <xsd:element name="MediaServiceOCR" ma:index="11" nillable="true" ma:displayName="Extracted Text" ma:internalName="MediaServiceOCR" ma:readOnly="true">
      <xsd:simpleType>
        <xsd:restriction base="dms:Note">
          <xsd:maxLength value="255"/>
        </xsd:restriction>
      </xsd:simpleType>
    </xsd:element>
    <xsd:element name="MediaServiceGenerationTime" ma:index="12" nillable="true" ma:displayName="MediaServiceGenerationTime" ma:hidden="true" ma:internalName="MediaServiceGenerationTime" ma:readOnly="true">
      <xsd:simpleType>
        <xsd:restriction base="dms:Text"/>
      </xsd:simpleType>
    </xsd:element>
    <xsd:element name="MediaServiceEventHashCode" ma:index="13" nillable="true" ma:displayName="MediaServiceEventHashCode" ma:hidden="true" ma:internalName="MediaServiceEventHashCode" ma:readOnly="true">
      <xsd:simpleType>
        <xsd:restriction base="dms:Text"/>
      </xsd:simpleType>
    </xsd:element>
    <xsd:element name="MediaServiceAutoKeyPoints" ma:index="14" nillable="true" ma:displayName="MediaServiceAutoKeyPoints" ma:hidden="true" ma:internalName="MediaServiceAutoKeyPoints" ma:readOnly="true">
      <xsd:simpleType>
        <xsd:restriction base="dms:Note"/>
      </xsd:simpleType>
    </xsd:element>
    <xsd:element name="MediaServiceKeyPoints" ma:index="15" nillable="true" ma:displayName="KeyPoints" ma:internalName="MediaServiceKeyPoints" ma:readOnly="true">
      <xsd:simpleType>
        <xsd:restriction base="dms:Note">
          <xsd:maxLength value="255"/>
        </xsd:restriction>
      </xsd:simpleType>
    </xsd:element>
    <xsd:element name="MediaServiceDateTaken" ma:index="16" nillable="true" ma:displayName="MediaServiceDateTaken" ma:hidden="true" ma:internalName="MediaServiceDateTaken" ma:readOnly="true">
      <xsd:simpleType>
        <xsd:restriction base="dms:Text"/>
      </xsd:simpleType>
    </xsd:element>
    <xsd:element name="MediaLengthInSeconds" ma:index="17" nillable="true" ma:displayName="MediaLengthInSeconds" ma:hidden="true" ma:internalName="MediaLengthInSeconds" ma:readOnly="true">
      <xsd:simpleType>
        <xsd:restriction base="dms:Unknown"/>
      </xsd:simpleType>
    </xsd:element>
    <xsd:element name="MediaServiceLocation" ma:index="18" nillable="true" ma:displayName="Location" ma:internalName="MediaServiceLocation" ma:readOnly="true">
      <xsd:simpleType>
        <xsd:restriction base="dms:Text"/>
      </xsd:simpleType>
    </xsd:element>
    <xsd:element name="_activity" ma:index="19" nillable="true" ma:displayName="_activity" ma:hidden="true" ma:internalName="_activity">
      <xsd:simpleType>
        <xsd:restriction base="dms:Note"/>
      </xsd:simpleType>
    </xsd:element>
    <xsd:element name="MediaServiceObjectDetectorVersions" ma:index="20" nillable="true" ma:displayName="MediaServiceObjectDetectorVersions" ma:hidden="true" ma:indexed="true" ma:internalName="MediaServiceObjectDetectorVersions" ma:readOnly="true">
      <xsd:simpleType>
        <xsd:restriction base="dms:Text"/>
      </xsd:simpleType>
    </xsd:element>
    <xsd:element name="MediaServiceSystemTags" ma:index="21" nillable="true" ma:displayName="MediaServiceSystemTags" ma:hidden="true" ma:internalName="MediaServiceSystemTags" ma:readOnly="true">
      <xsd:simpleType>
        <xsd:restriction base="dms:Note"/>
      </xsd:simpleType>
    </xsd:element>
    <xsd:element name="MediaServiceSearchProperties" ma:index="22" nillable="true" ma:displayName="MediaServiceSearchProperties" ma:hidden="true" ma:internalName="MediaServiceSearchProperties" ma:readOnly="true">
      <xsd:simpleType>
        <xsd:restriction base="dms:Note"/>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p:properties xmlns:p="http://schemas.microsoft.com/office/2006/metadata/properties" xmlns:xsi="http://www.w3.org/2001/XMLSchema-instance" xmlns:pc="http://schemas.microsoft.com/office/infopath/2007/PartnerControls">
  <documentManagement>
    <_activity xmlns="e41a7a39-cefe-44f5-a3a8-0050e37c33e9" xsi:nil="true"/>
  </documentManagement>
</p:properties>
</file>

<file path=customXml/itemProps1.xml><?xml version="1.0" encoding="utf-8"?>
<ds:datastoreItem xmlns:ds="http://schemas.openxmlformats.org/officeDocument/2006/customXml" ds:itemID="{DEE6FB4D-CE75-428E-8BA2-C8B22E71D99A}">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e41a7a39-cefe-44f5-a3a8-0050e37c33e9"/>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2.xml><?xml version="1.0" encoding="utf-8"?>
<ds:datastoreItem xmlns:ds="http://schemas.openxmlformats.org/officeDocument/2006/customXml" ds:itemID="{6A849042-65C2-42FE-8C8E-7D0E8A47297C}">
  <ds:schemaRefs>
    <ds:schemaRef ds:uri="http://schemas.microsoft.com/sharepoint/v3/contenttype/forms"/>
  </ds:schemaRefs>
</ds:datastoreItem>
</file>

<file path=customXml/itemProps3.xml><?xml version="1.0" encoding="utf-8"?>
<ds:datastoreItem xmlns:ds="http://schemas.openxmlformats.org/officeDocument/2006/customXml" ds:itemID="{3E207D34-F50E-4D4D-9D47-2ECFF116F129}">
  <ds:schemaRefs>
    <ds:schemaRef ds:uri="http://schemas.microsoft.com/office/infopath/2007/PartnerControls"/>
    <ds:schemaRef ds:uri="http://purl.org/dc/terms/"/>
    <ds:schemaRef ds:uri="http://purl.org/dc/elements/1.1/"/>
    <ds:schemaRef ds:uri="http://www.w3.org/XML/1998/namespace"/>
    <ds:schemaRef ds:uri="http://purl.org/dc/dcmitype/"/>
    <ds:schemaRef ds:uri="http://schemas.openxmlformats.org/package/2006/metadata/core-properties"/>
    <ds:schemaRef ds:uri="http://schemas.microsoft.com/office/2006/documentManagement/types"/>
    <ds:schemaRef ds:uri="e41a7a39-cefe-44f5-a3a8-0050e37c33e9"/>
    <ds:schemaRef ds:uri="http://schemas.microsoft.com/office/2006/metadata/properties"/>
  </ds:schemaRefs>
</ds:datastoreItem>
</file>

<file path=docProps/app.xml><?xml version="1.0" encoding="utf-8"?>
<Properties xmlns="http://schemas.openxmlformats.org/officeDocument/2006/extended-properties" xmlns:vt="http://schemas.openxmlformats.org/officeDocument/2006/docPropsVTypes">
  <TotalTime>1390</TotalTime>
  <Words>1308</Words>
  <Application>Microsoft Office PowerPoint</Application>
  <PresentationFormat>On-screen Show (4:3)</PresentationFormat>
  <Paragraphs>195</Paragraphs>
  <Slides>28</Slides>
  <Notes>0</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28</vt:i4>
      </vt:variant>
    </vt:vector>
  </HeadingPairs>
  <TitlesOfParts>
    <vt:vector size="33" baseType="lpstr">
      <vt:lpstr>Arial</vt:lpstr>
      <vt:lpstr>Arial Narrow</vt:lpstr>
      <vt:lpstr>Calibri</vt:lpstr>
      <vt:lpstr>MoolBoran</vt:lpstr>
      <vt:lpstr>Office Theme</vt:lpstr>
      <vt:lpstr>Data Structures &amp; Algorithms</vt:lpstr>
      <vt:lpstr>Week-10 Agenda </vt:lpstr>
      <vt:lpstr>Bubble Sort</vt:lpstr>
      <vt:lpstr>Bubble Sort</vt:lpstr>
      <vt:lpstr>Bubble Sort</vt:lpstr>
      <vt:lpstr>Bubble Sort</vt:lpstr>
      <vt:lpstr>Bubble Sort - Working</vt:lpstr>
      <vt:lpstr>Quick Sort</vt:lpstr>
      <vt:lpstr>Quick Sort</vt:lpstr>
      <vt:lpstr>Quick Sort - Working</vt:lpstr>
      <vt:lpstr>Quick Sort - Working</vt:lpstr>
      <vt:lpstr>Quick Sort - Working</vt:lpstr>
      <vt:lpstr>Quick Sort - Working</vt:lpstr>
      <vt:lpstr>Quick Sort - Working</vt:lpstr>
      <vt:lpstr>Quick Sort - Working</vt:lpstr>
      <vt:lpstr>Quick Sort - Working</vt:lpstr>
      <vt:lpstr>Quick Sort - Working</vt:lpstr>
      <vt:lpstr>Quick Sort - Working</vt:lpstr>
      <vt:lpstr>Quick Sort Complexity</vt:lpstr>
      <vt:lpstr>Quick Sort Complexity</vt:lpstr>
      <vt:lpstr>Quick Sort Complexity</vt:lpstr>
      <vt:lpstr>Merge Sort</vt:lpstr>
      <vt:lpstr>Merge Sort</vt:lpstr>
      <vt:lpstr>Merge Sort</vt:lpstr>
      <vt:lpstr>Merge Sort Complexity</vt:lpstr>
      <vt:lpstr>Merge Sort Complexity</vt:lpstr>
      <vt:lpstr>Merge Sort Complexity</vt:lpstr>
      <vt:lpstr>PowerPoint Presentation</vt:lpstr>
    </vt:vector>
  </TitlesOfParts>
  <Company>Grizli777</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Slide 1</dc:title>
  <dc:creator>Majid Kaleem</dc:creator>
  <cp:lastModifiedBy>majid kaleem</cp:lastModifiedBy>
  <cp:revision>399</cp:revision>
  <dcterms:created xsi:type="dcterms:W3CDTF">2016-10-27T12:58:45Z</dcterms:created>
  <dcterms:modified xsi:type="dcterms:W3CDTF">2025-09-17T05:50:16Z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0x0101004EDDBCD85B0433498E6BCE505FFEC7DE</vt:lpwstr>
  </property>
</Properties>
</file>