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256" r:id="rId5"/>
    <p:sldId id="257" r:id="rId6"/>
    <p:sldId id="653" r:id="rId7"/>
    <p:sldId id="651" r:id="rId8"/>
    <p:sldId id="660" r:id="rId9"/>
    <p:sldId id="661" r:id="rId10"/>
    <p:sldId id="662" r:id="rId11"/>
    <p:sldId id="663" r:id="rId12"/>
    <p:sldId id="664" r:id="rId13"/>
    <p:sldId id="665" r:id="rId14"/>
    <p:sldId id="666" r:id="rId15"/>
    <p:sldId id="667" r:id="rId16"/>
    <p:sldId id="652" r:id="rId17"/>
    <p:sldId id="654" r:id="rId18"/>
    <p:sldId id="655" r:id="rId19"/>
    <p:sldId id="656" r:id="rId20"/>
    <p:sldId id="657" r:id="rId21"/>
    <p:sldId id="658" r:id="rId22"/>
    <p:sldId id="659" r:id="rId23"/>
    <p:sldId id="669" r:id="rId24"/>
    <p:sldId id="670" r:id="rId25"/>
    <p:sldId id="671" r:id="rId26"/>
    <p:sldId id="672" r:id="rId27"/>
    <p:sldId id="673" r:id="rId28"/>
    <p:sldId id="674" r:id="rId29"/>
    <p:sldId id="675" r:id="rId30"/>
    <p:sldId id="676" r:id="rId31"/>
    <p:sldId id="677" r:id="rId32"/>
    <p:sldId id="678" r:id="rId33"/>
    <p:sldId id="679" r:id="rId34"/>
    <p:sldId id="680" r:id="rId35"/>
    <p:sldId id="681" r:id="rId36"/>
    <p:sldId id="682" r:id="rId37"/>
    <p:sldId id="684" r:id="rId38"/>
    <p:sldId id="685" r:id="rId39"/>
    <p:sldId id="686" r:id="rId40"/>
    <p:sldId id="687" r:id="rId41"/>
    <p:sldId id="688" r:id="rId42"/>
    <p:sldId id="683" r:id="rId43"/>
    <p:sldId id="650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16-Sep-2025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Week-09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16-Sep-2025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Week-09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Algorithms</a:t>
            </a:r>
          </a:p>
          <a:p>
            <a:pPr lvl="1"/>
            <a:r>
              <a:rPr lang="en-US" dirty="0"/>
              <a:t>Shortest Path Algorithms (Dijkstra’s, Bellman-Ford)</a:t>
            </a:r>
            <a:endParaRPr lang="en-US" sz="2400" dirty="0"/>
          </a:p>
          <a:p>
            <a:pPr lvl="1"/>
            <a:r>
              <a:rPr lang="en-US" dirty="0"/>
              <a:t>Minimum Spanning Trees (Prim’s, Kruskal’s)</a:t>
            </a:r>
            <a:endParaRPr lang="en-PK" dirty="0">
              <a:solidFill>
                <a:srgbClr val="0033CC"/>
              </a:solidFill>
            </a:endParaRPr>
          </a:p>
          <a:p>
            <a:endParaRPr lang="en-P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BE68-B987-4E31-9D31-24268A30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F717-7F48-4F50-B872-35C9A1021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altLang="en-US" b="1" u="sng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Dijkstra's algorithm</a:t>
            </a:r>
            <a:r>
              <a:rPr lang="en-US" altLang="en-US" b="1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is a solution to graph theory's single-source shortest path problem. 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 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Works on both directed and undirected graphs. However, all edges must have nonnegative weights.</a:t>
            </a: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altLang="en-US" dirty="0">
              <a:solidFill>
                <a:srgbClr val="444444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altLang="en-US" dirty="0">
                <a:solidFill>
                  <a:srgbClr val="990000"/>
                </a:solidFill>
                <a:ea typeface="ＭＳ Ｐゴシック" panose="020B0600070205080204" pitchFamily="34" charset="-128"/>
              </a:rPr>
              <a:t>Input:</a:t>
            </a: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 Weighted graph G={E,V} and source vertex </a:t>
            </a:r>
            <a:r>
              <a:rPr lang="en-US" altLang="en-US" i="1" dirty="0" err="1">
                <a:solidFill>
                  <a:srgbClr val="444444"/>
                </a:solidFill>
                <a:ea typeface="ＭＳ Ｐゴシック" panose="020B0600070205080204" pitchFamily="34" charset="-128"/>
              </a:rPr>
              <a:t>v</a:t>
            </a:r>
            <a:r>
              <a:rPr lang="en-US" altLang="en-US" dirty="0" err="1">
                <a:ea typeface="ＭＳ Ｐゴシック" panose="020B0600070205080204" pitchFamily="34" charset="-128"/>
              </a:rPr>
              <a:t>∈</a:t>
            </a:r>
            <a:r>
              <a:rPr lang="en-US" altLang="en-US" dirty="0" err="1">
                <a:solidFill>
                  <a:srgbClr val="444444"/>
                </a:solidFill>
                <a:ea typeface="ＭＳ Ｐゴシック" panose="020B0600070205080204" pitchFamily="34" charset="-128"/>
              </a:rPr>
              <a:t>V</a:t>
            </a: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, such that all edge weights are nonnegative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 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altLang="en-US" dirty="0">
                <a:solidFill>
                  <a:srgbClr val="990000"/>
                </a:solidFill>
                <a:ea typeface="ＭＳ Ｐゴシック" panose="020B0600070205080204" pitchFamily="34" charset="-128"/>
              </a:rPr>
              <a:t>Output:</a:t>
            </a: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 Lengths of shortest paths (or the shortest paths themselves) from a given source vertex</a:t>
            </a:r>
            <a:r>
              <a:rPr lang="en-US" altLang="en-US" i="1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i="1" dirty="0" err="1">
                <a:solidFill>
                  <a:srgbClr val="444444"/>
                </a:solidFill>
                <a:ea typeface="ＭＳ Ｐゴシック" panose="020B0600070205080204" pitchFamily="34" charset="-128"/>
              </a:rPr>
              <a:t>v</a:t>
            </a:r>
            <a:r>
              <a:rPr lang="en-US" altLang="en-US" dirty="0" err="1">
                <a:ea typeface="ＭＳ Ｐゴシック" panose="020B0600070205080204" pitchFamily="34" charset="-128"/>
              </a:rPr>
              <a:t>∈</a:t>
            </a:r>
            <a:r>
              <a:rPr lang="en-US" altLang="en-US" dirty="0" err="1">
                <a:solidFill>
                  <a:srgbClr val="444444"/>
                </a:solidFill>
                <a:ea typeface="ＭＳ Ｐゴシック" panose="020B0600070205080204" pitchFamily="34" charset="-128"/>
              </a:rPr>
              <a:t>V</a:t>
            </a:r>
            <a:r>
              <a:rPr lang="en-US" altLang="en-US" dirty="0">
                <a:solidFill>
                  <a:srgbClr val="444444"/>
                </a:solidFill>
                <a:ea typeface="ＭＳ Ｐゴシック" panose="020B0600070205080204" pitchFamily="34" charset="-128"/>
              </a:rPr>
              <a:t>  to all other vertices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ACE7F-E751-4971-9684-20D5EB66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981AB-B7EB-4817-8EA1-4DC884EE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6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BE68-B987-4E31-9D31-24268A30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F717-7F48-4F50-B872-35C9A1021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r>
              <a:rPr lang="en-US" dirty="0"/>
              <a:t>: Find the shortest path from a single source to all other vertices in a weighted graph.</a:t>
            </a:r>
          </a:p>
          <a:p>
            <a:endParaRPr lang="en-US" b="1" dirty="0"/>
          </a:p>
          <a:p>
            <a:r>
              <a:rPr lang="en-US" b="1" dirty="0"/>
              <a:t>Key Feature</a:t>
            </a:r>
            <a:r>
              <a:rPr lang="en-US" dirty="0"/>
              <a:t>: Assumes all edge weights are non-negative.</a:t>
            </a:r>
          </a:p>
          <a:p>
            <a:endParaRPr lang="en-US" b="1" dirty="0"/>
          </a:p>
          <a:p>
            <a:r>
              <a:rPr lang="en-US" b="1" dirty="0"/>
              <a:t>Process</a:t>
            </a:r>
            <a:r>
              <a:rPr lang="en-US" dirty="0"/>
              <a:t>: Uses a priority queue to select the vertex with the smallest tentative distance iteratively and updates the distances to its neighbors.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ACE7F-E751-4971-9684-20D5EB66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981AB-B7EB-4817-8EA1-4DC884EE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1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21AF-D368-43E2-8AF7-ED1A44D2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83A3-B749-41D3-AF67-483E8F979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weighted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E1CAA-B4B4-4F97-BAFE-ECF17A7E6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30EC3-6584-4DCA-8C55-45B94F90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6386" name="Picture 2" descr="Start with a weighted graph">
            <a:extLst>
              <a:ext uri="{FF2B5EF4-FFF2-40B4-BE49-F238E27FC236}">
                <a16:creationId xmlns:a16="http://schemas.microsoft.com/office/drawing/2014/main" id="{1E5B20E0-5779-4367-A00F-A34902E5F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4489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182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9D67-DD02-487E-8796-D2ED9D55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A5AE5-0C1B-4AEE-9749-ACA2790F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a starting vertex and assign infinity path values to all other devices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4EAA3-ECF4-4B69-A43E-C19902C1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61831"/>
            <a:ext cx="2133600" cy="365125"/>
          </a:xfrm>
        </p:spPr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CF7C2-2715-4F70-8ECB-92749340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7410" name="Picture 2" descr="Choose a starting vertex and assign infinity path values to all other devices">
            <a:extLst>
              <a:ext uri="{FF2B5EF4-FFF2-40B4-BE49-F238E27FC236}">
                <a16:creationId xmlns:a16="http://schemas.microsoft.com/office/drawing/2014/main" id="{8C997082-8FA0-4A0A-B10D-742E2B361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8369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7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505C-7B0F-4DC0-81B9-EBA4A87BE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693A-306C-47A5-8983-47DE221B3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each vertex and update its path length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B10F4-7854-4707-A401-D6710CD3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9728C-DC81-4BD3-A20D-4F5944D3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8434" name="Picture 2" descr="Go to each vertex and update its path length">
            <a:extLst>
              <a:ext uri="{FF2B5EF4-FFF2-40B4-BE49-F238E27FC236}">
                <a16:creationId xmlns:a16="http://schemas.microsoft.com/office/drawing/2014/main" id="{66A6BED3-EC46-429A-ABC8-F3AB6C5F1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4489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72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F707-9583-482B-9981-541BA2E4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673E-0DE1-4A03-970E-00014B97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path length of the adjacent vertex is lesser than new path length, don't update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99B9B-117F-4679-BD72-D3C43479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6316C-1FB7-4667-9EA0-4BDEB79C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9458" name="Picture 2" descr="If the path length of the adjacent vertex is lesser than new path length, don't update it">
            <a:extLst>
              <a:ext uri="{FF2B5EF4-FFF2-40B4-BE49-F238E27FC236}">
                <a16:creationId xmlns:a16="http://schemas.microsoft.com/office/drawing/2014/main" id="{81319609-8E82-4EAC-BBCC-C78511626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4489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08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44DD-49CA-4C0F-8DA1-C5525B5B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99DE0-D9FB-47EA-9316-98729395C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updating path lengths of already visited vertices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35E7-E415-4F87-83E6-91458666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CD8EC-BE4F-4F6F-82EB-C8834A1C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0482" name="Picture 2" descr="Avoid updating path lengths of already visited vertices">
            <a:extLst>
              <a:ext uri="{FF2B5EF4-FFF2-40B4-BE49-F238E27FC236}">
                <a16:creationId xmlns:a16="http://schemas.microsoft.com/office/drawing/2014/main" id="{A3B11163-4989-47FB-9580-AB608CE77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0433"/>
            <a:ext cx="91440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9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B0A9-BBAB-4B19-B119-F9258261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65109-2C48-4F16-BD37-BA20286F9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each iteration, we pick the unvisited vertex with the least path length. So we choose 5 before 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24A14-AE56-4509-88C7-B72CFDF8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D0A22-5196-49BC-8558-D4880BF8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1506" name="Picture 2" descr="After each iteration, we pick the unvisited vertex with the least path length. So we choose 5 before 7">
            <a:extLst>
              <a:ext uri="{FF2B5EF4-FFF2-40B4-BE49-F238E27FC236}">
                <a16:creationId xmlns:a16="http://schemas.microsoft.com/office/drawing/2014/main" id="{3388EF69-6856-4EC2-BE15-957E060BC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4489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131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52FB1-BFDA-40A7-81A0-22378E1B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12E2-3A96-4AF8-B1D1-7B749BFB5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how the rightmost vertex has its path length updated twice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1790F-5E87-4D9B-9F80-E97D8651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79A70-3580-4871-95A6-610631E6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2530" name="Picture 2" descr="Notice how the rightmost vertex has its path length updated twice">
            <a:extLst>
              <a:ext uri="{FF2B5EF4-FFF2-40B4-BE49-F238E27FC236}">
                <a16:creationId xmlns:a16="http://schemas.microsoft.com/office/drawing/2014/main" id="{C936D346-5668-4092-9AA7-5025C0787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9019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54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C3C8-372A-4F70-B509-7AC367EA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EC25-EA5E-4B11-BB83-ADC08168A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 until all the vertices have been visited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939A-6348-4BBC-970B-2E8738CF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70297"/>
            <a:ext cx="2133600" cy="365125"/>
          </a:xfrm>
        </p:spPr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B9625-CF09-4ECF-AEFA-BB2B95C2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3554" name="Picture 2" descr="Repeat until all the vertices have been visited">
            <a:extLst>
              <a:ext uri="{FF2B5EF4-FFF2-40B4-BE49-F238E27FC236}">
                <a16:creationId xmlns:a16="http://schemas.microsoft.com/office/drawing/2014/main" id="{C10F3BBF-5959-4192-806C-2D7F684BB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6835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317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58A4-F726-4AD8-8B2C-721FE99B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9E2F-62C5-4BFC-9B85-F7BC0D41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Bellman-Ford Algorithm</a:t>
            </a:r>
          </a:p>
          <a:p>
            <a:endParaRPr lang="en-US" b="1" dirty="0"/>
          </a:p>
          <a:p>
            <a:r>
              <a:rPr lang="en-US" b="1" dirty="0"/>
              <a:t>Purpose</a:t>
            </a:r>
            <a:r>
              <a:rPr lang="en-US" dirty="0"/>
              <a:t>: Computes shortest paths from a single source to all other vertices, even if the graph contains negative-weight edges.</a:t>
            </a:r>
          </a:p>
          <a:p>
            <a:endParaRPr lang="en-US" b="1" dirty="0"/>
          </a:p>
          <a:p>
            <a:r>
              <a:rPr lang="en-US" b="1" dirty="0"/>
              <a:t>Key Feature</a:t>
            </a:r>
            <a:r>
              <a:rPr lang="en-US" dirty="0"/>
              <a:t>: Can detect negative weight cycles.</a:t>
            </a:r>
          </a:p>
          <a:p>
            <a:endParaRPr lang="en-US" b="1" dirty="0"/>
          </a:p>
          <a:p>
            <a:r>
              <a:rPr lang="en-US" b="1" dirty="0"/>
              <a:t>Process</a:t>
            </a:r>
            <a:r>
              <a:rPr lang="en-US" dirty="0"/>
              <a:t>: Relaxes all edges repeatedly over (V−1) iterations (where V is the number of vertices).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6F55-5E3C-4B60-B2A4-1392BA6B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D2575-9B53-4904-B18B-53DCDCA6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58A4-F726-4AD8-8B2C-721FE99B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9E2F-62C5-4BFC-9B85-F7BC0D41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6F55-5E3C-4B60-B2A4-1392BA6B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D2575-9B53-4904-B18B-53DCDCA6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 descr="steps for bellman ford algorithm">
            <a:extLst>
              <a:ext uri="{FF2B5EF4-FFF2-40B4-BE49-F238E27FC236}">
                <a16:creationId xmlns:a16="http://schemas.microsoft.com/office/drawing/2014/main" id="{F29FF0A8-9868-4E45-8D90-5038E6A9F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3638"/>
            <a:ext cx="9144000" cy="453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038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58A4-F726-4AD8-8B2C-721FE99B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9E2F-62C5-4BFC-9B85-F7BC0D41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6F55-5E3C-4B60-B2A4-1392BA6B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D2575-9B53-4904-B18B-53DCDCA6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1266" name="Picture 2" descr="steps for bellman ford algorithm">
            <a:extLst>
              <a:ext uri="{FF2B5EF4-FFF2-40B4-BE49-F238E27FC236}">
                <a16:creationId xmlns:a16="http://schemas.microsoft.com/office/drawing/2014/main" id="{20BAE32A-DF3F-481C-966A-D783F1890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0438"/>
            <a:ext cx="9144000" cy="493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836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58A4-F726-4AD8-8B2C-721FE99B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9E2F-62C5-4BFC-9B85-F7BC0D41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6F55-5E3C-4B60-B2A4-1392BA6B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D2575-9B53-4904-B18B-53DCDCA6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2290" name="Picture 2" descr="steps for bellman ford algorithm">
            <a:extLst>
              <a:ext uri="{FF2B5EF4-FFF2-40B4-BE49-F238E27FC236}">
                <a16:creationId xmlns:a16="http://schemas.microsoft.com/office/drawing/2014/main" id="{28739A17-5928-4123-ADC3-8054A7ACF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0438"/>
            <a:ext cx="9144000" cy="493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259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CF50-D795-44C8-8E89-2BEC879B4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F49-22C4-4AB4-819D-9CA344C0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B8269-C05A-4D69-AC40-B54C601E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3AAF7-149D-40D8-9698-E8DC8F9B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3314" name="Picture 2" descr="steps for bellman ford algorithm">
            <a:extLst>
              <a:ext uri="{FF2B5EF4-FFF2-40B4-BE49-F238E27FC236}">
                <a16:creationId xmlns:a16="http://schemas.microsoft.com/office/drawing/2014/main" id="{41D6A1D6-6F22-4D87-8AC1-B8A57C911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0438"/>
            <a:ext cx="9144000" cy="493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833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0BB2-689A-4316-B1BE-D206D3D7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0797-6F7B-488B-92D6-178A00737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E8A41-2707-46C3-B8FE-A8636279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C6A84-1B46-4BCD-B570-902DB698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0A1C5-65CE-454E-BC98-CE66F424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95" y="1066800"/>
            <a:ext cx="6376987" cy="445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15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0F20-B528-4463-8BA3-407CA755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A226C-08E2-4460-B367-2AA66D278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F0078-22F8-4A57-A3D6-AB235B47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8620E-60FB-4867-BAC2-F9661E46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5362" name="Picture 2" descr="steps for bellman ford algorithm">
            <a:extLst>
              <a:ext uri="{FF2B5EF4-FFF2-40B4-BE49-F238E27FC236}">
                <a16:creationId xmlns:a16="http://schemas.microsoft.com/office/drawing/2014/main" id="{D619AC3E-A387-4ACB-82D4-289CBDC2A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9650"/>
            <a:ext cx="9144000" cy="483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185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5082-FBB2-4C16-AD30-1C0EF1A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8B60-D26E-4B37-8430-2EFE012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Kruskal's algorithm 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start from the edges with the lowest weight and keep adding edges until we reach our goal.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steps for implementing Kruskal's algorithm are as follows: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Sort all the edges from low weight to high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Take the edge with the lowest weight and add it to the spanning tree. If adding the edge created a cycle, then reject this edge.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Keep adding edges until we reach all vertices.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1329-34A1-487E-B330-4EB8837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129C7-E9A3-48FD-A0E2-E6394A9A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32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5082-FBB2-4C16-AD30-1C0EF1A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8B60-D26E-4B37-8430-2EFE012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weighted graph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1329-34A1-487E-B330-4EB8837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129C7-E9A3-48FD-A0E2-E6394A9A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4578" name="Picture 2" descr="Start with a weighted graph">
            <a:extLst>
              <a:ext uri="{FF2B5EF4-FFF2-40B4-BE49-F238E27FC236}">
                <a16:creationId xmlns:a16="http://schemas.microsoft.com/office/drawing/2014/main" id="{9841B819-3F07-49B3-AAF4-149E6A59E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7486"/>
            <a:ext cx="9144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579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5082-FBB2-4C16-AD30-1C0EF1A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8B60-D26E-4B37-8430-2EFE012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edge with the least weight, if there are more than 1, choose anyone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1329-34A1-487E-B330-4EB8837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129C7-E9A3-48FD-A0E2-E6394A9A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25602" name="Picture 2" descr="Choose the edge with the least weight, if there are more than 1, choose anyone">
            <a:extLst>
              <a:ext uri="{FF2B5EF4-FFF2-40B4-BE49-F238E27FC236}">
                <a16:creationId xmlns:a16="http://schemas.microsoft.com/office/drawing/2014/main" id="{42C4EE5D-ED3B-4EB8-AAD2-16BB458FE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489"/>
            <a:ext cx="9144000" cy="300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285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5082-FBB2-4C16-AD30-1C0EF1A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8B60-D26E-4B37-8430-2EFE012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next shortest edge and add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1329-34A1-487E-B330-4EB8837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129C7-E9A3-48FD-A0E2-E6394A9A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26626" name="Picture 2" descr="Choose the next shortest edge and add it">
            <a:extLst>
              <a:ext uri="{FF2B5EF4-FFF2-40B4-BE49-F238E27FC236}">
                <a16:creationId xmlns:a16="http://schemas.microsoft.com/office/drawing/2014/main" id="{A842B42C-AB65-42DB-8C42-CF2AA1588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489"/>
            <a:ext cx="9144000" cy="300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153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5082-FBB2-4C16-AD30-1C0EF1A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8B60-D26E-4B37-8430-2EFE012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next shortest edge that doesn't create a cycle and add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1329-34A1-487E-B330-4EB8837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129C7-E9A3-48FD-A0E2-E6394A9A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7650" name="Picture 2" descr="Choose the next shortest edge that doesn't create a cycle and add it">
            <a:extLst>
              <a:ext uri="{FF2B5EF4-FFF2-40B4-BE49-F238E27FC236}">
                <a16:creationId xmlns:a16="http://schemas.microsoft.com/office/drawing/2014/main" id="{D196E8ED-E1DC-4AF6-B035-19BD26943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842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954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5082-FBB2-4C16-AD30-1C0EF1A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8B60-D26E-4B37-8430-2EFE012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the next shortest edge that doesn't create a cycle and add 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1329-34A1-487E-B330-4EB8837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129C7-E9A3-48FD-A0E2-E6394A9A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8674" name="Picture 2" descr="Choose the next shortest edge that doesn't create a cycle and add it">
            <a:extLst>
              <a:ext uri="{FF2B5EF4-FFF2-40B4-BE49-F238E27FC236}">
                <a16:creationId xmlns:a16="http://schemas.microsoft.com/office/drawing/2014/main" id="{68FEB398-AA64-4835-85EB-BF05F737C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842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25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5082-FBB2-4C16-AD30-1C0EF1AF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8B60-D26E-4B37-8430-2EFE0123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 until you have a spanning tree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1329-34A1-487E-B330-4EB88374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129C7-E9A3-48FD-A0E2-E6394A9A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9698" name="Picture 2" descr="Repeat until you have a spanning tree">
            <a:extLst>
              <a:ext uri="{FF2B5EF4-FFF2-40B4-BE49-F238E27FC236}">
                <a16:creationId xmlns:a16="http://schemas.microsoft.com/office/drawing/2014/main" id="{408DC2D7-704C-4007-B43E-F18A65C26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4489"/>
            <a:ext cx="9144000" cy="383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913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Prim's algorithm is a minimum spanning tree algorithm that takes a graph as input and finds the subset of the edges of that graph which:</a:t>
            </a:r>
          </a:p>
          <a:p>
            <a:endParaRPr lang="en-US" dirty="0"/>
          </a:p>
          <a:p>
            <a:pPr lvl="1"/>
            <a:r>
              <a:rPr lang="en-US" dirty="0"/>
              <a:t>form a tree that includes every vertex</a:t>
            </a:r>
          </a:p>
          <a:p>
            <a:pPr lvl="1"/>
            <a:r>
              <a:rPr lang="en-US" dirty="0"/>
              <a:t>has the minimum sum of weights among all the trees that can be formed from the graph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62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steps for implementing Prim's algorithm are as follows: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Initialize the minimum spanning tree with a vertex chosen at random.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Find all the edges that connect the tree to new vertices, find the minimum and add it to the tree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Keep repeating step 2 until we get a minimum spanning tree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69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30722" name="Picture 2" descr="Example of a graph">
            <a:extLst>
              <a:ext uri="{FF2B5EF4-FFF2-40B4-BE49-F238E27FC236}">
                <a16:creationId xmlns:a16="http://schemas.microsoft.com/office/drawing/2014/main" id="{F2F3E395-D983-42A8-B760-7A295B9E3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323975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805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1:</a:t>
            </a:r>
            <a:r>
              <a:rPr lang="en-US" sz="2400" dirty="0"/>
              <a:t> Firstly, we select an arbitrary vertex that acts as the starting vertex of the Minimum Spanning Tree. Here we have selected vertex </a:t>
            </a:r>
            <a:r>
              <a:rPr lang="en-US" sz="2400" b="1" dirty="0"/>
              <a:t>0</a:t>
            </a:r>
            <a:r>
              <a:rPr lang="en-US" sz="2400" dirty="0"/>
              <a:t> as the starting vertex.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1746" name="Picture 2" descr="0 is selected as starting vertex">
            <a:extLst>
              <a:ext uri="{FF2B5EF4-FFF2-40B4-BE49-F238E27FC236}">
                <a16:creationId xmlns:a16="http://schemas.microsoft.com/office/drawing/2014/main" id="{320A7208-2238-42B0-8073-9685B1DA0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139951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324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2:</a:t>
            </a:r>
            <a:r>
              <a:rPr lang="en-US" sz="2400" dirty="0"/>
              <a:t> All the edges connecting the incomplete MST and other vertices are the edges {0, 1} and {0, 7}. Between these two the edge with minimum weight is {0, 1}. So include the edge and vertex 1 in the MST.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32770" name="Picture 2" descr="1 is added to the MST">
            <a:extLst>
              <a:ext uri="{FF2B5EF4-FFF2-40B4-BE49-F238E27FC236}">
                <a16:creationId xmlns:a16="http://schemas.microsoft.com/office/drawing/2014/main" id="{7D1FCDBE-2E83-4FC2-99C3-ECD4F3A35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175933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140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 </a:t>
            </a:r>
            <a:r>
              <a:rPr lang="en-US" sz="2400" b="1" u="sng" dirty="0"/>
              <a:t>Step 3:</a:t>
            </a:r>
            <a:r>
              <a:rPr lang="en-US" sz="2400" dirty="0"/>
              <a:t> The edges connecting the incomplete MST to other vertices are {0, 7}, {1, 7} and {1, 2}. Among these edges the minimum weight is 8 which is of the edges {0, 7} and {1, 2}. Let us here include the edge {0, 7} and the vertex 7 in the MST. [We could have also included edge {1, 2} and vertex 2 in the MST].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33796" name="Picture 4" descr="7 is added in the MST">
            <a:extLst>
              <a:ext uri="{FF2B5EF4-FFF2-40B4-BE49-F238E27FC236}">
                <a16:creationId xmlns:a16="http://schemas.microsoft.com/office/drawing/2014/main" id="{F4EED449-8880-4C7B-818F-7A400E071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647950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696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4:</a:t>
            </a:r>
            <a:r>
              <a:rPr lang="en-US" sz="2400" dirty="0"/>
              <a:t> The edges that connect the incomplete MST with the fringe vertices are {1, 2}, {7, 6} and {7, 8}. Add the edge {7, 6} and the vertex 6 in the MST as it has the least weight (i.e., 1).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34818" name="Picture 2" descr="6 is added in the MST">
            <a:extLst>
              <a:ext uri="{FF2B5EF4-FFF2-40B4-BE49-F238E27FC236}">
                <a16:creationId xmlns:a16="http://schemas.microsoft.com/office/drawing/2014/main" id="{4A84B218-09E2-4A3C-ABF8-2B51E680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16994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039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5:</a:t>
            </a:r>
            <a:r>
              <a:rPr lang="en-US" sz="2400" dirty="0"/>
              <a:t> The connecting edges now are {7, 8}, {1, 2}, {6, 8} and {6, 5}. Include edge {6, 5} and vertex 5 in the MST as the edge has the minimum weight (i.e., 2) among them.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35842" name="Picture 2" descr="Include vertex 5 in the MST">
            <a:extLst>
              <a:ext uri="{FF2B5EF4-FFF2-40B4-BE49-F238E27FC236}">
                <a16:creationId xmlns:a16="http://schemas.microsoft.com/office/drawing/2014/main" id="{8809A6AD-7137-4489-8D14-8BCBC8D38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840794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344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6:</a:t>
            </a:r>
            <a:r>
              <a:rPr lang="en-US" sz="2400" dirty="0"/>
              <a:t> Among the current connecting edges, the edge {5, 2} has the minimum weight. So include that edge and the vertex 2 in the MST.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36866" name="Picture 2" descr="Include vertex 2 in the MST">
            <a:extLst>
              <a:ext uri="{FF2B5EF4-FFF2-40B4-BE49-F238E27FC236}">
                <a16:creationId xmlns:a16="http://schemas.microsoft.com/office/drawing/2014/main" id="{D74CB56C-D071-42CE-8EDF-602560D6E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535994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92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7:</a:t>
            </a:r>
            <a:r>
              <a:rPr lang="en-US" sz="2400" dirty="0"/>
              <a:t> The connecting edges between the incomplete MST and the other edges are {2, 8}, {2, 3}, {5, 3} and {5, 4}. The edge with minimum weight is edge {2, 8} which has weight 2. So include this edge and the vertex 8 in the MST.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37890" name="Picture 2" descr="Add vertex 8 in the MST">
            <a:extLst>
              <a:ext uri="{FF2B5EF4-FFF2-40B4-BE49-F238E27FC236}">
                <a16:creationId xmlns:a16="http://schemas.microsoft.com/office/drawing/2014/main" id="{2CD3801F-7A82-4DE7-A28B-C946FF242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221794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3755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8:</a:t>
            </a:r>
            <a:r>
              <a:rPr lang="en-US" sz="2400" dirty="0"/>
              <a:t> See here that the edges {7, 8} and {2, 3} both have same weight which are minimum. But 7 is already part of MST. So we will consider the edge {2, 3} and include that edge and vertex 3 in the MST.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38914" name="Picture 2" descr="Include vertex 3 in MST">
            <a:extLst>
              <a:ext uri="{FF2B5EF4-FFF2-40B4-BE49-F238E27FC236}">
                <a16:creationId xmlns:a16="http://schemas.microsoft.com/office/drawing/2014/main" id="{F461BA6B-FD47-4D84-9F4F-E3E427283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224617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679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A013-7990-4A7F-A509-B2536731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8229-9D0D-4A2A-969C-293414F0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Step 9:</a:t>
            </a:r>
            <a:r>
              <a:rPr lang="en-US" sz="2400" dirty="0"/>
              <a:t> Only  the vertex 4 remains to be included. The minimum weighted edge from the incomplete MST to 4 is {3, 4}.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63C9-3509-4E3C-A1B8-C09F2FC2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CD708-6ACD-40DD-831D-ABB4231A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39938" name="Picture 2" descr="Include vertex 4 in the MST">
            <a:extLst>
              <a:ext uri="{FF2B5EF4-FFF2-40B4-BE49-F238E27FC236}">
                <a16:creationId xmlns:a16="http://schemas.microsoft.com/office/drawing/2014/main" id="{ADCBBDBA-F048-4E24-A4F1-ADCB842BD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535994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384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3E70-03FF-4207-A993-DC98A3FA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Prim’s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BAB4-30A3-4DAF-97B3-0278F451B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final structure of the MST is as follows and the weight of the edges of the MST is (4 + 8 + 1 + 2 + 4 + 2 + 7 + 9) = </a:t>
            </a:r>
            <a:r>
              <a:rPr lang="en-US" sz="2400" b="1" dirty="0"/>
              <a:t>37</a:t>
            </a:r>
            <a:r>
              <a:rPr lang="en-US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DE18F-90DB-4116-9123-2C76E13A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B958E-8DA5-4095-9686-EBD7342F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40962" name="Picture 2" descr="The structure of the MST formed using the above method">
            <a:extLst>
              <a:ext uri="{FF2B5EF4-FFF2-40B4-BE49-F238E27FC236}">
                <a16:creationId xmlns:a16="http://schemas.microsoft.com/office/drawing/2014/main" id="{E5D4B586-FCFC-494A-B0BE-BC014B02E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456971"/>
            <a:ext cx="72580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215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207D34-F50E-4D4D-9D47-2ECFF116F129}">
  <ds:schemaRefs>
    <ds:schemaRef ds:uri="http://purl.org/dc/elements/1.1/"/>
    <ds:schemaRef ds:uri="http://schemas.microsoft.com/office/2006/documentManagement/types"/>
    <ds:schemaRef ds:uri="http://www.w3.org/XML/1998/namespace"/>
    <ds:schemaRef ds:uri="e41a7a39-cefe-44f5-a3a8-0050e37c33e9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994</Words>
  <Application>Microsoft Office PowerPoint</Application>
  <PresentationFormat>On-screen Show (4:3)</PresentationFormat>
  <Paragraphs>181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ＭＳ Ｐゴシック</vt:lpstr>
      <vt:lpstr>Arial</vt:lpstr>
      <vt:lpstr>Calibri</vt:lpstr>
      <vt:lpstr>MoolBoran</vt:lpstr>
      <vt:lpstr>Office Theme</vt:lpstr>
      <vt:lpstr>Data Structures &amp; Algorithms</vt:lpstr>
      <vt:lpstr>Week-09 Agenda 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</cp:lastModifiedBy>
  <cp:revision>566</cp:revision>
  <dcterms:created xsi:type="dcterms:W3CDTF">2016-10-27T12:58:45Z</dcterms:created>
  <dcterms:modified xsi:type="dcterms:W3CDTF">2025-09-17T05:50:40Z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